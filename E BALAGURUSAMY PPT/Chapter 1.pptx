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DM Sans" charset="1" panose="00000000000000000000"/>
      <p:regular r:id="rId33"/>
    </p:embeddedFont>
    <p:embeddedFont>
      <p:font typeface="DM Sans Bold" charset="1" panose="00000000000000000000"/>
      <p:regular r:id="rId34"/>
    </p:embeddedFont>
    <p:embeddedFont>
      <p:font typeface="Agrandir Bold" charset="1" panose="000008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20.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763030" y="395382"/>
            <a:ext cx="4161810" cy="1138308"/>
            <a:chOff x="0" y="0"/>
            <a:chExt cx="1096115" cy="299801"/>
          </a:xfrm>
        </p:grpSpPr>
        <p:sp>
          <p:nvSpPr>
            <p:cNvPr name="Freeform 13" id="13"/>
            <p:cNvSpPr/>
            <p:nvPr/>
          </p:nvSpPr>
          <p:spPr>
            <a:xfrm flipH="false" flipV="false" rot="0">
              <a:off x="0" y="0"/>
              <a:ext cx="1096115" cy="299801"/>
            </a:xfrm>
            <a:custGeom>
              <a:avLst/>
              <a:gdLst/>
              <a:ahLst/>
              <a:cxnLst/>
              <a:rect r="r" b="b" t="t" l="l"/>
              <a:pathLst>
                <a:path h="299801" w="1096115">
                  <a:moveTo>
                    <a:pt x="94872" y="0"/>
                  </a:moveTo>
                  <a:lnTo>
                    <a:pt x="1001243" y="0"/>
                  </a:lnTo>
                  <a:cubicBezTo>
                    <a:pt x="1053639" y="0"/>
                    <a:pt x="1096115" y="42475"/>
                    <a:pt x="1096115" y="94872"/>
                  </a:cubicBezTo>
                  <a:lnTo>
                    <a:pt x="1096115" y="204930"/>
                  </a:lnTo>
                  <a:cubicBezTo>
                    <a:pt x="1096115" y="257326"/>
                    <a:pt x="1053639" y="299801"/>
                    <a:pt x="1001243" y="299801"/>
                  </a:cubicBezTo>
                  <a:lnTo>
                    <a:pt x="94872" y="299801"/>
                  </a:lnTo>
                  <a:cubicBezTo>
                    <a:pt x="42475" y="299801"/>
                    <a:pt x="0" y="257326"/>
                    <a:pt x="0" y="204930"/>
                  </a:cubicBezTo>
                  <a:lnTo>
                    <a:pt x="0" y="94872"/>
                  </a:lnTo>
                  <a:cubicBezTo>
                    <a:pt x="0" y="42475"/>
                    <a:pt x="42475" y="0"/>
                    <a:pt x="94872" y="0"/>
                  </a:cubicBezTo>
                  <a:close/>
                </a:path>
              </a:pathLst>
            </a:custGeom>
            <a:solidFill>
              <a:srgbClr val="C8DDFD"/>
            </a:solidFill>
          </p:spPr>
        </p:sp>
        <p:sp>
          <p:nvSpPr>
            <p:cNvPr name="TextBox 14" id="14"/>
            <p:cNvSpPr txBox="true"/>
            <p:nvPr/>
          </p:nvSpPr>
          <p:spPr>
            <a:xfrm>
              <a:off x="0" y="-104775"/>
              <a:ext cx="1096115" cy="404576"/>
            </a:xfrm>
            <a:prstGeom prst="rect">
              <a:avLst/>
            </a:prstGeom>
          </p:spPr>
          <p:txBody>
            <a:bodyPr anchor="ctr" rtlCol="false" tIns="50800" lIns="50800" bIns="50800" rIns="50800"/>
            <a:lstStyle/>
            <a:p>
              <a:pPr algn="ctr">
                <a:lnSpc>
                  <a:spcPts val="7419"/>
                </a:lnSpc>
              </a:pPr>
              <a:r>
                <a:rPr lang="en-US" sz="5299" spc="-180">
                  <a:solidFill>
                    <a:srgbClr val="000000"/>
                  </a:solidFill>
                  <a:latin typeface="DM Sans"/>
                  <a:ea typeface="DM Sans"/>
                  <a:cs typeface="DM Sans"/>
                  <a:sym typeface="DM Sans"/>
                </a:rPr>
                <a:t>CHAPTER - 1</a:t>
              </a:r>
            </a:p>
          </p:txBody>
        </p:sp>
      </p:grpSp>
      <p:grpSp>
        <p:nvGrpSpPr>
          <p:cNvPr name="Group 15" id="15"/>
          <p:cNvGrpSpPr/>
          <p:nvPr/>
        </p:nvGrpSpPr>
        <p:grpSpPr>
          <a:xfrm rot="0">
            <a:off x="4922207" y="3265905"/>
            <a:ext cx="9615535" cy="2286198"/>
            <a:chOff x="0" y="0"/>
            <a:chExt cx="2532487" cy="602126"/>
          </a:xfrm>
        </p:grpSpPr>
        <p:sp>
          <p:nvSpPr>
            <p:cNvPr name="Freeform 16" id="16"/>
            <p:cNvSpPr/>
            <p:nvPr/>
          </p:nvSpPr>
          <p:spPr>
            <a:xfrm flipH="false" flipV="false" rot="0">
              <a:off x="0" y="0"/>
              <a:ext cx="2532487" cy="602126"/>
            </a:xfrm>
            <a:custGeom>
              <a:avLst/>
              <a:gdLst/>
              <a:ahLst/>
              <a:cxnLst/>
              <a:rect r="r" b="b" t="t" l="l"/>
              <a:pathLst>
                <a:path h="602126" w="2532487">
                  <a:moveTo>
                    <a:pt x="41063" y="0"/>
                  </a:moveTo>
                  <a:lnTo>
                    <a:pt x="2491424" y="0"/>
                  </a:lnTo>
                  <a:cubicBezTo>
                    <a:pt x="2514102" y="0"/>
                    <a:pt x="2532487" y="18384"/>
                    <a:pt x="2532487" y="41063"/>
                  </a:cubicBezTo>
                  <a:lnTo>
                    <a:pt x="2532487" y="561064"/>
                  </a:lnTo>
                  <a:cubicBezTo>
                    <a:pt x="2532487" y="583742"/>
                    <a:pt x="2514102" y="602126"/>
                    <a:pt x="2491424" y="602126"/>
                  </a:cubicBezTo>
                  <a:lnTo>
                    <a:pt x="41063" y="602126"/>
                  </a:lnTo>
                  <a:cubicBezTo>
                    <a:pt x="30172" y="602126"/>
                    <a:pt x="19728" y="597800"/>
                    <a:pt x="12027" y="590099"/>
                  </a:cubicBezTo>
                  <a:cubicBezTo>
                    <a:pt x="4326" y="582399"/>
                    <a:pt x="0" y="571954"/>
                    <a:pt x="0" y="561064"/>
                  </a:cubicBezTo>
                  <a:lnTo>
                    <a:pt x="0" y="41063"/>
                  </a:lnTo>
                  <a:cubicBezTo>
                    <a:pt x="0" y="18384"/>
                    <a:pt x="18384" y="0"/>
                    <a:pt x="41063" y="0"/>
                  </a:cubicBezTo>
                  <a:close/>
                </a:path>
              </a:pathLst>
            </a:custGeom>
            <a:solidFill>
              <a:srgbClr val="C8DDFD"/>
            </a:solidFill>
          </p:spPr>
        </p:sp>
        <p:sp>
          <p:nvSpPr>
            <p:cNvPr name="TextBox 17" id="17"/>
            <p:cNvSpPr txBox="true"/>
            <p:nvPr/>
          </p:nvSpPr>
          <p:spPr>
            <a:xfrm>
              <a:off x="0" y="-104775"/>
              <a:ext cx="2532487" cy="706901"/>
            </a:xfrm>
            <a:prstGeom prst="rect">
              <a:avLst/>
            </a:prstGeom>
          </p:spPr>
          <p:txBody>
            <a:bodyPr anchor="ctr" rtlCol="false" tIns="50800" lIns="50800" bIns="50800" rIns="50800"/>
            <a:lstStyle/>
            <a:p>
              <a:pPr algn="ctr">
                <a:lnSpc>
                  <a:spcPts val="7979"/>
                </a:lnSpc>
              </a:pPr>
              <a:r>
                <a:rPr lang="en-US" sz="5699" spc="-193">
                  <a:solidFill>
                    <a:srgbClr val="000000"/>
                  </a:solidFill>
                  <a:latin typeface="DM Sans"/>
                  <a:ea typeface="DM Sans"/>
                  <a:cs typeface="DM Sans"/>
                  <a:sym typeface="DM Sans"/>
                </a:rPr>
                <a:t>Introduction to Computing</a:t>
              </a:r>
            </a:p>
          </p:txBody>
        </p:sp>
      </p:grpSp>
      <p:sp>
        <p:nvSpPr>
          <p:cNvPr name="TextBox 18" id="18"/>
          <p:cNvSpPr txBox="true"/>
          <p:nvPr/>
        </p:nvSpPr>
        <p:spPr>
          <a:xfrm rot="0">
            <a:off x="4514630" y="6909720"/>
            <a:ext cx="9873945" cy="588168"/>
          </a:xfrm>
          <a:prstGeom prst="rect">
            <a:avLst/>
          </a:prstGeom>
        </p:spPr>
        <p:txBody>
          <a:bodyPr anchor="t" rtlCol="false" tIns="0" lIns="0" bIns="0" rIns="0">
            <a:spAutoFit/>
          </a:bodyPr>
          <a:lstStyle/>
          <a:p>
            <a:pPr algn="ctr">
              <a:lnSpc>
                <a:spcPts val="4406"/>
              </a:lnSpc>
            </a:pPr>
            <a:r>
              <a:rPr lang="en-US" sz="4406" spc="-149">
                <a:solidFill>
                  <a:srgbClr val="000000"/>
                </a:solidFill>
                <a:latin typeface="DM Sans"/>
                <a:ea typeface="DM Sans"/>
                <a:cs typeface="DM Sans"/>
                <a:sym typeface="DM Sans"/>
              </a:rPr>
              <a:t>Presented by Henil Patel</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415415" y="3135391"/>
            <a:ext cx="12241463" cy="4305279"/>
            <a:chOff x="0" y="0"/>
            <a:chExt cx="3224089" cy="1133901"/>
          </a:xfrm>
        </p:grpSpPr>
        <p:sp>
          <p:nvSpPr>
            <p:cNvPr name="Freeform 13" id="13"/>
            <p:cNvSpPr/>
            <p:nvPr/>
          </p:nvSpPr>
          <p:spPr>
            <a:xfrm flipH="false" flipV="false" rot="0">
              <a:off x="0" y="0"/>
              <a:ext cx="3224089" cy="1133901"/>
            </a:xfrm>
            <a:custGeom>
              <a:avLst/>
              <a:gdLst/>
              <a:ahLst/>
              <a:cxnLst/>
              <a:rect r="r" b="b" t="t" l="l"/>
              <a:pathLst>
                <a:path h="1133901" w="3224089">
                  <a:moveTo>
                    <a:pt x="0" y="0"/>
                  </a:moveTo>
                  <a:lnTo>
                    <a:pt x="3224089" y="0"/>
                  </a:lnTo>
                  <a:lnTo>
                    <a:pt x="3224089" y="1133901"/>
                  </a:lnTo>
                  <a:lnTo>
                    <a:pt x="0" y="1133901"/>
                  </a:lnTo>
                  <a:close/>
                </a:path>
              </a:pathLst>
            </a:custGeom>
            <a:solidFill>
              <a:srgbClr val="FFFFFF"/>
            </a:solidFill>
          </p:spPr>
        </p:sp>
        <p:sp>
          <p:nvSpPr>
            <p:cNvPr name="TextBox 14" id="14"/>
            <p:cNvSpPr txBox="true"/>
            <p:nvPr/>
          </p:nvSpPr>
          <p:spPr>
            <a:xfrm>
              <a:off x="0" y="-57150"/>
              <a:ext cx="3224089" cy="1191051"/>
            </a:xfrm>
            <a:prstGeom prst="rect">
              <a:avLst/>
            </a:prstGeom>
          </p:spPr>
          <p:txBody>
            <a:bodyPr anchor="ctr" rtlCol="false" tIns="50800" lIns="50800" bIns="50800" rIns="50800"/>
            <a:lstStyle/>
            <a:p>
              <a:pPr algn="just">
                <a:lnSpc>
                  <a:spcPts val="4199"/>
                </a:lnSpc>
              </a:pPr>
              <a:r>
                <a:rPr lang="en-US" sz="2999" spc="-101">
                  <a:solidFill>
                    <a:srgbClr val="000000"/>
                  </a:solidFill>
                  <a:latin typeface="DM Sans"/>
                  <a:ea typeface="DM Sans"/>
                  <a:cs typeface="DM Sans"/>
                  <a:sym typeface="DM Sans"/>
                </a:rPr>
                <a:t>Computing is an operation that involves processing of the data by making use of a computer.</a:t>
              </a:r>
              <a:r>
                <a:rPr lang="en-US" sz="2999" spc="-101">
                  <a:solidFill>
                    <a:srgbClr val="000000"/>
                  </a:solidFill>
                  <a:latin typeface="DM Sans"/>
                  <a:ea typeface="DM Sans"/>
                  <a:cs typeface="DM Sans"/>
                  <a:sym typeface="DM Sans"/>
                </a:rPr>
                <a:t> </a:t>
              </a:r>
              <a:r>
                <a:rPr lang="en-US" sz="2999" spc="-101">
                  <a:solidFill>
                    <a:srgbClr val="000000"/>
                  </a:solidFill>
                  <a:latin typeface="DM Sans"/>
                  <a:ea typeface="DM Sans"/>
                  <a:cs typeface="DM Sans"/>
                  <a:sym typeface="DM Sans"/>
                </a:rPr>
                <a:t>In this chapter, we will briefly discuss the different hardware components of a computer. We will also discuss methods to develope programs using which we can achive our objective to solve problems and perform various computational activities.                                              </a:t>
              </a:r>
            </a:p>
          </p:txBody>
        </p:sp>
      </p:grpSp>
      <p:grpSp>
        <p:nvGrpSpPr>
          <p:cNvPr name="Group 15" id="15"/>
          <p:cNvGrpSpPr/>
          <p:nvPr/>
        </p:nvGrpSpPr>
        <p:grpSpPr>
          <a:xfrm rot="0">
            <a:off x="3415415" y="1245610"/>
            <a:ext cx="12241463" cy="1486508"/>
            <a:chOff x="0" y="0"/>
            <a:chExt cx="3224089" cy="391508"/>
          </a:xfrm>
        </p:grpSpPr>
        <p:sp>
          <p:nvSpPr>
            <p:cNvPr name="Freeform 16" id="16"/>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7" id="17"/>
            <p:cNvSpPr txBox="true"/>
            <p:nvPr/>
          </p:nvSpPr>
          <p:spPr>
            <a:xfrm>
              <a:off x="0" y="-142875"/>
              <a:ext cx="3224089" cy="534383"/>
            </a:xfrm>
            <a:prstGeom prst="rect">
              <a:avLst/>
            </a:prstGeom>
          </p:spPr>
          <p:txBody>
            <a:bodyPr anchor="ctr" rtlCol="false" tIns="50800" lIns="50800" bIns="50800" rIns="50800"/>
            <a:lstStyle/>
            <a:p>
              <a:pPr algn="l">
                <a:lnSpc>
                  <a:spcPts val="10359"/>
                </a:lnSpc>
              </a:pPr>
              <a:r>
                <a:rPr lang="en-US" sz="7399" spc="-251" b="true">
                  <a:solidFill>
                    <a:srgbClr val="FF751F"/>
                  </a:solidFill>
                  <a:latin typeface="DM Sans Bold"/>
                  <a:ea typeface="DM Sans Bold"/>
                  <a:cs typeface="DM Sans Bold"/>
                  <a:sym typeface="DM Sans Bold"/>
                </a:rPr>
                <a:t>1.1  :  Introduction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1028700"/>
            <a:ext cx="12241463" cy="1486508"/>
            <a:chOff x="0" y="0"/>
            <a:chExt cx="3224089" cy="391508"/>
          </a:xfrm>
        </p:grpSpPr>
        <p:sp>
          <p:nvSpPr>
            <p:cNvPr name="Freeform 13" id="13"/>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4" id="14"/>
            <p:cNvSpPr txBox="true"/>
            <p:nvPr/>
          </p:nvSpPr>
          <p:spPr>
            <a:xfrm>
              <a:off x="0" y="-123825"/>
              <a:ext cx="3224089" cy="515333"/>
            </a:xfrm>
            <a:prstGeom prst="rect">
              <a:avLst/>
            </a:prstGeom>
          </p:spPr>
          <p:txBody>
            <a:bodyPr anchor="ctr" rtlCol="false" tIns="50800" lIns="50800" bIns="50800" rIns="50800"/>
            <a:lstStyle/>
            <a:p>
              <a:pPr algn="l">
                <a:lnSpc>
                  <a:spcPts val="8819"/>
                </a:lnSpc>
              </a:pPr>
              <a:r>
                <a:rPr lang="en-US" sz="6299" spc="-214" b="true">
                  <a:solidFill>
                    <a:srgbClr val="FF751F"/>
                  </a:solidFill>
                  <a:latin typeface="DM Sans Bold"/>
                  <a:ea typeface="DM Sans Bold"/>
                  <a:cs typeface="DM Sans Bold"/>
                  <a:sym typeface="DM Sans Bold"/>
                </a:rPr>
                <a:t>1.2  :  Components of a Computer</a:t>
              </a:r>
            </a:p>
          </p:txBody>
        </p:sp>
      </p:grpSp>
      <p:grpSp>
        <p:nvGrpSpPr>
          <p:cNvPr name="Group 15" id="15"/>
          <p:cNvGrpSpPr/>
          <p:nvPr/>
        </p:nvGrpSpPr>
        <p:grpSpPr>
          <a:xfrm rot="0">
            <a:off x="3023268" y="3429451"/>
            <a:ext cx="12241463" cy="1864236"/>
            <a:chOff x="0" y="0"/>
            <a:chExt cx="3224089" cy="490992"/>
          </a:xfrm>
        </p:grpSpPr>
        <p:sp>
          <p:nvSpPr>
            <p:cNvPr name="Freeform 16" id="16"/>
            <p:cNvSpPr/>
            <p:nvPr/>
          </p:nvSpPr>
          <p:spPr>
            <a:xfrm flipH="false" flipV="false" rot="0">
              <a:off x="0" y="0"/>
              <a:ext cx="3224089" cy="490992"/>
            </a:xfrm>
            <a:custGeom>
              <a:avLst/>
              <a:gdLst/>
              <a:ahLst/>
              <a:cxnLst/>
              <a:rect r="r" b="b" t="t" l="l"/>
              <a:pathLst>
                <a:path h="490992" w="3224089">
                  <a:moveTo>
                    <a:pt x="0" y="0"/>
                  </a:moveTo>
                  <a:lnTo>
                    <a:pt x="3224089" y="0"/>
                  </a:lnTo>
                  <a:lnTo>
                    <a:pt x="3224089" y="490992"/>
                  </a:lnTo>
                  <a:lnTo>
                    <a:pt x="0" y="490992"/>
                  </a:lnTo>
                  <a:close/>
                </a:path>
              </a:pathLst>
            </a:custGeom>
            <a:solidFill>
              <a:srgbClr val="FFFFFF"/>
            </a:solidFill>
          </p:spPr>
        </p:sp>
        <p:sp>
          <p:nvSpPr>
            <p:cNvPr name="TextBox 17" id="17"/>
            <p:cNvSpPr txBox="true"/>
            <p:nvPr/>
          </p:nvSpPr>
          <p:spPr>
            <a:xfrm>
              <a:off x="0" y="-47625"/>
              <a:ext cx="3224089" cy="538617"/>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A computer is an electronic device which may be used to perform various computations involving arithmatic and logical operations.</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It consists of three main parts : CPU , I/O , MEMORY</a:t>
              </a:r>
            </a:p>
          </p:txBody>
        </p:sp>
      </p:grpSp>
      <p:sp>
        <p:nvSpPr>
          <p:cNvPr name="Freeform 18" id="18"/>
          <p:cNvSpPr/>
          <p:nvPr/>
        </p:nvSpPr>
        <p:spPr>
          <a:xfrm flipH="false" flipV="false" rot="0">
            <a:off x="3351219" y="5554670"/>
            <a:ext cx="10606486" cy="3798701"/>
          </a:xfrm>
          <a:custGeom>
            <a:avLst/>
            <a:gdLst/>
            <a:ahLst/>
            <a:cxnLst/>
            <a:rect r="r" b="b" t="t" l="l"/>
            <a:pathLst>
              <a:path h="3798701" w="10606486">
                <a:moveTo>
                  <a:pt x="0" y="0"/>
                </a:moveTo>
                <a:lnTo>
                  <a:pt x="10606486" y="0"/>
                </a:lnTo>
                <a:lnTo>
                  <a:pt x="10606486" y="3798702"/>
                </a:lnTo>
                <a:lnTo>
                  <a:pt x="0" y="3798702"/>
                </a:lnTo>
                <a:lnTo>
                  <a:pt x="0" y="0"/>
                </a:lnTo>
                <a:close/>
              </a:path>
            </a:pathLst>
          </a:custGeom>
          <a:blipFill>
            <a:blip r:embed="rId8"/>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539606" y="285446"/>
            <a:ext cx="12241463" cy="1486508"/>
            <a:chOff x="0" y="0"/>
            <a:chExt cx="3224089" cy="391508"/>
          </a:xfrm>
        </p:grpSpPr>
        <p:sp>
          <p:nvSpPr>
            <p:cNvPr name="Freeform 13" id="13"/>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4" id="14"/>
            <p:cNvSpPr txBox="true"/>
            <p:nvPr/>
          </p:nvSpPr>
          <p:spPr>
            <a:xfrm>
              <a:off x="0" y="-123825"/>
              <a:ext cx="3224089" cy="515333"/>
            </a:xfrm>
            <a:prstGeom prst="rect">
              <a:avLst/>
            </a:prstGeom>
          </p:spPr>
          <p:txBody>
            <a:bodyPr anchor="ctr" rtlCol="false" tIns="50800" lIns="50800" bIns="50800" rIns="50800"/>
            <a:lstStyle/>
            <a:p>
              <a:pPr algn="l">
                <a:lnSpc>
                  <a:spcPts val="8819"/>
                </a:lnSpc>
              </a:pPr>
              <a:r>
                <a:rPr lang="en-US" sz="6299" spc="-214" b="true">
                  <a:solidFill>
                    <a:srgbClr val="FF751F"/>
                  </a:solidFill>
                  <a:latin typeface="DM Sans Bold"/>
                  <a:ea typeface="DM Sans Bold"/>
                  <a:cs typeface="DM Sans Bold"/>
                  <a:sym typeface="DM Sans Bold"/>
                </a:rPr>
                <a:t>1.2.1 : Central Processing Unit</a:t>
              </a:r>
            </a:p>
          </p:txBody>
        </p:sp>
      </p:grpSp>
      <p:grpSp>
        <p:nvGrpSpPr>
          <p:cNvPr name="Group 15" id="15"/>
          <p:cNvGrpSpPr/>
          <p:nvPr/>
        </p:nvGrpSpPr>
        <p:grpSpPr>
          <a:xfrm rot="0">
            <a:off x="2539606" y="1982913"/>
            <a:ext cx="11870912" cy="3879189"/>
            <a:chOff x="0" y="0"/>
            <a:chExt cx="3126495" cy="1021680"/>
          </a:xfrm>
        </p:grpSpPr>
        <p:sp>
          <p:nvSpPr>
            <p:cNvPr name="Freeform 16" id="16"/>
            <p:cNvSpPr/>
            <p:nvPr/>
          </p:nvSpPr>
          <p:spPr>
            <a:xfrm flipH="false" flipV="false" rot="0">
              <a:off x="0" y="0"/>
              <a:ext cx="3126495" cy="1021679"/>
            </a:xfrm>
            <a:custGeom>
              <a:avLst/>
              <a:gdLst/>
              <a:ahLst/>
              <a:cxnLst/>
              <a:rect r="r" b="b" t="t" l="l"/>
              <a:pathLst>
                <a:path h="1021679" w="3126495">
                  <a:moveTo>
                    <a:pt x="0" y="0"/>
                  </a:moveTo>
                  <a:lnTo>
                    <a:pt x="3126495" y="0"/>
                  </a:lnTo>
                  <a:lnTo>
                    <a:pt x="3126495" y="1021679"/>
                  </a:lnTo>
                  <a:lnTo>
                    <a:pt x="0" y="1021679"/>
                  </a:lnTo>
                  <a:close/>
                </a:path>
              </a:pathLst>
            </a:custGeom>
            <a:solidFill>
              <a:srgbClr val="000000">
                <a:alpha val="0"/>
              </a:srgbClr>
            </a:solidFill>
          </p:spPr>
        </p:sp>
        <p:sp>
          <p:nvSpPr>
            <p:cNvPr name="TextBox 17" id="17"/>
            <p:cNvSpPr txBox="true"/>
            <p:nvPr/>
          </p:nvSpPr>
          <p:spPr>
            <a:xfrm>
              <a:off x="0" y="-47625"/>
              <a:ext cx="3126495" cy="1069305"/>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 CPU is a unit in which all processing activities take place . The CPU is an example of very large scale integrated electronic circuit (VLSI)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CPU consists of ALU ( Arithmatic and Logical Unit) , CU (Control Unit) .</a:t>
              </a:r>
            </a:p>
            <a:p>
              <a:pPr algn="l" marL="518157" indent="-259078" lvl="1">
                <a:lnSpc>
                  <a:spcPts val="3359"/>
                </a:lnSpc>
                <a:buAutoNum type="arabicPeriod" startAt="1"/>
              </a:pPr>
              <a:r>
                <a:rPr lang="en-US" sz="2399" spc="-81">
                  <a:solidFill>
                    <a:srgbClr val="000000"/>
                  </a:solidFill>
                  <a:latin typeface="DM Sans"/>
                  <a:ea typeface="DM Sans"/>
                  <a:cs typeface="DM Sans"/>
                  <a:sym typeface="DM Sans"/>
                </a:rPr>
                <a:t> </a:t>
              </a:r>
              <a:r>
                <a:rPr lang="en-US" b="true" sz="2399" spc="-81">
                  <a:solidFill>
                    <a:srgbClr val="000000"/>
                  </a:solidFill>
                  <a:latin typeface="DM Sans Bold"/>
                  <a:ea typeface="DM Sans Bold"/>
                  <a:cs typeface="DM Sans Bold"/>
                  <a:sym typeface="DM Sans Bold"/>
                </a:rPr>
                <a:t>ALU </a:t>
              </a:r>
              <a:r>
                <a:rPr lang="en-US" sz="2399" spc="-81">
                  <a:solidFill>
                    <a:srgbClr val="000000"/>
                  </a:solidFill>
                  <a:latin typeface="DM Sans"/>
                  <a:ea typeface="DM Sans"/>
                  <a:cs typeface="DM Sans"/>
                  <a:sym typeface="DM Sans"/>
                </a:rPr>
                <a:t>: The ALU contains circuits using which various arithmetic and logical operations      may be executed. These circuits include adders (for addition), subtractors (for subtraction), comparators (for comparison of operands), etc.</a:t>
              </a:r>
            </a:p>
            <a:p>
              <a:pPr algn="l" marL="518157" indent="-259078" lvl="1">
                <a:lnSpc>
                  <a:spcPts val="3359"/>
                </a:lnSpc>
                <a:buAutoNum type="arabicPeriod" startAt="1"/>
              </a:pPr>
              <a:r>
                <a:rPr lang="en-US" sz="2399" spc="-81">
                  <a:solidFill>
                    <a:srgbClr val="000000"/>
                  </a:solidFill>
                  <a:latin typeface="DM Sans"/>
                  <a:ea typeface="DM Sans"/>
                  <a:cs typeface="DM Sans"/>
                  <a:sym typeface="DM Sans"/>
                </a:rPr>
                <a:t> </a:t>
              </a:r>
              <a:r>
                <a:rPr lang="en-US" b="true" sz="2399" spc="-81">
                  <a:solidFill>
                    <a:srgbClr val="000000"/>
                  </a:solidFill>
                  <a:latin typeface="DM Sans Bold"/>
                  <a:ea typeface="DM Sans Bold"/>
                  <a:cs typeface="DM Sans Bold"/>
                  <a:sym typeface="DM Sans Bold"/>
                </a:rPr>
                <a:t>CU</a:t>
              </a:r>
              <a:r>
                <a:rPr lang="en-US" sz="2399" spc="-81">
                  <a:solidFill>
                    <a:srgbClr val="000000"/>
                  </a:solidFill>
                  <a:latin typeface="DM Sans"/>
                  <a:ea typeface="DM Sans"/>
                  <a:cs typeface="DM Sans"/>
                  <a:sym typeface="DM Sans"/>
                </a:rPr>
                <a:t> :  The CU, also known as the brain of a computer, is the unit which is responsible for generating control signals. These control signals control the working of the various components within a computer.</a:t>
              </a:r>
            </a:p>
          </p:txBody>
        </p:sp>
      </p:grpSp>
      <p:sp>
        <p:nvSpPr>
          <p:cNvPr name="Freeform 18" id="18"/>
          <p:cNvSpPr/>
          <p:nvPr/>
        </p:nvSpPr>
        <p:spPr>
          <a:xfrm flipH="false" flipV="false" rot="0">
            <a:off x="6198366" y="5294677"/>
            <a:ext cx="6077074" cy="4992323"/>
          </a:xfrm>
          <a:custGeom>
            <a:avLst/>
            <a:gdLst/>
            <a:ahLst/>
            <a:cxnLst/>
            <a:rect r="r" b="b" t="t" l="l"/>
            <a:pathLst>
              <a:path h="4992323" w="6077074">
                <a:moveTo>
                  <a:pt x="0" y="0"/>
                </a:moveTo>
                <a:lnTo>
                  <a:pt x="6077074" y="0"/>
                </a:lnTo>
                <a:lnTo>
                  <a:pt x="6077074" y="4992323"/>
                </a:lnTo>
                <a:lnTo>
                  <a:pt x="0" y="4992323"/>
                </a:lnTo>
                <a:lnTo>
                  <a:pt x="0" y="0"/>
                </a:lnTo>
                <a:close/>
              </a:path>
            </a:pathLst>
          </a:custGeom>
          <a:blipFill>
            <a:blip r:embed="rId8"/>
            <a:stretch>
              <a:fillRect l="0" t="-865" r="0" b="-865"/>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1028700"/>
            <a:ext cx="12241463" cy="1486508"/>
            <a:chOff x="0" y="0"/>
            <a:chExt cx="3224089" cy="391508"/>
          </a:xfrm>
        </p:grpSpPr>
        <p:sp>
          <p:nvSpPr>
            <p:cNvPr name="Freeform 13" id="13"/>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4" id="14"/>
            <p:cNvSpPr txBox="true"/>
            <p:nvPr/>
          </p:nvSpPr>
          <p:spPr>
            <a:xfrm>
              <a:off x="0" y="-123825"/>
              <a:ext cx="3224089" cy="515333"/>
            </a:xfrm>
            <a:prstGeom prst="rect">
              <a:avLst/>
            </a:prstGeom>
          </p:spPr>
          <p:txBody>
            <a:bodyPr anchor="ctr" rtlCol="false" tIns="50800" lIns="50800" bIns="50800" rIns="50800"/>
            <a:lstStyle/>
            <a:p>
              <a:pPr algn="l">
                <a:lnSpc>
                  <a:spcPts val="8819"/>
                </a:lnSpc>
              </a:pPr>
              <a:r>
                <a:rPr lang="en-US" sz="6299" spc="-214" b="true">
                  <a:solidFill>
                    <a:srgbClr val="FF751F"/>
                  </a:solidFill>
                  <a:latin typeface="DM Sans Bold"/>
                  <a:ea typeface="DM Sans Bold"/>
                  <a:cs typeface="DM Sans Bold"/>
                  <a:sym typeface="DM Sans Bold"/>
                </a:rPr>
                <a:t>1.2.2  :  Input Devices</a:t>
              </a:r>
            </a:p>
          </p:txBody>
        </p:sp>
      </p:grpSp>
      <p:grpSp>
        <p:nvGrpSpPr>
          <p:cNvPr name="Group 15" id="15"/>
          <p:cNvGrpSpPr/>
          <p:nvPr/>
        </p:nvGrpSpPr>
        <p:grpSpPr>
          <a:xfrm rot="0">
            <a:off x="3023268" y="2718048"/>
            <a:ext cx="12408885" cy="2588971"/>
            <a:chOff x="0" y="0"/>
            <a:chExt cx="3268184" cy="681869"/>
          </a:xfrm>
        </p:grpSpPr>
        <p:sp>
          <p:nvSpPr>
            <p:cNvPr name="Freeform 16" id="16"/>
            <p:cNvSpPr/>
            <p:nvPr/>
          </p:nvSpPr>
          <p:spPr>
            <a:xfrm flipH="false" flipV="false" rot="0">
              <a:off x="0" y="0"/>
              <a:ext cx="3268184" cy="681869"/>
            </a:xfrm>
            <a:custGeom>
              <a:avLst/>
              <a:gdLst/>
              <a:ahLst/>
              <a:cxnLst/>
              <a:rect r="r" b="b" t="t" l="l"/>
              <a:pathLst>
                <a:path h="681869" w="3268184">
                  <a:moveTo>
                    <a:pt x="31819" y="0"/>
                  </a:moveTo>
                  <a:lnTo>
                    <a:pt x="3236365" y="0"/>
                  </a:lnTo>
                  <a:cubicBezTo>
                    <a:pt x="3244804" y="0"/>
                    <a:pt x="3252897" y="3352"/>
                    <a:pt x="3258864" y="9320"/>
                  </a:cubicBezTo>
                  <a:cubicBezTo>
                    <a:pt x="3264831" y="15287"/>
                    <a:pt x="3268184" y="23380"/>
                    <a:pt x="3268184" y="31819"/>
                  </a:cubicBezTo>
                  <a:lnTo>
                    <a:pt x="3268184" y="650050"/>
                  </a:lnTo>
                  <a:cubicBezTo>
                    <a:pt x="3268184" y="658489"/>
                    <a:pt x="3264831" y="666582"/>
                    <a:pt x="3258864" y="672549"/>
                  </a:cubicBezTo>
                  <a:cubicBezTo>
                    <a:pt x="3252897" y="678517"/>
                    <a:pt x="3244804" y="681869"/>
                    <a:pt x="3236365" y="681869"/>
                  </a:cubicBezTo>
                  <a:lnTo>
                    <a:pt x="31819" y="681869"/>
                  </a:lnTo>
                  <a:cubicBezTo>
                    <a:pt x="23380" y="681869"/>
                    <a:pt x="15287" y="678517"/>
                    <a:pt x="9320" y="672549"/>
                  </a:cubicBezTo>
                  <a:cubicBezTo>
                    <a:pt x="3352" y="666582"/>
                    <a:pt x="0" y="658489"/>
                    <a:pt x="0" y="650050"/>
                  </a:cubicBezTo>
                  <a:lnTo>
                    <a:pt x="0" y="31819"/>
                  </a:lnTo>
                  <a:cubicBezTo>
                    <a:pt x="0" y="23380"/>
                    <a:pt x="3352" y="15287"/>
                    <a:pt x="9320" y="9320"/>
                  </a:cubicBezTo>
                  <a:cubicBezTo>
                    <a:pt x="15287" y="3352"/>
                    <a:pt x="23380" y="0"/>
                    <a:pt x="31819" y="0"/>
                  </a:cubicBezTo>
                  <a:close/>
                </a:path>
              </a:pathLst>
            </a:custGeom>
            <a:solidFill>
              <a:srgbClr val="000000">
                <a:alpha val="0"/>
              </a:srgbClr>
            </a:solidFill>
          </p:spPr>
        </p:sp>
        <p:sp>
          <p:nvSpPr>
            <p:cNvPr name="TextBox 17" id="17"/>
            <p:cNvSpPr txBox="true"/>
            <p:nvPr/>
          </p:nvSpPr>
          <p:spPr>
            <a:xfrm>
              <a:off x="0" y="-57150"/>
              <a:ext cx="3268184" cy="739019"/>
            </a:xfrm>
            <a:prstGeom prst="rect">
              <a:avLst/>
            </a:prstGeom>
          </p:spPr>
          <p:txBody>
            <a:bodyPr anchor="ctr" rtlCol="false" tIns="50800" lIns="50800" bIns="50800" rIns="50800"/>
            <a:lstStyle/>
            <a:p>
              <a:pPr algn="l" marL="604515" indent="-302257" lvl="1">
                <a:lnSpc>
                  <a:spcPts val="3919"/>
                </a:lnSpc>
                <a:buFont typeface="Arial"/>
                <a:buChar char="•"/>
              </a:pPr>
              <a:r>
                <a:rPr lang="en-US" sz="2799" spc="-95">
                  <a:solidFill>
                    <a:srgbClr val="000000"/>
                  </a:solidFill>
                  <a:latin typeface="DM Sans"/>
                  <a:ea typeface="DM Sans"/>
                  <a:cs typeface="DM Sans"/>
                  <a:sym typeface="DM Sans"/>
                </a:rPr>
                <a:t>Input devices are the one through which user are allowed to input data and other instruction to the computer .</a:t>
              </a:r>
            </a:p>
            <a:p>
              <a:pPr algn="l" marL="604515" indent="-302257" lvl="1">
                <a:lnSpc>
                  <a:spcPts val="3919"/>
                </a:lnSpc>
                <a:buFont typeface="Arial"/>
                <a:buChar char="•"/>
              </a:pPr>
              <a:r>
                <a:rPr lang="en-US" sz="2799" spc="-95">
                  <a:solidFill>
                    <a:srgbClr val="000000"/>
                  </a:solidFill>
                  <a:latin typeface="DM Sans"/>
                  <a:ea typeface="DM Sans"/>
                  <a:cs typeface="DM Sans"/>
                  <a:sym typeface="DM Sans"/>
                </a:rPr>
                <a:t>The most popular choices for the input devices are the keyboard and the mouse .</a:t>
              </a:r>
            </a:p>
            <a:p>
              <a:pPr algn="l" marL="604515" indent="-302257" lvl="1">
                <a:lnSpc>
                  <a:spcPts val="3919"/>
                </a:lnSpc>
                <a:buFont typeface="Arial"/>
                <a:buChar char="•"/>
              </a:pPr>
              <a:r>
                <a:rPr lang="en-US" sz="2799" spc="-95">
                  <a:solidFill>
                    <a:srgbClr val="000000"/>
                  </a:solidFill>
                  <a:latin typeface="DM Sans"/>
                  <a:ea typeface="DM Sans"/>
                  <a:cs typeface="DM Sans"/>
                  <a:sym typeface="DM Sans"/>
                </a:rPr>
                <a:t>EX : Scanner , readers , microphone , etc. . .</a:t>
              </a:r>
            </a:p>
          </p:txBody>
        </p:sp>
      </p:grpSp>
      <p:sp>
        <p:nvSpPr>
          <p:cNvPr name="Freeform 18" id="18"/>
          <p:cNvSpPr/>
          <p:nvPr/>
        </p:nvSpPr>
        <p:spPr>
          <a:xfrm flipH="false" flipV="false" rot="0">
            <a:off x="5223867" y="5509860"/>
            <a:ext cx="7840266" cy="4403616"/>
          </a:xfrm>
          <a:custGeom>
            <a:avLst/>
            <a:gdLst/>
            <a:ahLst/>
            <a:cxnLst/>
            <a:rect r="r" b="b" t="t" l="l"/>
            <a:pathLst>
              <a:path h="4403616" w="7840266">
                <a:moveTo>
                  <a:pt x="0" y="0"/>
                </a:moveTo>
                <a:lnTo>
                  <a:pt x="7840266" y="0"/>
                </a:lnTo>
                <a:lnTo>
                  <a:pt x="7840266" y="4403615"/>
                </a:lnTo>
                <a:lnTo>
                  <a:pt x="0" y="4403615"/>
                </a:lnTo>
                <a:lnTo>
                  <a:pt x="0" y="0"/>
                </a:lnTo>
                <a:close/>
              </a:path>
            </a:pathLst>
          </a:custGeom>
          <a:blipFill>
            <a:blip r:embed="rId8"/>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1028700"/>
            <a:ext cx="12241463" cy="1486508"/>
            <a:chOff x="0" y="0"/>
            <a:chExt cx="3224089" cy="391508"/>
          </a:xfrm>
        </p:grpSpPr>
        <p:sp>
          <p:nvSpPr>
            <p:cNvPr name="Freeform 13" id="13"/>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4" id="14"/>
            <p:cNvSpPr txBox="true"/>
            <p:nvPr/>
          </p:nvSpPr>
          <p:spPr>
            <a:xfrm>
              <a:off x="0" y="-123825"/>
              <a:ext cx="3224089" cy="515333"/>
            </a:xfrm>
            <a:prstGeom prst="rect">
              <a:avLst/>
            </a:prstGeom>
          </p:spPr>
          <p:txBody>
            <a:bodyPr anchor="ctr" rtlCol="false" tIns="50800" lIns="50800" bIns="50800" rIns="50800"/>
            <a:lstStyle/>
            <a:p>
              <a:pPr algn="l">
                <a:lnSpc>
                  <a:spcPts val="8819"/>
                </a:lnSpc>
              </a:pPr>
              <a:r>
                <a:rPr lang="en-US" sz="6299" spc="-214" b="true">
                  <a:solidFill>
                    <a:srgbClr val="FF751F"/>
                  </a:solidFill>
                  <a:latin typeface="DM Sans Bold"/>
                  <a:ea typeface="DM Sans Bold"/>
                  <a:cs typeface="DM Sans Bold"/>
                  <a:sym typeface="DM Sans Bold"/>
                </a:rPr>
                <a:t>1.2.3  :  Output Devices</a:t>
              </a:r>
            </a:p>
          </p:txBody>
        </p:sp>
      </p:grpSp>
      <p:grpSp>
        <p:nvGrpSpPr>
          <p:cNvPr name="Group 15" id="15"/>
          <p:cNvGrpSpPr/>
          <p:nvPr/>
        </p:nvGrpSpPr>
        <p:grpSpPr>
          <a:xfrm rot="0">
            <a:off x="3023268" y="2515208"/>
            <a:ext cx="12241463" cy="3332600"/>
            <a:chOff x="0" y="0"/>
            <a:chExt cx="3224089" cy="877722"/>
          </a:xfrm>
        </p:grpSpPr>
        <p:sp>
          <p:nvSpPr>
            <p:cNvPr name="Freeform 16" id="16"/>
            <p:cNvSpPr/>
            <p:nvPr/>
          </p:nvSpPr>
          <p:spPr>
            <a:xfrm flipH="false" flipV="false" rot="0">
              <a:off x="0" y="0"/>
              <a:ext cx="3224089" cy="877722"/>
            </a:xfrm>
            <a:custGeom>
              <a:avLst/>
              <a:gdLst/>
              <a:ahLst/>
              <a:cxnLst/>
              <a:rect r="r" b="b" t="t" l="l"/>
              <a:pathLst>
                <a:path h="877722" w="3224089">
                  <a:moveTo>
                    <a:pt x="32254" y="0"/>
                  </a:moveTo>
                  <a:lnTo>
                    <a:pt x="3191835" y="0"/>
                  </a:lnTo>
                  <a:cubicBezTo>
                    <a:pt x="3209648" y="0"/>
                    <a:pt x="3224089" y="14441"/>
                    <a:pt x="3224089" y="32254"/>
                  </a:cubicBezTo>
                  <a:lnTo>
                    <a:pt x="3224089" y="845468"/>
                  </a:lnTo>
                  <a:cubicBezTo>
                    <a:pt x="3224089" y="854022"/>
                    <a:pt x="3220691" y="862226"/>
                    <a:pt x="3214642" y="868275"/>
                  </a:cubicBezTo>
                  <a:cubicBezTo>
                    <a:pt x="3208593" y="874324"/>
                    <a:pt x="3200389" y="877722"/>
                    <a:pt x="3191835" y="877722"/>
                  </a:cubicBezTo>
                  <a:lnTo>
                    <a:pt x="32254" y="877722"/>
                  </a:lnTo>
                  <a:cubicBezTo>
                    <a:pt x="14441" y="877722"/>
                    <a:pt x="0" y="863281"/>
                    <a:pt x="0" y="845468"/>
                  </a:cubicBezTo>
                  <a:lnTo>
                    <a:pt x="0" y="32254"/>
                  </a:lnTo>
                  <a:cubicBezTo>
                    <a:pt x="0" y="14441"/>
                    <a:pt x="14441" y="0"/>
                    <a:pt x="32254" y="0"/>
                  </a:cubicBezTo>
                  <a:close/>
                </a:path>
              </a:pathLst>
            </a:custGeom>
            <a:solidFill>
              <a:srgbClr val="000000">
                <a:alpha val="0"/>
              </a:srgbClr>
            </a:solidFill>
          </p:spPr>
        </p:sp>
        <p:sp>
          <p:nvSpPr>
            <p:cNvPr name="TextBox 17" id="17"/>
            <p:cNvSpPr txBox="true"/>
            <p:nvPr/>
          </p:nvSpPr>
          <p:spPr>
            <a:xfrm>
              <a:off x="0" y="-57150"/>
              <a:ext cx="3224089" cy="934872"/>
            </a:xfrm>
            <a:prstGeom prst="rect">
              <a:avLst/>
            </a:prstGeom>
          </p:spPr>
          <p:txBody>
            <a:bodyPr anchor="ctr" rtlCol="false" tIns="50800" lIns="50800" bIns="50800" rIns="50800"/>
            <a:lstStyle/>
            <a:p>
              <a:pPr algn="l" marL="604515" indent="-302257" lvl="1">
                <a:lnSpc>
                  <a:spcPts val="3919"/>
                </a:lnSpc>
                <a:buFont typeface="Arial"/>
                <a:buChar char="•"/>
              </a:pPr>
              <a:r>
                <a:rPr lang="en-US" sz="2799" spc="-95">
                  <a:solidFill>
                    <a:srgbClr val="000000"/>
                  </a:solidFill>
                  <a:latin typeface="DM Sans"/>
                  <a:ea typeface="DM Sans"/>
                  <a:cs typeface="DM Sans"/>
                  <a:sym typeface="DM Sans"/>
                </a:rPr>
                <a:t>As input device is used to convey message to the computer , output device is used by the computer to convey messages back to the users .</a:t>
              </a:r>
            </a:p>
            <a:p>
              <a:pPr algn="l" marL="604515" indent="-302257" lvl="1">
                <a:lnSpc>
                  <a:spcPts val="3919"/>
                </a:lnSpc>
                <a:buFont typeface="Arial"/>
                <a:buChar char="•"/>
              </a:pPr>
              <a:r>
                <a:rPr lang="en-US" sz="2799" spc="-95">
                  <a:solidFill>
                    <a:srgbClr val="000000"/>
                  </a:solidFill>
                  <a:latin typeface="DM Sans"/>
                  <a:ea typeface="DM Sans"/>
                  <a:cs typeface="DM Sans"/>
                  <a:sym typeface="DM Sans"/>
                </a:rPr>
                <a:t>The most common example of output device is monitor .</a:t>
              </a:r>
            </a:p>
            <a:p>
              <a:pPr algn="l" marL="604515" indent="-302257" lvl="1">
                <a:lnSpc>
                  <a:spcPts val="3919"/>
                </a:lnSpc>
                <a:buFont typeface="Arial"/>
                <a:buChar char="•"/>
              </a:pPr>
              <a:r>
                <a:rPr lang="en-US" sz="2799" spc="-95">
                  <a:solidFill>
                    <a:srgbClr val="000000"/>
                  </a:solidFill>
                  <a:latin typeface="DM Sans"/>
                  <a:ea typeface="DM Sans"/>
                  <a:cs typeface="DM Sans"/>
                  <a:sym typeface="DM Sans"/>
                </a:rPr>
                <a:t>EX : printer , speakers , plotters etc. . .</a:t>
              </a:r>
            </a:p>
          </p:txBody>
        </p:sp>
      </p:grpSp>
      <p:sp>
        <p:nvSpPr>
          <p:cNvPr name="Freeform 18" id="18"/>
          <p:cNvSpPr/>
          <p:nvPr/>
        </p:nvSpPr>
        <p:spPr>
          <a:xfrm flipH="false" flipV="false" rot="0">
            <a:off x="4975414" y="5440488"/>
            <a:ext cx="8337172" cy="4682712"/>
          </a:xfrm>
          <a:custGeom>
            <a:avLst/>
            <a:gdLst/>
            <a:ahLst/>
            <a:cxnLst/>
            <a:rect r="r" b="b" t="t" l="l"/>
            <a:pathLst>
              <a:path h="4682712" w="8337172">
                <a:moveTo>
                  <a:pt x="0" y="0"/>
                </a:moveTo>
                <a:lnTo>
                  <a:pt x="8337172" y="0"/>
                </a:lnTo>
                <a:lnTo>
                  <a:pt x="8337172" y="4682712"/>
                </a:lnTo>
                <a:lnTo>
                  <a:pt x="0" y="4682712"/>
                </a:lnTo>
                <a:lnTo>
                  <a:pt x="0" y="0"/>
                </a:lnTo>
                <a:close/>
              </a:path>
            </a:pathLst>
          </a:custGeom>
          <a:blipFill>
            <a:blip r:embed="rId8"/>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1028700"/>
            <a:ext cx="12241463" cy="1486508"/>
            <a:chOff x="0" y="0"/>
            <a:chExt cx="3224089" cy="391508"/>
          </a:xfrm>
        </p:grpSpPr>
        <p:sp>
          <p:nvSpPr>
            <p:cNvPr name="Freeform 13" id="13"/>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4" id="14"/>
            <p:cNvSpPr txBox="true"/>
            <p:nvPr/>
          </p:nvSpPr>
          <p:spPr>
            <a:xfrm>
              <a:off x="0" y="-123825"/>
              <a:ext cx="3224089" cy="515333"/>
            </a:xfrm>
            <a:prstGeom prst="rect">
              <a:avLst/>
            </a:prstGeom>
          </p:spPr>
          <p:txBody>
            <a:bodyPr anchor="ctr" rtlCol="false" tIns="50800" lIns="50800" bIns="50800" rIns="50800"/>
            <a:lstStyle/>
            <a:p>
              <a:pPr algn="l">
                <a:lnSpc>
                  <a:spcPts val="8819"/>
                </a:lnSpc>
              </a:pPr>
              <a:r>
                <a:rPr lang="en-US" sz="6299" spc="-214" b="true">
                  <a:solidFill>
                    <a:srgbClr val="FF751F"/>
                  </a:solidFill>
                  <a:latin typeface="DM Sans Bold"/>
                  <a:ea typeface="DM Sans Bold"/>
                  <a:cs typeface="DM Sans Bold"/>
                  <a:sym typeface="DM Sans Bold"/>
                </a:rPr>
                <a:t>1.2.4  :  Memory</a:t>
              </a:r>
            </a:p>
          </p:txBody>
        </p:sp>
      </p:grpSp>
      <p:sp>
        <p:nvSpPr>
          <p:cNvPr name="Freeform 15" id="15"/>
          <p:cNvSpPr/>
          <p:nvPr/>
        </p:nvSpPr>
        <p:spPr>
          <a:xfrm flipH="false" flipV="false" rot="0">
            <a:off x="4007945" y="5440488"/>
            <a:ext cx="10272111" cy="4373672"/>
          </a:xfrm>
          <a:custGeom>
            <a:avLst/>
            <a:gdLst/>
            <a:ahLst/>
            <a:cxnLst/>
            <a:rect r="r" b="b" t="t" l="l"/>
            <a:pathLst>
              <a:path h="4373672" w="10272111">
                <a:moveTo>
                  <a:pt x="0" y="0"/>
                </a:moveTo>
                <a:lnTo>
                  <a:pt x="10272110" y="0"/>
                </a:lnTo>
                <a:lnTo>
                  <a:pt x="10272110" y="4373672"/>
                </a:lnTo>
                <a:lnTo>
                  <a:pt x="0" y="4373672"/>
                </a:lnTo>
                <a:lnTo>
                  <a:pt x="0" y="0"/>
                </a:lnTo>
                <a:close/>
              </a:path>
            </a:pathLst>
          </a:custGeom>
          <a:blipFill>
            <a:blip r:embed="rId8"/>
            <a:stretch>
              <a:fillRect l="0" t="0" r="0" b="0"/>
            </a:stretch>
          </a:blipFill>
        </p:spPr>
      </p:sp>
      <p:grpSp>
        <p:nvGrpSpPr>
          <p:cNvPr name="Group 16" id="16"/>
          <p:cNvGrpSpPr/>
          <p:nvPr/>
        </p:nvGrpSpPr>
        <p:grpSpPr>
          <a:xfrm rot="0">
            <a:off x="3023268" y="3383088"/>
            <a:ext cx="12241463" cy="1491780"/>
            <a:chOff x="0" y="0"/>
            <a:chExt cx="3224089" cy="392897"/>
          </a:xfrm>
        </p:grpSpPr>
        <p:sp>
          <p:nvSpPr>
            <p:cNvPr name="Freeform 17" id="17"/>
            <p:cNvSpPr/>
            <p:nvPr/>
          </p:nvSpPr>
          <p:spPr>
            <a:xfrm flipH="false" flipV="false" rot="0">
              <a:off x="0" y="0"/>
              <a:ext cx="3224089" cy="392897"/>
            </a:xfrm>
            <a:custGeom>
              <a:avLst/>
              <a:gdLst/>
              <a:ahLst/>
              <a:cxnLst/>
              <a:rect r="r" b="b" t="t" l="l"/>
              <a:pathLst>
                <a:path h="392897" w="3224089">
                  <a:moveTo>
                    <a:pt x="32254" y="0"/>
                  </a:moveTo>
                  <a:lnTo>
                    <a:pt x="3191835" y="0"/>
                  </a:lnTo>
                  <a:cubicBezTo>
                    <a:pt x="3209648" y="0"/>
                    <a:pt x="3224089" y="14441"/>
                    <a:pt x="3224089" y="32254"/>
                  </a:cubicBezTo>
                  <a:lnTo>
                    <a:pt x="3224089" y="360643"/>
                  </a:lnTo>
                  <a:cubicBezTo>
                    <a:pt x="3224089" y="369197"/>
                    <a:pt x="3220691" y="377401"/>
                    <a:pt x="3214642" y="383450"/>
                  </a:cubicBezTo>
                  <a:cubicBezTo>
                    <a:pt x="3208593" y="389499"/>
                    <a:pt x="3200389" y="392897"/>
                    <a:pt x="3191835" y="392897"/>
                  </a:cubicBezTo>
                  <a:lnTo>
                    <a:pt x="32254" y="392897"/>
                  </a:lnTo>
                  <a:cubicBezTo>
                    <a:pt x="14441" y="392897"/>
                    <a:pt x="0" y="378456"/>
                    <a:pt x="0" y="360643"/>
                  </a:cubicBezTo>
                  <a:lnTo>
                    <a:pt x="0" y="32254"/>
                  </a:lnTo>
                  <a:cubicBezTo>
                    <a:pt x="0" y="14441"/>
                    <a:pt x="14441" y="0"/>
                    <a:pt x="32254" y="0"/>
                  </a:cubicBezTo>
                  <a:close/>
                </a:path>
              </a:pathLst>
            </a:custGeom>
            <a:solidFill>
              <a:srgbClr val="000000">
                <a:alpha val="0"/>
              </a:srgbClr>
            </a:solidFill>
          </p:spPr>
        </p:sp>
        <p:sp>
          <p:nvSpPr>
            <p:cNvPr name="TextBox 18" id="18"/>
            <p:cNvSpPr txBox="true"/>
            <p:nvPr/>
          </p:nvSpPr>
          <p:spPr>
            <a:xfrm>
              <a:off x="0" y="-47625"/>
              <a:ext cx="3224089" cy="440522"/>
            </a:xfrm>
            <a:prstGeom prst="rect">
              <a:avLst/>
            </a:prstGeom>
          </p:spPr>
          <p:txBody>
            <a:bodyPr anchor="ctr" rtlCol="false" tIns="50800" lIns="50800" bIns="50800" rIns="50800"/>
            <a:lstStyle/>
            <a:p>
              <a:pPr algn="l">
                <a:lnSpc>
                  <a:spcPts val="3779"/>
                </a:lnSpc>
              </a:pPr>
              <a:r>
                <a:rPr lang="en-US" sz="2699" spc="-91">
                  <a:solidFill>
                    <a:srgbClr val="000000"/>
                  </a:solidFill>
                  <a:latin typeface="DM Sans"/>
                  <a:ea typeface="DM Sans"/>
                  <a:cs typeface="DM Sans"/>
                  <a:sym typeface="DM Sans"/>
                </a:rPr>
                <a:t>The computer’s memory may be classified into different types . The below figure shows the classification of the computer’s memory .</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317874" y="1028700"/>
            <a:ext cx="7187874" cy="8665341"/>
            <a:chOff x="0" y="0"/>
            <a:chExt cx="1893103" cy="2282230"/>
          </a:xfrm>
        </p:grpSpPr>
        <p:sp>
          <p:nvSpPr>
            <p:cNvPr name="Freeform 13" id="13"/>
            <p:cNvSpPr/>
            <p:nvPr/>
          </p:nvSpPr>
          <p:spPr>
            <a:xfrm flipH="false" flipV="false" rot="0">
              <a:off x="0" y="0"/>
              <a:ext cx="1893103" cy="2282230"/>
            </a:xfrm>
            <a:custGeom>
              <a:avLst/>
              <a:gdLst/>
              <a:ahLst/>
              <a:cxnLst/>
              <a:rect r="r" b="b" t="t" l="l"/>
              <a:pathLst>
                <a:path h="2282230" w="1893103">
                  <a:moveTo>
                    <a:pt x="54931" y="0"/>
                  </a:moveTo>
                  <a:lnTo>
                    <a:pt x="1838172" y="0"/>
                  </a:lnTo>
                  <a:cubicBezTo>
                    <a:pt x="1868509" y="0"/>
                    <a:pt x="1893103" y="24593"/>
                    <a:pt x="1893103" y="54931"/>
                  </a:cubicBezTo>
                  <a:lnTo>
                    <a:pt x="1893103" y="2227299"/>
                  </a:lnTo>
                  <a:cubicBezTo>
                    <a:pt x="1893103" y="2241867"/>
                    <a:pt x="1887315" y="2255839"/>
                    <a:pt x="1877014" y="2266141"/>
                  </a:cubicBezTo>
                  <a:cubicBezTo>
                    <a:pt x="1866712" y="2276442"/>
                    <a:pt x="1852740" y="2282230"/>
                    <a:pt x="1838172" y="2282230"/>
                  </a:cubicBezTo>
                  <a:lnTo>
                    <a:pt x="54931" y="2282230"/>
                  </a:lnTo>
                  <a:cubicBezTo>
                    <a:pt x="40362" y="2282230"/>
                    <a:pt x="26391" y="2276442"/>
                    <a:pt x="16089" y="2266141"/>
                  </a:cubicBezTo>
                  <a:cubicBezTo>
                    <a:pt x="5787" y="2255839"/>
                    <a:pt x="0" y="2241867"/>
                    <a:pt x="0" y="2227299"/>
                  </a:cubicBezTo>
                  <a:lnTo>
                    <a:pt x="0" y="54931"/>
                  </a:lnTo>
                  <a:cubicBezTo>
                    <a:pt x="0" y="40362"/>
                    <a:pt x="5787" y="26391"/>
                    <a:pt x="16089" y="16089"/>
                  </a:cubicBezTo>
                  <a:cubicBezTo>
                    <a:pt x="26391" y="5787"/>
                    <a:pt x="40362" y="0"/>
                    <a:pt x="54931" y="0"/>
                  </a:cubicBezTo>
                  <a:close/>
                </a:path>
              </a:pathLst>
            </a:custGeom>
            <a:solidFill>
              <a:srgbClr val="000000">
                <a:alpha val="0"/>
              </a:srgbClr>
            </a:solidFill>
          </p:spPr>
        </p:sp>
        <p:sp>
          <p:nvSpPr>
            <p:cNvPr name="TextBox 14" id="14"/>
            <p:cNvSpPr txBox="true"/>
            <p:nvPr/>
          </p:nvSpPr>
          <p:spPr>
            <a:xfrm>
              <a:off x="0" y="-47625"/>
              <a:ext cx="1893103" cy="2329855"/>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30303"/>
                  </a:solidFill>
                  <a:latin typeface="DM Sans"/>
                  <a:ea typeface="DM Sans"/>
                  <a:cs typeface="DM Sans"/>
                  <a:sym typeface="DM Sans"/>
                </a:rPr>
                <a:t>The primary memory, also known as the main memory, is so because the CPU can directly interact with it .</a:t>
              </a:r>
            </a:p>
            <a:p>
              <a:pPr algn="l" marL="518157" indent="-259078" lvl="1">
                <a:lnSpc>
                  <a:spcPts val="3359"/>
                </a:lnSpc>
                <a:buFont typeface="Arial"/>
                <a:buChar char="•"/>
              </a:pPr>
              <a:r>
                <a:rPr lang="en-US" sz="2399" spc="-81">
                  <a:solidFill>
                    <a:srgbClr val="030303"/>
                  </a:solidFill>
                  <a:latin typeface="DM Sans"/>
                  <a:ea typeface="DM Sans"/>
                  <a:cs typeface="DM Sans"/>
                  <a:sym typeface="DM Sans"/>
                </a:rPr>
                <a:t>The random memory is of two main type : </a:t>
              </a:r>
            </a:p>
            <a:p>
              <a:pPr algn="l" marL="518157" indent="-259078" lvl="1">
                <a:lnSpc>
                  <a:spcPts val="3359"/>
                </a:lnSpc>
                <a:buAutoNum type="arabicPeriod" startAt="1"/>
              </a:pPr>
              <a:r>
                <a:rPr lang="en-US" b="true" sz="2399" spc="-81">
                  <a:solidFill>
                    <a:srgbClr val="030303"/>
                  </a:solidFill>
                  <a:latin typeface="DM Sans Bold"/>
                  <a:ea typeface="DM Sans Bold"/>
                  <a:cs typeface="DM Sans Bold"/>
                  <a:sym typeface="DM Sans Bold"/>
                </a:rPr>
                <a:t>RAM(Random access memory) : </a:t>
              </a:r>
              <a:r>
                <a:rPr lang="en-US" sz="2399" spc="-81">
                  <a:solidFill>
                    <a:srgbClr val="030303"/>
                  </a:solidFill>
                  <a:latin typeface="DM Sans"/>
                  <a:ea typeface="DM Sans"/>
                  <a:cs typeface="DM Sans"/>
                  <a:sym typeface="DM Sans"/>
                </a:rPr>
                <a:t>The RAM is a volatile memory that stores instructions and data related to the program currently being executed. The RAM is volatile because it would lose all the information stored in it as soon as the power to the computer is switched off. It allows read and write operations.</a:t>
              </a:r>
            </a:p>
            <a:p>
              <a:pPr algn="l" marL="518157" indent="-259078" lvl="1">
                <a:lnSpc>
                  <a:spcPts val="3359"/>
                </a:lnSpc>
                <a:buAutoNum type="arabicPeriod" startAt="1"/>
              </a:pPr>
              <a:r>
                <a:rPr lang="en-US" b="true" sz="2399" spc="-81">
                  <a:solidFill>
                    <a:srgbClr val="030303"/>
                  </a:solidFill>
                  <a:latin typeface="DM Sans Bold"/>
                  <a:ea typeface="DM Sans Bold"/>
                  <a:cs typeface="DM Sans Bold"/>
                  <a:sym typeface="DM Sans Bold"/>
                </a:rPr>
                <a:t>ROM(Read only memory)</a:t>
              </a:r>
              <a:r>
                <a:rPr lang="en-US" sz="2399" spc="-81">
                  <a:solidFill>
                    <a:srgbClr val="030303"/>
                  </a:solidFill>
                  <a:latin typeface="DM Sans"/>
                  <a:ea typeface="DM Sans"/>
                  <a:cs typeface="DM Sans"/>
                  <a:sym typeface="DM Sans"/>
                </a:rPr>
                <a:t> : The ROM is a read-only, non-volatile memory. The ROM does not permit any write operation and is non-volatile because the information stored in it would be retained even after the computer has been switched off.</a:t>
              </a:r>
            </a:p>
          </p:txBody>
        </p:sp>
      </p:grpSp>
      <p:grpSp>
        <p:nvGrpSpPr>
          <p:cNvPr name="Group 15" id="15"/>
          <p:cNvGrpSpPr/>
          <p:nvPr/>
        </p:nvGrpSpPr>
        <p:grpSpPr>
          <a:xfrm rot="0">
            <a:off x="3550257" y="434371"/>
            <a:ext cx="4723109" cy="891019"/>
            <a:chOff x="0" y="0"/>
            <a:chExt cx="1243947" cy="234672"/>
          </a:xfrm>
        </p:grpSpPr>
        <p:sp>
          <p:nvSpPr>
            <p:cNvPr name="Freeform 16" id="16"/>
            <p:cNvSpPr/>
            <p:nvPr/>
          </p:nvSpPr>
          <p:spPr>
            <a:xfrm flipH="false" flipV="false" rot="0">
              <a:off x="0" y="0"/>
              <a:ext cx="1243947" cy="234672"/>
            </a:xfrm>
            <a:custGeom>
              <a:avLst/>
              <a:gdLst/>
              <a:ahLst/>
              <a:cxnLst/>
              <a:rect r="r" b="b" t="t" l="l"/>
              <a:pathLst>
                <a:path h="234672" w="1243947">
                  <a:moveTo>
                    <a:pt x="83597" y="0"/>
                  </a:moveTo>
                  <a:lnTo>
                    <a:pt x="1160350" y="0"/>
                  </a:lnTo>
                  <a:cubicBezTo>
                    <a:pt x="1206519" y="0"/>
                    <a:pt x="1243947" y="37428"/>
                    <a:pt x="1243947" y="83597"/>
                  </a:cubicBezTo>
                  <a:lnTo>
                    <a:pt x="1243947" y="151075"/>
                  </a:lnTo>
                  <a:cubicBezTo>
                    <a:pt x="1243947" y="173246"/>
                    <a:pt x="1235139" y="194509"/>
                    <a:pt x="1219462" y="210187"/>
                  </a:cubicBezTo>
                  <a:cubicBezTo>
                    <a:pt x="1203784" y="225864"/>
                    <a:pt x="1182521" y="234672"/>
                    <a:pt x="1160350" y="234672"/>
                  </a:cubicBezTo>
                  <a:lnTo>
                    <a:pt x="83597" y="234672"/>
                  </a:lnTo>
                  <a:cubicBezTo>
                    <a:pt x="37428" y="234672"/>
                    <a:pt x="0" y="197244"/>
                    <a:pt x="0" y="151075"/>
                  </a:cubicBezTo>
                  <a:lnTo>
                    <a:pt x="0" y="83597"/>
                  </a:lnTo>
                  <a:cubicBezTo>
                    <a:pt x="0" y="37428"/>
                    <a:pt x="37428" y="0"/>
                    <a:pt x="83597" y="0"/>
                  </a:cubicBezTo>
                  <a:close/>
                </a:path>
              </a:pathLst>
            </a:custGeom>
            <a:solidFill>
              <a:srgbClr val="5170FF"/>
            </a:solidFill>
          </p:spPr>
        </p:sp>
        <p:sp>
          <p:nvSpPr>
            <p:cNvPr name="TextBox 17" id="17"/>
            <p:cNvSpPr txBox="true"/>
            <p:nvPr/>
          </p:nvSpPr>
          <p:spPr>
            <a:xfrm>
              <a:off x="0" y="-66675"/>
              <a:ext cx="1243947" cy="301347"/>
            </a:xfrm>
            <a:prstGeom prst="rect">
              <a:avLst/>
            </a:prstGeom>
          </p:spPr>
          <p:txBody>
            <a:bodyPr anchor="ctr" rtlCol="false" tIns="50800" lIns="50800" bIns="50800" rIns="50800"/>
            <a:lstStyle/>
            <a:p>
              <a:pPr algn="ctr">
                <a:lnSpc>
                  <a:spcPts val="4899"/>
                </a:lnSpc>
              </a:pPr>
              <a:r>
                <a:rPr lang="en-US" sz="3499" spc="-118">
                  <a:solidFill>
                    <a:srgbClr val="FF0000"/>
                  </a:solidFill>
                  <a:latin typeface="DM Sans"/>
                  <a:ea typeface="DM Sans"/>
                  <a:cs typeface="DM Sans"/>
                  <a:sym typeface="DM Sans"/>
                </a:rPr>
                <a:t>Primary Memory</a:t>
              </a:r>
            </a:p>
          </p:txBody>
        </p:sp>
      </p:grpSp>
      <p:grpSp>
        <p:nvGrpSpPr>
          <p:cNvPr name="Group 18" id="18"/>
          <p:cNvGrpSpPr/>
          <p:nvPr/>
        </p:nvGrpSpPr>
        <p:grpSpPr>
          <a:xfrm rot="0">
            <a:off x="9627712" y="879881"/>
            <a:ext cx="6463048" cy="5638377"/>
            <a:chOff x="0" y="0"/>
            <a:chExt cx="1702202" cy="1485005"/>
          </a:xfrm>
        </p:grpSpPr>
        <p:sp>
          <p:nvSpPr>
            <p:cNvPr name="Freeform 19" id="19"/>
            <p:cNvSpPr/>
            <p:nvPr/>
          </p:nvSpPr>
          <p:spPr>
            <a:xfrm flipH="false" flipV="false" rot="0">
              <a:off x="0" y="0"/>
              <a:ext cx="1702202" cy="1485005"/>
            </a:xfrm>
            <a:custGeom>
              <a:avLst/>
              <a:gdLst/>
              <a:ahLst/>
              <a:cxnLst/>
              <a:rect r="r" b="b" t="t" l="l"/>
              <a:pathLst>
                <a:path h="1485005" w="1702202">
                  <a:moveTo>
                    <a:pt x="61092" y="0"/>
                  </a:moveTo>
                  <a:lnTo>
                    <a:pt x="1641110" y="0"/>
                  </a:lnTo>
                  <a:cubicBezTo>
                    <a:pt x="1674850" y="0"/>
                    <a:pt x="1702202" y="27352"/>
                    <a:pt x="1702202" y="61092"/>
                  </a:cubicBezTo>
                  <a:lnTo>
                    <a:pt x="1702202" y="1423913"/>
                  </a:lnTo>
                  <a:cubicBezTo>
                    <a:pt x="1702202" y="1457653"/>
                    <a:pt x="1674850" y="1485005"/>
                    <a:pt x="1641110" y="1485005"/>
                  </a:cubicBezTo>
                  <a:lnTo>
                    <a:pt x="61092" y="1485005"/>
                  </a:lnTo>
                  <a:cubicBezTo>
                    <a:pt x="27352" y="1485005"/>
                    <a:pt x="0" y="1457653"/>
                    <a:pt x="0" y="1423913"/>
                  </a:cubicBezTo>
                  <a:lnTo>
                    <a:pt x="0" y="61092"/>
                  </a:lnTo>
                  <a:cubicBezTo>
                    <a:pt x="0" y="27352"/>
                    <a:pt x="27352" y="0"/>
                    <a:pt x="61092" y="0"/>
                  </a:cubicBezTo>
                  <a:close/>
                </a:path>
              </a:pathLst>
            </a:custGeom>
            <a:solidFill>
              <a:srgbClr val="000000">
                <a:alpha val="0"/>
              </a:srgbClr>
            </a:solidFill>
          </p:spPr>
        </p:sp>
        <p:sp>
          <p:nvSpPr>
            <p:cNvPr name="TextBox 20" id="20"/>
            <p:cNvSpPr txBox="true"/>
            <p:nvPr/>
          </p:nvSpPr>
          <p:spPr>
            <a:xfrm>
              <a:off x="0" y="-47625"/>
              <a:ext cx="1702202" cy="1532630"/>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secondary memory, also known as auxiliary memory, is a large depository of non-volatile storage space that can store information for as long as we want.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In this respect it is worth mentioning that the secondary memory is slower compared to the access time of the primary memory.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hard disk, flash drives, etc. are some examples of secondary memory.</a:t>
              </a:r>
            </a:p>
          </p:txBody>
        </p:sp>
      </p:grpSp>
      <p:grpSp>
        <p:nvGrpSpPr>
          <p:cNvPr name="Group 21" id="21"/>
          <p:cNvGrpSpPr/>
          <p:nvPr/>
        </p:nvGrpSpPr>
        <p:grpSpPr>
          <a:xfrm rot="0">
            <a:off x="10497681" y="434371"/>
            <a:ext cx="4723109" cy="891019"/>
            <a:chOff x="0" y="0"/>
            <a:chExt cx="1243947" cy="234672"/>
          </a:xfrm>
        </p:grpSpPr>
        <p:sp>
          <p:nvSpPr>
            <p:cNvPr name="Freeform 22" id="22"/>
            <p:cNvSpPr/>
            <p:nvPr/>
          </p:nvSpPr>
          <p:spPr>
            <a:xfrm flipH="false" flipV="false" rot="0">
              <a:off x="0" y="0"/>
              <a:ext cx="1243947" cy="234672"/>
            </a:xfrm>
            <a:custGeom>
              <a:avLst/>
              <a:gdLst/>
              <a:ahLst/>
              <a:cxnLst/>
              <a:rect r="r" b="b" t="t" l="l"/>
              <a:pathLst>
                <a:path h="234672" w="1243947">
                  <a:moveTo>
                    <a:pt x="83597" y="0"/>
                  </a:moveTo>
                  <a:lnTo>
                    <a:pt x="1160350" y="0"/>
                  </a:lnTo>
                  <a:cubicBezTo>
                    <a:pt x="1206519" y="0"/>
                    <a:pt x="1243947" y="37428"/>
                    <a:pt x="1243947" y="83597"/>
                  </a:cubicBezTo>
                  <a:lnTo>
                    <a:pt x="1243947" y="151075"/>
                  </a:lnTo>
                  <a:cubicBezTo>
                    <a:pt x="1243947" y="173246"/>
                    <a:pt x="1235139" y="194509"/>
                    <a:pt x="1219462" y="210187"/>
                  </a:cubicBezTo>
                  <a:cubicBezTo>
                    <a:pt x="1203784" y="225864"/>
                    <a:pt x="1182521" y="234672"/>
                    <a:pt x="1160350" y="234672"/>
                  </a:cubicBezTo>
                  <a:lnTo>
                    <a:pt x="83597" y="234672"/>
                  </a:lnTo>
                  <a:cubicBezTo>
                    <a:pt x="37428" y="234672"/>
                    <a:pt x="0" y="197244"/>
                    <a:pt x="0" y="151075"/>
                  </a:cubicBezTo>
                  <a:lnTo>
                    <a:pt x="0" y="83597"/>
                  </a:lnTo>
                  <a:cubicBezTo>
                    <a:pt x="0" y="37428"/>
                    <a:pt x="37428" y="0"/>
                    <a:pt x="83597" y="0"/>
                  </a:cubicBezTo>
                  <a:close/>
                </a:path>
              </a:pathLst>
            </a:custGeom>
            <a:solidFill>
              <a:srgbClr val="5170FF"/>
            </a:solidFill>
          </p:spPr>
        </p:sp>
        <p:sp>
          <p:nvSpPr>
            <p:cNvPr name="TextBox 23" id="23"/>
            <p:cNvSpPr txBox="true"/>
            <p:nvPr/>
          </p:nvSpPr>
          <p:spPr>
            <a:xfrm>
              <a:off x="0" y="-66675"/>
              <a:ext cx="1243947" cy="301347"/>
            </a:xfrm>
            <a:prstGeom prst="rect">
              <a:avLst/>
            </a:prstGeom>
          </p:spPr>
          <p:txBody>
            <a:bodyPr anchor="ctr" rtlCol="false" tIns="50800" lIns="50800" bIns="50800" rIns="50800"/>
            <a:lstStyle/>
            <a:p>
              <a:pPr algn="ctr">
                <a:lnSpc>
                  <a:spcPts val="4899"/>
                </a:lnSpc>
              </a:pPr>
              <a:r>
                <a:rPr lang="en-US" sz="3499" spc="-118">
                  <a:solidFill>
                    <a:srgbClr val="FF0000"/>
                  </a:solidFill>
                  <a:latin typeface="DM Sans"/>
                  <a:ea typeface="DM Sans"/>
                  <a:cs typeface="DM Sans"/>
                  <a:sym typeface="DM Sans"/>
                </a:rPr>
                <a:t>Secondary  Memory</a:t>
              </a:r>
            </a:p>
          </p:txBody>
        </p:sp>
      </p:grpSp>
      <p:sp>
        <p:nvSpPr>
          <p:cNvPr name="AutoShape 24" id="24"/>
          <p:cNvSpPr/>
          <p:nvPr/>
        </p:nvSpPr>
        <p:spPr>
          <a:xfrm flipV="true">
            <a:off x="2317874" y="213869"/>
            <a:ext cx="13772886" cy="0"/>
          </a:xfrm>
          <a:prstGeom prst="line">
            <a:avLst/>
          </a:prstGeom>
          <a:ln cap="flat" w="38100">
            <a:solidFill>
              <a:srgbClr val="000000"/>
            </a:solidFill>
            <a:prstDash val="solid"/>
            <a:headEnd type="none" len="sm" w="sm"/>
            <a:tailEnd type="none" len="sm" w="sm"/>
          </a:ln>
        </p:spPr>
      </p:sp>
      <p:sp>
        <p:nvSpPr>
          <p:cNvPr name="AutoShape 25" id="25"/>
          <p:cNvSpPr/>
          <p:nvPr/>
        </p:nvSpPr>
        <p:spPr>
          <a:xfrm flipH="true">
            <a:off x="2317874" y="213869"/>
            <a:ext cx="19050" cy="9044431"/>
          </a:xfrm>
          <a:prstGeom prst="line">
            <a:avLst/>
          </a:prstGeom>
          <a:ln cap="flat" w="38100">
            <a:solidFill>
              <a:srgbClr val="000000"/>
            </a:solidFill>
            <a:prstDash val="solid"/>
            <a:headEnd type="none" len="sm" w="sm"/>
            <a:tailEnd type="none" len="sm" w="sm"/>
          </a:ln>
        </p:spPr>
      </p:sp>
      <p:sp>
        <p:nvSpPr>
          <p:cNvPr name="AutoShape 26" id="26"/>
          <p:cNvSpPr/>
          <p:nvPr/>
        </p:nvSpPr>
        <p:spPr>
          <a:xfrm>
            <a:off x="2317874" y="9258068"/>
            <a:ext cx="13772886" cy="0"/>
          </a:xfrm>
          <a:prstGeom prst="line">
            <a:avLst/>
          </a:prstGeom>
          <a:ln cap="flat" w="38100">
            <a:solidFill>
              <a:srgbClr val="000000"/>
            </a:solidFill>
            <a:prstDash val="solid"/>
            <a:headEnd type="none" len="sm" w="sm"/>
            <a:tailEnd type="none" len="sm" w="sm"/>
          </a:ln>
        </p:spPr>
      </p:sp>
      <p:sp>
        <p:nvSpPr>
          <p:cNvPr name="AutoShape 27" id="27"/>
          <p:cNvSpPr/>
          <p:nvPr/>
        </p:nvSpPr>
        <p:spPr>
          <a:xfrm>
            <a:off x="16071710" y="213869"/>
            <a:ext cx="19050" cy="9044199"/>
          </a:xfrm>
          <a:prstGeom prst="line">
            <a:avLst/>
          </a:prstGeom>
          <a:ln cap="flat" w="38100">
            <a:solidFill>
              <a:srgbClr val="000000"/>
            </a:solidFill>
            <a:prstDash val="solid"/>
            <a:headEnd type="none" len="sm" w="sm"/>
            <a:tailEnd type="none" len="sm" w="sm"/>
          </a:ln>
        </p:spPr>
      </p:sp>
      <p:sp>
        <p:nvSpPr>
          <p:cNvPr name="AutoShape 28" id="28"/>
          <p:cNvSpPr/>
          <p:nvPr/>
        </p:nvSpPr>
        <p:spPr>
          <a:xfrm flipH="true">
            <a:off x="9524799" y="213869"/>
            <a:ext cx="0" cy="9022470"/>
          </a:xfrm>
          <a:prstGeom prst="line">
            <a:avLst/>
          </a:prstGeom>
          <a:ln cap="flat" w="38100">
            <a:solidFill>
              <a:srgbClr val="000000"/>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948859" y="994543"/>
            <a:ext cx="12390282" cy="1976741"/>
            <a:chOff x="0" y="0"/>
            <a:chExt cx="3263284" cy="520623"/>
          </a:xfrm>
        </p:grpSpPr>
        <p:sp>
          <p:nvSpPr>
            <p:cNvPr name="Freeform 13" id="13"/>
            <p:cNvSpPr/>
            <p:nvPr/>
          </p:nvSpPr>
          <p:spPr>
            <a:xfrm flipH="false" flipV="false" rot="0">
              <a:off x="0" y="0"/>
              <a:ext cx="3263284" cy="520623"/>
            </a:xfrm>
            <a:custGeom>
              <a:avLst/>
              <a:gdLst/>
              <a:ahLst/>
              <a:cxnLst/>
              <a:rect r="r" b="b" t="t" l="l"/>
              <a:pathLst>
                <a:path h="520623" w="3263284">
                  <a:moveTo>
                    <a:pt x="31867" y="0"/>
                  </a:moveTo>
                  <a:lnTo>
                    <a:pt x="3231417" y="0"/>
                  </a:lnTo>
                  <a:cubicBezTo>
                    <a:pt x="3239869" y="0"/>
                    <a:pt x="3247974" y="3357"/>
                    <a:pt x="3253951" y="9334"/>
                  </a:cubicBezTo>
                  <a:cubicBezTo>
                    <a:pt x="3259927" y="15310"/>
                    <a:pt x="3263284" y="23415"/>
                    <a:pt x="3263284" y="31867"/>
                  </a:cubicBezTo>
                  <a:lnTo>
                    <a:pt x="3263284" y="488756"/>
                  </a:lnTo>
                  <a:cubicBezTo>
                    <a:pt x="3263284" y="497208"/>
                    <a:pt x="3259927" y="505313"/>
                    <a:pt x="3253951" y="511290"/>
                  </a:cubicBezTo>
                  <a:cubicBezTo>
                    <a:pt x="3247974" y="517266"/>
                    <a:pt x="3239869" y="520623"/>
                    <a:pt x="3231417" y="520623"/>
                  </a:cubicBezTo>
                  <a:lnTo>
                    <a:pt x="31867" y="520623"/>
                  </a:lnTo>
                  <a:cubicBezTo>
                    <a:pt x="14267" y="520623"/>
                    <a:pt x="0" y="506356"/>
                    <a:pt x="0" y="488756"/>
                  </a:cubicBezTo>
                  <a:lnTo>
                    <a:pt x="0" y="31867"/>
                  </a:lnTo>
                  <a:cubicBezTo>
                    <a:pt x="0" y="14267"/>
                    <a:pt x="14267" y="0"/>
                    <a:pt x="31867" y="0"/>
                  </a:cubicBezTo>
                  <a:close/>
                </a:path>
              </a:pathLst>
            </a:custGeom>
            <a:solidFill>
              <a:srgbClr val="C8DDFD"/>
            </a:solidFill>
          </p:spPr>
        </p:sp>
        <p:sp>
          <p:nvSpPr>
            <p:cNvPr name="TextBox 14" id="14"/>
            <p:cNvSpPr txBox="true"/>
            <p:nvPr/>
          </p:nvSpPr>
          <p:spPr>
            <a:xfrm>
              <a:off x="0" y="-104775"/>
              <a:ext cx="3263284" cy="625398"/>
            </a:xfrm>
            <a:prstGeom prst="rect">
              <a:avLst/>
            </a:prstGeom>
          </p:spPr>
          <p:txBody>
            <a:bodyPr anchor="ctr" rtlCol="false" tIns="50800" lIns="50800" bIns="50800" rIns="50800"/>
            <a:lstStyle/>
            <a:p>
              <a:pPr algn="l">
                <a:lnSpc>
                  <a:spcPts val="7559"/>
                </a:lnSpc>
              </a:pPr>
              <a:r>
                <a:rPr lang="en-US" sz="5399" spc="-183" b="true">
                  <a:solidFill>
                    <a:srgbClr val="FF751F"/>
                  </a:solidFill>
                  <a:latin typeface="DM Sans Bold"/>
                  <a:ea typeface="DM Sans Bold"/>
                  <a:cs typeface="DM Sans Bold"/>
                  <a:sym typeface="DM Sans Bold"/>
                </a:rPr>
                <a:t>1.3  :  Concept of Hardware and Software</a:t>
              </a:r>
            </a:p>
          </p:txBody>
        </p:sp>
      </p:grpSp>
      <p:grpSp>
        <p:nvGrpSpPr>
          <p:cNvPr name="Group 15" id="15"/>
          <p:cNvGrpSpPr/>
          <p:nvPr/>
        </p:nvGrpSpPr>
        <p:grpSpPr>
          <a:xfrm rot="0">
            <a:off x="2948859" y="2971284"/>
            <a:ext cx="12390282" cy="3096498"/>
            <a:chOff x="0" y="0"/>
            <a:chExt cx="3263284" cy="815539"/>
          </a:xfrm>
        </p:grpSpPr>
        <p:sp>
          <p:nvSpPr>
            <p:cNvPr name="Freeform 16" id="16"/>
            <p:cNvSpPr/>
            <p:nvPr/>
          </p:nvSpPr>
          <p:spPr>
            <a:xfrm flipH="false" flipV="false" rot="0">
              <a:off x="0" y="0"/>
              <a:ext cx="3263284" cy="815539"/>
            </a:xfrm>
            <a:custGeom>
              <a:avLst/>
              <a:gdLst/>
              <a:ahLst/>
              <a:cxnLst/>
              <a:rect r="r" b="b" t="t" l="l"/>
              <a:pathLst>
                <a:path h="815539" w="3263284">
                  <a:moveTo>
                    <a:pt x="31867" y="0"/>
                  </a:moveTo>
                  <a:lnTo>
                    <a:pt x="3231417" y="0"/>
                  </a:lnTo>
                  <a:cubicBezTo>
                    <a:pt x="3239869" y="0"/>
                    <a:pt x="3247974" y="3357"/>
                    <a:pt x="3253951" y="9334"/>
                  </a:cubicBezTo>
                  <a:cubicBezTo>
                    <a:pt x="3259927" y="15310"/>
                    <a:pt x="3263284" y="23415"/>
                    <a:pt x="3263284" y="31867"/>
                  </a:cubicBezTo>
                  <a:lnTo>
                    <a:pt x="3263284" y="783672"/>
                  </a:lnTo>
                  <a:cubicBezTo>
                    <a:pt x="3263284" y="792123"/>
                    <a:pt x="3259927" y="800229"/>
                    <a:pt x="3253951" y="806205"/>
                  </a:cubicBezTo>
                  <a:cubicBezTo>
                    <a:pt x="3247974" y="812181"/>
                    <a:pt x="3239869" y="815539"/>
                    <a:pt x="3231417" y="815539"/>
                  </a:cubicBezTo>
                  <a:lnTo>
                    <a:pt x="31867" y="815539"/>
                  </a:lnTo>
                  <a:cubicBezTo>
                    <a:pt x="14267" y="815539"/>
                    <a:pt x="0" y="801271"/>
                    <a:pt x="0" y="783672"/>
                  </a:cubicBezTo>
                  <a:lnTo>
                    <a:pt x="0" y="31867"/>
                  </a:lnTo>
                  <a:cubicBezTo>
                    <a:pt x="0" y="14267"/>
                    <a:pt x="14267" y="0"/>
                    <a:pt x="31867" y="0"/>
                  </a:cubicBezTo>
                  <a:close/>
                </a:path>
              </a:pathLst>
            </a:custGeom>
            <a:solidFill>
              <a:srgbClr val="000000">
                <a:alpha val="0"/>
              </a:srgbClr>
            </a:solidFill>
          </p:spPr>
        </p:sp>
        <p:sp>
          <p:nvSpPr>
            <p:cNvPr name="TextBox 17" id="17"/>
            <p:cNvSpPr txBox="true"/>
            <p:nvPr/>
          </p:nvSpPr>
          <p:spPr>
            <a:xfrm>
              <a:off x="0" y="-47625"/>
              <a:ext cx="3263284" cy="863164"/>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hardware of a computer consists of various electronic, electro-mechanical and electro-magnetic devices along with the interfacing connecting them.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Software, on the other hand, consists of the set of instructions, commands, programs, etc. that can make the  machinery operate and fulfill our objectives. If the hardware is the body, then the software is the soul of a system. </a:t>
              </a:r>
            </a:p>
          </p:txBody>
        </p:sp>
      </p:grpSp>
      <p:grpSp>
        <p:nvGrpSpPr>
          <p:cNvPr name="Group 18" id="18"/>
          <p:cNvGrpSpPr/>
          <p:nvPr/>
        </p:nvGrpSpPr>
        <p:grpSpPr>
          <a:xfrm rot="0">
            <a:off x="2948859" y="6144106"/>
            <a:ext cx="12390282" cy="1353782"/>
            <a:chOff x="0" y="0"/>
            <a:chExt cx="3263284" cy="356552"/>
          </a:xfrm>
        </p:grpSpPr>
        <p:sp>
          <p:nvSpPr>
            <p:cNvPr name="Freeform 19" id="19"/>
            <p:cNvSpPr/>
            <p:nvPr/>
          </p:nvSpPr>
          <p:spPr>
            <a:xfrm flipH="false" flipV="false" rot="0">
              <a:off x="0" y="0"/>
              <a:ext cx="3263284" cy="356552"/>
            </a:xfrm>
            <a:custGeom>
              <a:avLst/>
              <a:gdLst/>
              <a:ahLst/>
              <a:cxnLst/>
              <a:rect r="r" b="b" t="t" l="l"/>
              <a:pathLst>
                <a:path h="356552" w="3263284">
                  <a:moveTo>
                    <a:pt x="31867" y="0"/>
                  </a:moveTo>
                  <a:lnTo>
                    <a:pt x="3231417" y="0"/>
                  </a:lnTo>
                  <a:cubicBezTo>
                    <a:pt x="3239869" y="0"/>
                    <a:pt x="3247974" y="3357"/>
                    <a:pt x="3253951" y="9334"/>
                  </a:cubicBezTo>
                  <a:cubicBezTo>
                    <a:pt x="3259927" y="15310"/>
                    <a:pt x="3263284" y="23415"/>
                    <a:pt x="3263284" y="31867"/>
                  </a:cubicBezTo>
                  <a:lnTo>
                    <a:pt x="3263284" y="324685"/>
                  </a:lnTo>
                  <a:cubicBezTo>
                    <a:pt x="3263284" y="342284"/>
                    <a:pt x="3249017" y="356552"/>
                    <a:pt x="3231417" y="356552"/>
                  </a:cubicBezTo>
                  <a:lnTo>
                    <a:pt x="31867" y="356552"/>
                  </a:lnTo>
                  <a:cubicBezTo>
                    <a:pt x="23415" y="356552"/>
                    <a:pt x="15310" y="353194"/>
                    <a:pt x="9334" y="347218"/>
                  </a:cubicBezTo>
                  <a:cubicBezTo>
                    <a:pt x="3357" y="341242"/>
                    <a:pt x="0" y="333137"/>
                    <a:pt x="0" y="324685"/>
                  </a:cubicBezTo>
                  <a:lnTo>
                    <a:pt x="0" y="31867"/>
                  </a:lnTo>
                  <a:cubicBezTo>
                    <a:pt x="0" y="14267"/>
                    <a:pt x="14267" y="0"/>
                    <a:pt x="31867" y="0"/>
                  </a:cubicBezTo>
                  <a:close/>
                </a:path>
              </a:pathLst>
            </a:custGeom>
            <a:solidFill>
              <a:srgbClr val="C8DDFD"/>
            </a:solidFill>
          </p:spPr>
        </p:sp>
        <p:sp>
          <p:nvSpPr>
            <p:cNvPr name="TextBox 20" id="20"/>
            <p:cNvSpPr txBox="true"/>
            <p:nvPr/>
          </p:nvSpPr>
          <p:spPr>
            <a:xfrm>
              <a:off x="0" y="-104775"/>
              <a:ext cx="3263284" cy="461327"/>
            </a:xfrm>
            <a:prstGeom prst="rect">
              <a:avLst/>
            </a:prstGeom>
          </p:spPr>
          <p:txBody>
            <a:bodyPr anchor="ctr" rtlCol="false" tIns="50800" lIns="50800" bIns="50800" rIns="50800"/>
            <a:lstStyle/>
            <a:p>
              <a:pPr algn="l">
                <a:lnSpc>
                  <a:spcPts val="7559"/>
                </a:lnSpc>
              </a:pPr>
              <a:r>
                <a:rPr lang="en-US" sz="5399" spc="-183" b="true">
                  <a:solidFill>
                    <a:srgbClr val="FF751F"/>
                  </a:solidFill>
                  <a:latin typeface="DM Sans Bold"/>
                  <a:ea typeface="DM Sans Bold"/>
                  <a:cs typeface="DM Sans Bold"/>
                  <a:sym typeface="DM Sans Bold"/>
                </a:rPr>
                <a:t>1.3.1  :  Types of  Software</a:t>
              </a:r>
            </a:p>
          </p:txBody>
        </p:sp>
      </p:grpSp>
      <p:grpSp>
        <p:nvGrpSpPr>
          <p:cNvPr name="Group 21" id="21"/>
          <p:cNvGrpSpPr/>
          <p:nvPr/>
        </p:nvGrpSpPr>
        <p:grpSpPr>
          <a:xfrm rot="0">
            <a:off x="2948859" y="7497888"/>
            <a:ext cx="12390282" cy="2210312"/>
            <a:chOff x="0" y="0"/>
            <a:chExt cx="3263284" cy="582140"/>
          </a:xfrm>
        </p:grpSpPr>
        <p:sp>
          <p:nvSpPr>
            <p:cNvPr name="Freeform 22" id="22"/>
            <p:cNvSpPr/>
            <p:nvPr/>
          </p:nvSpPr>
          <p:spPr>
            <a:xfrm flipH="false" flipV="false" rot="0">
              <a:off x="0" y="0"/>
              <a:ext cx="3263284" cy="582140"/>
            </a:xfrm>
            <a:custGeom>
              <a:avLst/>
              <a:gdLst/>
              <a:ahLst/>
              <a:cxnLst/>
              <a:rect r="r" b="b" t="t" l="l"/>
              <a:pathLst>
                <a:path h="582140" w="3263284">
                  <a:moveTo>
                    <a:pt x="31867" y="0"/>
                  </a:moveTo>
                  <a:lnTo>
                    <a:pt x="3231417" y="0"/>
                  </a:lnTo>
                  <a:cubicBezTo>
                    <a:pt x="3239869" y="0"/>
                    <a:pt x="3247974" y="3357"/>
                    <a:pt x="3253951" y="9334"/>
                  </a:cubicBezTo>
                  <a:cubicBezTo>
                    <a:pt x="3259927" y="15310"/>
                    <a:pt x="3263284" y="23415"/>
                    <a:pt x="3263284" y="31867"/>
                  </a:cubicBezTo>
                  <a:lnTo>
                    <a:pt x="3263284" y="550273"/>
                  </a:lnTo>
                  <a:cubicBezTo>
                    <a:pt x="3263284" y="567873"/>
                    <a:pt x="3249017" y="582140"/>
                    <a:pt x="3231417" y="582140"/>
                  </a:cubicBezTo>
                  <a:lnTo>
                    <a:pt x="31867" y="582140"/>
                  </a:lnTo>
                  <a:cubicBezTo>
                    <a:pt x="14267" y="582140"/>
                    <a:pt x="0" y="567873"/>
                    <a:pt x="0" y="550273"/>
                  </a:cubicBezTo>
                  <a:lnTo>
                    <a:pt x="0" y="31867"/>
                  </a:lnTo>
                  <a:cubicBezTo>
                    <a:pt x="0" y="14267"/>
                    <a:pt x="14267" y="0"/>
                    <a:pt x="31867" y="0"/>
                  </a:cubicBezTo>
                  <a:close/>
                </a:path>
              </a:pathLst>
            </a:custGeom>
            <a:solidFill>
              <a:srgbClr val="000000">
                <a:alpha val="0"/>
              </a:srgbClr>
            </a:solidFill>
          </p:spPr>
        </p:sp>
        <p:sp>
          <p:nvSpPr>
            <p:cNvPr name="TextBox 23" id="23"/>
            <p:cNvSpPr txBox="true"/>
            <p:nvPr/>
          </p:nvSpPr>
          <p:spPr>
            <a:xfrm>
              <a:off x="0" y="-47625"/>
              <a:ext cx="3263284" cy="629765"/>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Depending upon the type of work a software is required to perform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It can be classified into two categories : System Software and Application Software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1028700"/>
            <a:ext cx="12241463" cy="1486508"/>
            <a:chOff x="0" y="0"/>
            <a:chExt cx="3224089" cy="391508"/>
          </a:xfrm>
        </p:grpSpPr>
        <p:sp>
          <p:nvSpPr>
            <p:cNvPr name="Freeform 13" id="13"/>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4" id="14"/>
            <p:cNvSpPr txBox="true"/>
            <p:nvPr/>
          </p:nvSpPr>
          <p:spPr>
            <a:xfrm>
              <a:off x="0" y="-123825"/>
              <a:ext cx="3224089" cy="515333"/>
            </a:xfrm>
            <a:prstGeom prst="rect">
              <a:avLst/>
            </a:prstGeom>
          </p:spPr>
          <p:txBody>
            <a:bodyPr anchor="ctr" rtlCol="false" tIns="50800" lIns="50800" bIns="50800" rIns="50800"/>
            <a:lstStyle/>
            <a:p>
              <a:pPr algn="l">
                <a:lnSpc>
                  <a:spcPts val="8819"/>
                </a:lnSpc>
              </a:pPr>
              <a:r>
                <a:rPr lang="en-US" sz="6299" spc="-214" b="true">
                  <a:solidFill>
                    <a:srgbClr val="FF751F"/>
                  </a:solidFill>
                  <a:latin typeface="DM Sans Bold"/>
                  <a:ea typeface="DM Sans Bold"/>
                  <a:cs typeface="DM Sans Bold"/>
                  <a:sym typeface="DM Sans Bold"/>
                </a:rPr>
                <a:t>1.3.2  :  System Software</a:t>
              </a:r>
            </a:p>
          </p:txBody>
        </p:sp>
      </p:grpSp>
      <p:grpSp>
        <p:nvGrpSpPr>
          <p:cNvPr name="Group 15" id="15"/>
          <p:cNvGrpSpPr/>
          <p:nvPr/>
        </p:nvGrpSpPr>
        <p:grpSpPr>
          <a:xfrm rot="0">
            <a:off x="3023268" y="2853921"/>
            <a:ext cx="12241463" cy="2586567"/>
            <a:chOff x="0" y="0"/>
            <a:chExt cx="3224089" cy="681236"/>
          </a:xfrm>
        </p:grpSpPr>
        <p:sp>
          <p:nvSpPr>
            <p:cNvPr name="Freeform 16" id="16"/>
            <p:cNvSpPr/>
            <p:nvPr/>
          </p:nvSpPr>
          <p:spPr>
            <a:xfrm flipH="false" flipV="false" rot="0">
              <a:off x="0" y="0"/>
              <a:ext cx="3224089" cy="681236"/>
            </a:xfrm>
            <a:custGeom>
              <a:avLst/>
              <a:gdLst/>
              <a:ahLst/>
              <a:cxnLst/>
              <a:rect r="r" b="b" t="t" l="l"/>
              <a:pathLst>
                <a:path h="681236" w="3224089">
                  <a:moveTo>
                    <a:pt x="32254" y="0"/>
                  </a:moveTo>
                  <a:lnTo>
                    <a:pt x="3191835" y="0"/>
                  </a:lnTo>
                  <a:cubicBezTo>
                    <a:pt x="3209648" y="0"/>
                    <a:pt x="3224089" y="14441"/>
                    <a:pt x="3224089" y="32254"/>
                  </a:cubicBezTo>
                  <a:lnTo>
                    <a:pt x="3224089" y="648982"/>
                  </a:lnTo>
                  <a:cubicBezTo>
                    <a:pt x="3224089" y="657536"/>
                    <a:pt x="3220691" y="665740"/>
                    <a:pt x="3214642" y="671789"/>
                  </a:cubicBezTo>
                  <a:cubicBezTo>
                    <a:pt x="3208593" y="677838"/>
                    <a:pt x="3200389" y="681236"/>
                    <a:pt x="3191835" y="681236"/>
                  </a:cubicBezTo>
                  <a:lnTo>
                    <a:pt x="32254" y="681236"/>
                  </a:lnTo>
                  <a:cubicBezTo>
                    <a:pt x="14441" y="681236"/>
                    <a:pt x="0" y="666795"/>
                    <a:pt x="0" y="648982"/>
                  </a:cubicBezTo>
                  <a:lnTo>
                    <a:pt x="0" y="32254"/>
                  </a:lnTo>
                  <a:cubicBezTo>
                    <a:pt x="0" y="14441"/>
                    <a:pt x="14441" y="0"/>
                    <a:pt x="32254" y="0"/>
                  </a:cubicBezTo>
                  <a:close/>
                </a:path>
              </a:pathLst>
            </a:custGeom>
            <a:solidFill>
              <a:srgbClr val="000000">
                <a:alpha val="0"/>
              </a:srgbClr>
            </a:solidFill>
          </p:spPr>
        </p:sp>
        <p:sp>
          <p:nvSpPr>
            <p:cNvPr name="TextBox 17" id="17"/>
            <p:cNvSpPr txBox="true"/>
            <p:nvPr/>
          </p:nvSpPr>
          <p:spPr>
            <a:xfrm>
              <a:off x="0" y="-47625"/>
              <a:ext cx="3224089" cy="728861"/>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System softwares are the ones that closely interact with the hardware of a computer.</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They are responsible for controlling the resources of the system and perform other activities related to the system.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different kinds of system softwares are operating system, loader, linker and translators.</a:t>
              </a:r>
            </a:p>
          </p:txBody>
        </p:sp>
      </p:grpSp>
      <p:grpSp>
        <p:nvGrpSpPr>
          <p:cNvPr name="Group 18" id="18"/>
          <p:cNvGrpSpPr/>
          <p:nvPr/>
        </p:nvGrpSpPr>
        <p:grpSpPr>
          <a:xfrm rot="0">
            <a:off x="3023268" y="5440488"/>
            <a:ext cx="4258050" cy="984031"/>
            <a:chOff x="0" y="0"/>
            <a:chExt cx="1121462" cy="259169"/>
          </a:xfrm>
        </p:grpSpPr>
        <p:sp>
          <p:nvSpPr>
            <p:cNvPr name="Freeform 19" id="19"/>
            <p:cNvSpPr/>
            <p:nvPr/>
          </p:nvSpPr>
          <p:spPr>
            <a:xfrm flipH="false" flipV="false" rot="0">
              <a:off x="0" y="0"/>
              <a:ext cx="1121462" cy="259169"/>
            </a:xfrm>
            <a:custGeom>
              <a:avLst/>
              <a:gdLst/>
              <a:ahLst/>
              <a:cxnLst/>
              <a:rect r="r" b="b" t="t" l="l"/>
              <a:pathLst>
                <a:path h="259169" w="1121462">
                  <a:moveTo>
                    <a:pt x="0" y="0"/>
                  </a:moveTo>
                  <a:lnTo>
                    <a:pt x="1121462" y="0"/>
                  </a:lnTo>
                  <a:lnTo>
                    <a:pt x="1121462" y="259169"/>
                  </a:lnTo>
                  <a:lnTo>
                    <a:pt x="0" y="259169"/>
                  </a:lnTo>
                  <a:close/>
                </a:path>
              </a:pathLst>
            </a:custGeom>
            <a:solidFill>
              <a:srgbClr val="000000">
                <a:alpha val="0"/>
              </a:srgbClr>
            </a:solidFill>
          </p:spPr>
        </p:sp>
        <p:sp>
          <p:nvSpPr>
            <p:cNvPr name="TextBox 20" id="20"/>
            <p:cNvSpPr txBox="true"/>
            <p:nvPr/>
          </p:nvSpPr>
          <p:spPr>
            <a:xfrm>
              <a:off x="0" y="-57150"/>
              <a:ext cx="1121462" cy="316319"/>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Operating System</a:t>
              </a:r>
            </a:p>
          </p:txBody>
        </p:sp>
      </p:grpSp>
      <p:grpSp>
        <p:nvGrpSpPr>
          <p:cNvPr name="Group 21" id="21"/>
          <p:cNvGrpSpPr/>
          <p:nvPr/>
        </p:nvGrpSpPr>
        <p:grpSpPr>
          <a:xfrm rot="0">
            <a:off x="3023268" y="6424519"/>
            <a:ext cx="12241463" cy="1407460"/>
            <a:chOff x="0" y="0"/>
            <a:chExt cx="3224089" cy="370689"/>
          </a:xfrm>
        </p:grpSpPr>
        <p:sp>
          <p:nvSpPr>
            <p:cNvPr name="Freeform 22" id="22"/>
            <p:cNvSpPr/>
            <p:nvPr/>
          </p:nvSpPr>
          <p:spPr>
            <a:xfrm flipH="false" flipV="false" rot="0">
              <a:off x="0" y="0"/>
              <a:ext cx="3224089" cy="370689"/>
            </a:xfrm>
            <a:custGeom>
              <a:avLst/>
              <a:gdLst/>
              <a:ahLst/>
              <a:cxnLst/>
              <a:rect r="r" b="b" t="t" l="l"/>
              <a:pathLst>
                <a:path h="370689" w="3224089">
                  <a:moveTo>
                    <a:pt x="32254" y="0"/>
                  </a:moveTo>
                  <a:lnTo>
                    <a:pt x="3191835" y="0"/>
                  </a:lnTo>
                  <a:cubicBezTo>
                    <a:pt x="3209648" y="0"/>
                    <a:pt x="3224089" y="14441"/>
                    <a:pt x="3224089" y="32254"/>
                  </a:cubicBezTo>
                  <a:lnTo>
                    <a:pt x="3224089" y="338435"/>
                  </a:lnTo>
                  <a:cubicBezTo>
                    <a:pt x="3224089" y="346989"/>
                    <a:pt x="3220691" y="355193"/>
                    <a:pt x="3214642" y="361242"/>
                  </a:cubicBezTo>
                  <a:cubicBezTo>
                    <a:pt x="3208593" y="367291"/>
                    <a:pt x="3200389" y="370689"/>
                    <a:pt x="3191835" y="370689"/>
                  </a:cubicBezTo>
                  <a:lnTo>
                    <a:pt x="32254" y="370689"/>
                  </a:lnTo>
                  <a:cubicBezTo>
                    <a:pt x="14441" y="370689"/>
                    <a:pt x="0" y="356248"/>
                    <a:pt x="0" y="338435"/>
                  </a:cubicBezTo>
                  <a:lnTo>
                    <a:pt x="0" y="32254"/>
                  </a:lnTo>
                  <a:cubicBezTo>
                    <a:pt x="0" y="14441"/>
                    <a:pt x="14441" y="0"/>
                    <a:pt x="32254" y="0"/>
                  </a:cubicBezTo>
                  <a:close/>
                </a:path>
              </a:pathLst>
            </a:custGeom>
            <a:solidFill>
              <a:srgbClr val="000000">
                <a:alpha val="0"/>
              </a:srgbClr>
            </a:solidFill>
          </p:spPr>
        </p:sp>
        <p:sp>
          <p:nvSpPr>
            <p:cNvPr name="TextBox 23" id="23"/>
            <p:cNvSpPr txBox="true"/>
            <p:nvPr/>
          </p:nvSpPr>
          <p:spPr>
            <a:xfrm>
              <a:off x="0" y="-47625"/>
              <a:ext cx="3224089" cy="418314"/>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Operating system is a system software which acts as an interface between the user and the hardware. The operating systems currently in use are Linux, Windows 10, UNIX, macOS, etc. </a:t>
              </a:r>
            </a:p>
          </p:txBody>
        </p:sp>
      </p:grpSp>
      <p:sp>
        <p:nvSpPr>
          <p:cNvPr name="Freeform 24" id="24"/>
          <p:cNvSpPr/>
          <p:nvPr/>
        </p:nvSpPr>
        <p:spPr>
          <a:xfrm flipH="false" flipV="false" rot="0">
            <a:off x="4420482" y="7831980"/>
            <a:ext cx="8870363" cy="2018535"/>
          </a:xfrm>
          <a:custGeom>
            <a:avLst/>
            <a:gdLst/>
            <a:ahLst/>
            <a:cxnLst/>
            <a:rect r="r" b="b" t="t" l="l"/>
            <a:pathLst>
              <a:path h="2018535" w="8870363">
                <a:moveTo>
                  <a:pt x="0" y="0"/>
                </a:moveTo>
                <a:lnTo>
                  <a:pt x="8870363" y="0"/>
                </a:lnTo>
                <a:lnTo>
                  <a:pt x="8870363" y="2018535"/>
                </a:lnTo>
                <a:lnTo>
                  <a:pt x="0" y="2018535"/>
                </a:lnTo>
                <a:lnTo>
                  <a:pt x="0" y="0"/>
                </a:lnTo>
                <a:close/>
              </a:path>
            </a:pathLst>
          </a:custGeom>
          <a:blipFill>
            <a:blip r:embed="rId8"/>
            <a:stretch>
              <a:fillRect l="0" t="-25487" r="0" b="-25487"/>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458099" y="607784"/>
            <a:ext cx="4258050" cy="984031"/>
            <a:chOff x="0" y="0"/>
            <a:chExt cx="1121462" cy="259169"/>
          </a:xfrm>
        </p:grpSpPr>
        <p:sp>
          <p:nvSpPr>
            <p:cNvPr name="Freeform 13" id="13"/>
            <p:cNvSpPr/>
            <p:nvPr/>
          </p:nvSpPr>
          <p:spPr>
            <a:xfrm flipH="false" flipV="false" rot="0">
              <a:off x="0" y="0"/>
              <a:ext cx="1121462" cy="259169"/>
            </a:xfrm>
            <a:custGeom>
              <a:avLst/>
              <a:gdLst/>
              <a:ahLst/>
              <a:cxnLst/>
              <a:rect r="r" b="b" t="t" l="l"/>
              <a:pathLst>
                <a:path h="259169" w="1121462">
                  <a:moveTo>
                    <a:pt x="0" y="0"/>
                  </a:moveTo>
                  <a:lnTo>
                    <a:pt x="1121462" y="0"/>
                  </a:lnTo>
                  <a:lnTo>
                    <a:pt x="1121462" y="259169"/>
                  </a:lnTo>
                  <a:lnTo>
                    <a:pt x="0" y="259169"/>
                  </a:lnTo>
                  <a:close/>
                </a:path>
              </a:pathLst>
            </a:custGeom>
            <a:solidFill>
              <a:srgbClr val="000000">
                <a:alpha val="0"/>
              </a:srgbClr>
            </a:solidFill>
          </p:spPr>
        </p:sp>
        <p:sp>
          <p:nvSpPr>
            <p:cNvPr name="TextBox 14" id="14"/>
            <p:cNvSpPr txBox="true"/>
            <p:nvPr/>
          </p:nvSpPr>
          <p:spPr>
            <a:xfrm>
              <a:off x="0" y="-57150"/>
              <a:ext cx="1121462" cy="316319"/>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Translators</a:t>
              </a:r>
            </a:p>
          </p:txBody>
        </p:sp>
      </p:grpSp>
      <p:grpSp>
        <p:nvGrpSpPr>
          <p:cNvPr name="Group 15" id="15"/>
          <p:cNvGrpSpPr/>
          <p:nvPr/>
        </p:nvGrpSpPr>
        <p:grpSpPr>
          <a:xfrm rot="0">
            <a:off x="2055408" y="1591815"/>
            <a:ext cx="12241463" cy="1407460"/>
            <a:chOff x="0" y="0"/>
            <a:chExt cx="3224089" cy="370689"/>
          </a:xfrm>
        </p:grpSpPr>
        <p:sp>
          <p:nvSpPr>
            <p:cNvPr name="Freeform 16" id="16"/>
            <p:cNvSpPr/>
            <p:nvPr/>
          </p:nvSpPr>
          <p:spPr>
            <a:xfrm flipH="false" flipV="false" rot="0">
              <a:off x="0" y="0"/>
              <a:ext cx="3224089" cy="370689"/>
            </a:xfrm>
            <a:custGeom>
              <a:avLst/>
              <a:gdLst/>
              <a:ahLst/>
              <a:cxnLst/>
              <a:rect r="r" b="b" t="t" l="l"/>
              <a:pathLst>
                <a:path h="370689" w="3224089">
                  <a:moveTo>
                    <a:pt x="32254" y="0"/>
                  </a:moveTo>
                  <a:lnTo>
                    <a:pt x="3191835" y="0"/>
                  </a:lnTo>
                  <a:cubicBezTo>
                    <a:pt x="3209648" y="0"/>
                    <a:pt x="3224089" y="14441"/>
                    <a:pt x="3224089" y="32254"/>
                  </a:cubicBezTo>
                  <a:lnTo>
                    <a:pt x="3224089" y="338435"/>
                  </a:lnTo>
                  <a:cubicBezTo>
                    <a:pt x="3224089" y="346989"/>
                    <a:pt x="3220691" y="355193"/>
                    <a:pt x="3214642" y="361242"/>
                  </a:cubicBezTo>
                  <a:cubicBezTo>
                    <a:pt x="3208593" y="367291"/>
                    <a:pt x="3200389" y="370689"/>
                    <a:pt x="3191835" y="370689"/>
                  </a:cubicBezTo>
                  <a:lnTo>
                    <a:pt x="32254" y="370689"/>
                  </a:lnTo>
                  <a:cubicBezTo>
                    <a:pt x="14441" y="370689"/>
                    <a:pt x="0" y="356248"/>
                    <a:pt x="0" y="338435"/>
                  </a:cubicBezTo>
                  <a:lnTo>
                    <a:pt x="0" y="32254"/>
                  </a:lnTo>
                  <a:cubicBezTo>
                    <a:pt x="0" y="14441"/>
                    <a:pt x="14441" y="0"/>
                    <a:pt x="32254" y="0"/>
                  </a:cubicBezTo>
                  <a:close/>
                </a:path>
              </a:pathLst>
            </a:custGeom>
            <a:solidFill>
              <a:srgbClr val="000000">
                <a:alpha val="0"/>
              </a:srgbClr>
            </a:solidFill>
          </p:spPr>
        </p:sp>
        <p:sp>
          <p:nvSpPr>
            <p:cNvPr name="TextBox 17" id="17"/>
            <p:cNvSpPr txBox="true"/>
            <p:nvPr/>
          </p:nvSpPr>
          <p:spPr>
            <a:xfrm>
              <a:off x="0" y="-47625"/>
              <a:ext cx="3224089" cy="418314"/>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Translators cover a class of system softwares which translate a program written in one programming language into another. Compiler, assembler, interpreter, etc, are few of the most used translators.</a:t>
              </a:r>
            </a:p>
          </p:txBody>
        </p:sp>
      </p:grpSp>
      <p:grpSp>
        <p:nvGrpSpPr>
          <p:cNvPr name="Group 18" id="18"/>
          <p:cNvGrpSpPr/>
          <p:nvPr/>
        </p:nvGrpSpPr>
        <p:grpSpPr>
          <a:xfrm rot="0">
            <a:off x="1458099" y="3383088"/>
            <a:ext cx="4258050" cy="984031"/>
            <a:chOff x="0" y="0"/>
            <a:chExt cx="1121462" cy="259169"/>
          </a:xfrm>
        </p:grpSpPr>
        <p:sp>
          <p:nvSpPr>
            <p:cNvPr name="Freeform 19" id="19"/>
            <p:cNvSpPr/>
            <p:nvPr/>
          </p:nvSpPr>
          <p:spPr>
            <a:xfrm flipH="false" flipV="false" rot="0">
              <a:off x="0" y="0"/>
              <a:ext cx="1121462" cy="259169"/>
            </a:xfrm>
            <a:custGeom>
              <a:avLst/>
              <a:gdLst/>
              <a:ahLst/>
              <a:cxnLst/>
              <a:rect r="r" b="b" t="t" l="l"/>
              <a:pathLst>
                <a:path h="259169" w="1121462">
                  <a:moveTo>
                    <a:pt x="0" y="0"/>
                  </a:moveTo>
                  <a:lnTo>
                    <a:pt x="1121462" y="0"/>
                  </a:lnTo>
                  <a:lnTo>
                    <a:pt x="1121462" y="259169"/>
                  </a:lnTo>
                  <a:lnTo>
                    <a:pt x="0" y="259169"/>
                  </a:lnTo>
                  <a:close/>
                </a:path>
              </a:pathLst>
            </a:custGeom>
            <a:solidFill>
              <a:srgbClr val="000000">
                <a:alpha val="0"/>
              </a:srgbClr>
            </a:solidFill>
          </p:spPr>
        </p:sp>
        <p:sp>
          <p:nvSpPr>
            <p:cNvPr name="TextBox 20" id="20"/>
            <p:cNvSpPr txBox="true"/>
            <p:nvPr/>
          </p:nvSpPr>
          <p:spPr>
            <a:xfrm>
              <a:off x="0" y="-57150"/>
              <a:ext cx="1121462" cy="316319"/>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Compilers</a:t>
              </a:r>
            </a:p>
          </p:txBody>
        </p:sp>
      </p:grpSp>
      <p:grpSp>
        <p:nvGrpSpPr>
          <p:cNvPr name="Group 21" id="21"/>
          <p:cNvGrpSpPr/>
          <p:nvPr/>
        </p:nvGrpSpPr>
        <p:grpSpPr>
          <a:xfrm rot="0">
            <a:off x="2055408" y="4367119"/>
            <a:ext cx="12241463" cy="1783689"/>
            <a:chOff x="0" y="0"/>
            <a:chExt cx="3224089" cy="469778"/>
          </a:xfrm>
        </p:grpSpPr>
        <p:sp>
          <p:nvSpPr>
            <p:cNvPr name="Freeform 22" id="22"/>
            <p:cNvSpPr/>
            <p:nvPr/>
          </p:nvSpPr>
          <p:spPr>
            <a:xfrm flipH="false" flipV="false" rot="0">
              <a:off x="0" y="0"/>
              <a:ext cx="3224089" cy="469778"/>
            </a:xfrm>
            <a:custGeom>
              <a:avLst/>
              <a:gdLst/>
              <a:ahLst/>
              <a:cxnLst/>
              <a:rect r="r" b="b" t="t" l="l"/>
              <a:pathLst>
                <a:path h="469778" w="3224089">
                  <a:moveTo>
                    <a:pt x="32254" y="0"/>
                  </a:moveTo>
                  <a:lnTo>
                    <a:pt x="3191835" y="0"/>
                  </a:lnTo>
                  <a:cubicBezTo>
                    <a:pt x="3209648" y="0"/>
                    <a:pt x="3224089" y="14441"/>
                    <a:pt x="3224089" y="32254"/>
                  </a:cubicBezTo>
                  <a:lnTo>
                    <a:pt x="3224089" y="437524"/>
                  </a:lnTo>
                  <a:cubicBezTo>
                    <a:pt x="3224089" y="446078"/>
                    <a:pt x="3220691" y="454282"/>
                    <a:pt x="3214642" y="460331"/>
                  </a:cubicBezTo>
                  <a:cubicBezTo>
                    <a:pt x="3208593" y="466380"/>
                    <a:pt x="3200389" y="469778"/>
                    <a:pt x="3191835" y="469778"/>
                  </a:cubicBezTo>
                  <a:lnTo>
                    <a:pt x="32254" y="469778"/>
                  </a:lnTo>
                  <a:cubicBezTo>
                    <a:pt x="14441" y="469778"/>
                    <a:pt x="0" y="455338"/>
                    <a:pt x="0" y="437524"/>
                  </a:cubicBezTo>
                  <a:lnTo>
                    <a:pt x="0" y="32254"/>
                  </a:lnTo>
                  <a:cubicBezTo>
                    <a:pt x="0" y="14441"/>
                    <a:pt x="14441" y="0"/>
                    <a:pt x="32254" y="0"/>
                  </a:cubicBezTo>
                  <a:close/>
                </a:path>
              </a:pathLst>
            </a:custGeom>
            <a:solidFill>
              <a:srgbClr val="000000">
                <a:alpha val="0"/>
              </a:srgbClr>
            </a:solidFill>
          </p:spPr>
        </p:sp>
        <p:sp>
          <p:nvSpPr>
            <p:cNvPr name="TextBox 23" id="23"/>
            <p:cNvSpPr txBox="true"/>
            <p:nvPr/>
          </p:nvSpPr>
          <p:spPr>
            <a:xfrm>
              <a:off x="0" y="-47625"/>
              <a:ext cx="3224089" cy="517403"/>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Compilers are system softwares that translate a program written in high level language (HLL) into machine language. C, C++, Java, etc. are examples of HLLs. Thus, compilers have to be aware of the HLL and the instruction set, addressing modes, register configuration, etc. of the machine in which the target program is supposed to be executed.</a:t>
              </a:r>
            </a:p>
          </p:txBody>
        </p:sp>
      </p:grpSp>
      <p:grpSp>
        <p:nvGrpSpPr>
          <p:cNvPr name="Group 24" id="24"/>
          <p:cNvGrpSpPr/>
          <p:nvPr/>
        </p:nvGrpSpPr>
        <p:grpSpPr>
          <a:xfrm rot="0">
            <a:off x="1458099" y="6513857"/>
            <a:ext cx="4258050" cy="984031"/>
            <a:chOff x="0" y="0"/>
            <a:chExt cx="1121462" cy="259169"/>
          </a:xfrm>
        </p:grpSpPr>
        <p:sp>
          <p:nvSpPr>
            <p:cNvPr name="Freeform 25" id="25"/>
            <p:cNvSpPr/>
            <p:nvPr/>
          </p:nvSpPr>
          <p:spPr>
            <a:xfrm flipH="false" flipV="false" rot="0">
              <a:off x="0" y="0"/>
              <a:ext cx="1121462" cy="259169"/>
            </a:xfrm>
            <a:custGeom>
              <a:avLst/>
              <a:gdLst/>
              <a:ahLst/>
              <a:cxnLst/>
              <a:rect r="r" b="b" t="t" l="l"/>
              <a:pathLst>
                <a:path h="259169" w="1121462">
                  <a:moveTo>
                    <a:pt x="0" y="0"/>
                  </a:moveTo>
                  <a:lnTo>
                    <a:pt x="1121462" y="0"/>
                  </a:lnTo>
                  <a:lnTo>
                    <a:pt x="1121462" y="259169"/>
                  </a:lnTo>
                  <a:lnTo>
                    <a:pt x="0" y="259169"/>
                  </a:lnTo>
                  <a:close/>
                </a:path>
              </a:pathLst>
            </a:custGeom>
            <a:solidFill>
              <a:srgbClr val="000000">
                <a:alpha val="0"/>
              </a:srgbClr>
            </a:solidFill>
          </p:spPr>
        </p:sp>
        <p:sp>
          <p:nvSpPr>
            <p:cNvPr name="TextBox 26" id="26"/>
            <p:cNvSpPr txBox="true"/>
            <p:nvPr/>
          </p:nvSpPr>
          <p:spPr>
            <a:xfrm>
              <a:off x="0" y="-57150"/>
              <a:ext cx="1121462" cy="316319"/>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Assemblers</a:t>
              </a:r>
            </a:p>
          </p:txBody>
        </p:sp>
      </p:grpSp>
      <p:grpSp>
        <p:nvGrpSpPr>
          <p:cNvPr name="Group 27" id="27"/>
          <p:cNvGrpSpPr/>
          <p:nvPr/>
        </p:nvGrpSpPr>
        <p:grpSpPr>
          <a:xfrm rot="0">
            <a:off x="2055408" y="7497888"/>
            <a:ext cx="12241463" cy="1277244"/>
            <a:chOff x="0" y="0"/>
            <a:chExt cx="3224089" cy="336393"/>
          </a:xfrm>
        </p:grpSpPr>
        <p:sp>
          <p:nvSpPr>
            <p:cNvPr name="Freeform 28" id="28"/>
            <p:cNvSpPr/>
            <p:nvPr/>
          </p:nvSpPr>
          <p:spPr>
            <a:xfrm flipH="false" flipV="false" rot="0">
              <a:off x="0" y="0"/>
              <a:ext cx="3224089" cy="336393"/>
            </a:xfrm>
            <a:custGeom>
              <a:avLst/>
              <a:gdLst/>
              <a:ahLst/>
              <a:cxnLst/>
              <a:rect r="r" b="b" t="t" l="l"/>
              <a:pathLst>
                <a:path h="336393" w="3224089">
                  <a:moveTo>
                    <a:pt x="32254" y="0"/>
                  </a:moveTo>
                  <a:lnTo>
                    <a:pt x="3191835" y="0"/>
                  </a:lnTo>
                  <a:cubicBezTo>
                    <a:pt x="3209648" y="0"/>
                    <a:pt x="3224089" y="14441"/>
                    <a:pt x="3224089" y="32254"/>
                  </a:cubicBezTo>
                  <a:lnTo>
                    <a:pt x="3224089" y="304139"/>
                  </a:lnTo>
                  <a:cubicBezTo>
                    <a:pt x="3224089" y="321953"/>
                    <a:pt x="3209648" y="336393"/>
                    <a:pt x="3191835" y="336393"/>
                  </a:cubicBezTo>
                  <a:lnTo>
                    <a:pt x="32254" y="336393"/>
                  </a:lnTo>
                  <a:cubicBezTo>
                    <a:pt x="23700" y="336393"/>
                    <a:pt x="15496" y="332995"/>
                    <a:pt x="9447" y="326946"/>
                  </a:cubicBezTo>
                  <a:cubicBezTo>
                    <a:pt x="3398" y="320898"/>
                    <a:pt x="0" y="312694"/>
                    <a:pt x="0" y="304139"/>
                  </a:cubicBezTo>
                  <a:lnTo>
                    <a:pt x="0" y="32254"/>
                  </a:lnTo>
                  <a:cubicBezTo>
                    <a:pt x="0" y="14441"/>
                    <a:pt x="14441" y="0"/>
                    <a:pt x="32254" y="0"/>
                  </a:cubicBezTo>
                  <a:close/>
                </a:path>
              </a:pathLst>
            </a:custGeom>
            <a:solidFill>
              <a:srgbClr val="000000">
                <a:alpha val="0"/>
              </a:srgbClr>
            </a:solidFill>
          </p:spPr>
        </p:sp>
        <p:sp>
          <p:nvSpPr>
            <p:cNvPr name="TextBox 29" id="29"/>
            <p:cNvSpPr txBox="true"/>
            <p:nvPr/>
          </p:nvSpPr>
          <p:spPr>
            <a:xfrm>
              <a:off x="0" y="-47625"/>
              <a:ext cx="3224089" cy="384018"/>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Assemblers translate a program written in assembly language to machine language. Assembly language consists of instructions supported by the underlying processor.</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458099" y="536684"/>
            <a:ext cx="4258050" cy="984031"/>
            <a:chOff x="0" y="0"/>
            <a:chExt cx="1121462" cy="259169"/>
          </a:xfrm>
        </p:grpSpPr>
        <p:sp>
          <p:nvSpPr>
            <p:cNvPr name="Freeform 13" id="13"/>
            <p:cNvSpPr/>
            <p:nvPr/>
          </p:nvSpPr>
          <p:spPr>
            <a:xfrm flipH="false" flipV="false" rot="0">
              <a:off x="0" y="0"/>
              <a:ext cx="1121462" cy="259169"/>
            </a:xfrm>
            <a:custGeom>
              <a:avLst/>
              <a:gdLst/>
              <a:ahLst/>
              <a:cxnLst/>
              <a:rect r="r" b="b" t="t" l="l"/>
              <a:pathLst>
                <a:path h="259169" w="1121462">
                  <a:moveTo>
                    <a:pt x="0" y="0"/>
                  </a:moveTo>
                  <a:lnTo>
                    <a:pt x="1121462" y="0"/>
                  </a:lnTo>
                  <a:lnTo>
                    <a:pt x="1121462" y="259169"/>
                  </a:lnTo>
                  <a:lnTo>
                    <a:pt x="0" y="259169"/>
                  </a:lnTo>
                  <a:close/>
                </a:path>
              </a:pathLst>
            </a:custGeom>
            <a:solidFill>
              <a:srgbClr val="000000">
                <a:alpha val="0"/>
              </a:srgbClr>
            </a:solidFill>
          </p:spPr>
        </p:sp>
        <p:sp>
          <p:nvSpPr>
            <p:cNvPr name="TextBox 14" id="14"/>
            <p:cNvSpPr txBox="true"/>
            <p:nvPr/>
          </p:nvSpPr>
          <p:spPr>
            <a:xfrm>
              <a:off x="0" y="-57150"/>
              <a:ext cx="1121462" cy="316319"/>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Linker</a:t>
              </a:r>
            </a:p>
          </p:txBody>
        </p:sp>
      </p:grpSp>
      <p:grpSp>
        <p:nvGrpSpPr>
          <p:cNvPr name="Group 15" id="15"/>
          <p:cNvGrpSpPr/>
          <p:nvPr/>
        </p:nvGrpSpPr>
        <p:grpSpPr>
          <a:xfrm rot="0">
            <a:off x="2055408" y="1982913"/>
            <a:ext cx="12241463" cy="1783689"/>
            <a:chOff x="0" y="0"/>
            <a:chExt cx="3224089" cy="469778"/>
          </a:xfrm>
        </p:grpSpPr>
        <p:sp>
          <p:nvSpPr>
            <p:cNvPr name="Freeform 16" id="16"/>
            <p:cNvSpPr/>
            <p:nvPr/>
          </p:nvSpPr>
          <p:spPr>
            <a:xfrm flipH="false" flipV="false" rot="0">
              <a:off x="0" y="0"/>
              <a:ext cx="3224089" cy="469778"/>
            </a:xfrm>
            <a:custGeom>
              <a:avLst/>
              <a:gdLst/>
              <a:ahLst/>
              <a:cxnLst/>
              <a:rect r="r" b="b" t="t" l="l"/>
              <a:pathLst>
                <a:path h="469778" w="3224089">
                  <a:moveTo>
                    <a:pt x="32254" y="0"/>
                  </a:moveTo>
                  <a:lnTo>
                    <a:pt x="3191835" y="0"/>
                  </a:lnTo>
                  <a:cubicBezTo>
                    <a:pt x="3209648" y="0"/>
                    <a:pt x="3224089" y="14441"/>
                    <a:pt x="3224089" y="32254"/>
                  </a:cubicBezTo>
                  <a:lnTo>
                    <a:pt x="3224089" y="437524"/>
                  </a:lnTo>
                  <a:cubicBezTo>
                    <a:pt x="3224089" y="446078"/>
                    <a:pt x="3220691" y="454282"/>
                    <a:pt x="3214642" y="460331"/>
                  </a:cubicBezTo>
                  <a:cubicBezTo>
                    <a:pt x="3208593" y="466380"/>
                    <a:pt x="3200389" y="469778"/>
                    <a:pt x="3191835" y="469778"/>
                  </a:cubicBezTo>
                  <a:lnTo>
                    <a:pt x="32254" y="469778"/>
                  </a:lnTo>
                  <a:cubicBezTo>
                    <a:pt x="14441" y="469778"/>
                    <a:pt x="0" y="455338"/>
                    <a:pt x="0" y="437524"/>
                  </a:cubicBezTo>
                  <a:lnTo>
                    <a:pt x="0" y="32254"/>
                  </a:lnTo>
                  <a:cubicBezTo>
                    <a:pt x="0" y="14441"/>
                    <a:pt x="14441" y="0"/>
                    <a:pt x="32254" y="0"/>
                  </a:cubicBezTo>
                  <a:close/>
                </a:path>
              </a:pathLst>
            </a:custGeom>
            <a:solidFill>
              <a:srgbClr val="000000">
                <a:alpha val="0"/>
              </a:srgbClr>
            </a:solidFill>
          </p:spPr>
        </p:sp>
        <p:sp>
          <p:nvSpPr>
            <p:cNvPr name="TextBox 17" id="17"/>
            <p:cNvSpPr txBox="true"/>
            <p:nvPr/>
          </p:nvSpPr>
          <p:spPr>
            <a:xfrm>
              <a:off x="0" y="-47625"/>
              <a:ext cx="3224089" cy="517403"/>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The linker links together the object codes belonging to all the sub-routines/functions of a program and forms an executable code. This executable code may be stored in the secondary memory and can be loaded into me main memory as and when required for execution.</a:t>
              </a:r>
            </a:p>
          </p:txBody>
        </p:sp>
      </p:grpSp>
      <p:grpSp>
        <p:nvGrpSpPr>
          <p:cNvPr name="Group 18" id="18"/>
          <p:cNvGrpSpPr/>
          <p:nvPr/>
        </p:nvGrpSpPr>
        <p:grpSpPr>
          <a:xfrm rot="0">
            <a:off x="1458099" y="4651484"/>
            <a:ext cx="4258050" cy="984031"/>
            <a:chOff x="0" y="0"/>
            <a:chExt cx="1121462" cy="259169"/>
          </a:xfrm>
        </p:grpSpPr>
        <p:sp>
          <p:nvSpPr>
            <p:cNvPr name="Freeform 19" id="19"/>
            <p:cNvSpPr/>
            <p:nvPr/>
          </p:nvSpPr>
          <p:spPr>
            <a:xfrm flipH="false" flipV="false" rot="0">
              <a:off x="0" y="0"/>
              <a:ext cx="1121462" cy="259169"/>
            </a:xfrm>
            <a:custGeom>
              <a:avLst/>
              <a:gdLst/>
              <a:ahLst/>
              <a:cxnLst/>
              <a:rect r="r" b="b" t="t" l="l"/>
              <a:pathLst>
                <a:path h="259169" w="1121462">
                  <a:moveTo>
                    <a:pt x="0" y="0"/>
                  </a:moveTo>
                  <a:lnTo>
                    <a:pt x="1121462" y="0"/>
                  </a:lnTo>
                  <a:lnTo>
                    <a:pt x="1121462" y="259169"/>
                  </a:lnTo>
                  <a:lnTo>
                    <a:pt x="0" y="259169"/>
                  </a:lnTo>
                  <a:close/>
                </a:path>
              </a:pathLst>
            </a:custGeom>
            <a:solidFill>
              <a:srgbClr val="000000">
                <a:alpha val="0"/>
              </a:srgbClr>
            </a:solidFill>
          </p:spPr>
        </p:sp>
        <p:sp>
          <p:nvSpPr>
            <p:cNvPr name="TextBox 20" id="20"/>
            <p:cNvSpPr txBox="true"/>
            <p:nvPr/>
          </p:nvSpPr>
          <p:spPr>
            <a:xfrm>
              <a:off x="0" y="-57150"/>
              <a:ext cx="1121462" cy="316319"/>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Loader</a:t>
              </a:r>
            </a:p>
          </p:txBody>
        </p:sp>
      </p:grpSp>
      <p:grpSp>
        <p:nvGrpSpPr>
          <p:cNvPr name="Group 21" id="21"/>
          <p:cNvGrpSpPr/>
          <p:nvPr/>
        </p:nvGrpSpPr>
        <p:grpSpPr>
          <a:xfrm rot="0">
            <a:off x="2055408" y="6102241"/>
            <a:ext cx="12241463" cy="1783689"/>
            <a:chOff x="0" y="0"/>
            <a:chExt cx="3224089" cy="469778"/>
          </a:xfrm>
        </p:grpSpPr>
        <p:sp>
          <p:nvSpPr>
            <p:cNvPr name="Freeform 22" id="22"/>
            <p:cNvSpPr/>
            <p:nvPr/>
          </p:nvSpPr>
          <p:spPr>
            <a:xfrm flipH="false" flipV="false" rot="0">
              <a:off x="0" y="0"/>
              <a:ext cx="3224089" cy="469778"/>
            </a:xfrm>
            <a:custGeom>
              <a:avLst/>
              <a:gdLst/>
              <a:ahLst/>
              <a:cxnLst/>
              <a:rect r="r" b="b" t="t" l="l"/>
              <a:pathLst>
                <a:path h="469778" w="3224089">
                  <a:moveTo>
                    <a:pt x="32254" y="0"/>
                  </a:moveTo>
                  <a:lnTo>
                    <a:pt x="3191835" y="0"/>
                  </a:lnTo>
                  <a:cubicBezTo>
                    <a:pt x="3209648" y="0"/>
                    <a:pt x="3224089" y="14441"/>
                    <a:pt x="3224089" y="32254"/>
                  </a:cubicBezTo>
                  <a:lnTo>
                    <a:pt x="3224089" y="437524"/>
                  </a:lnTo>
                  <a:cubicBezTo>
                    <a:pt x="3224089" y="446078"/>
                    <a:pt x="3220691" y="454282"/>
                    <a:pt x="3214642" y="460331"/>
                  </a:cubicBezTo>
                  <a:cubicBezTo>
                    <a:pt x="3208593" y="466380"/>
                    <a:pt x="3200389" y="469778"/>
                    <a:pt x="3191835" y="469778"/>
                  </a:cubicBezTo>
                  <a:lnTo>
                    <a:pt x="32254" y="469778"/>
                  </a:lnTo>
                  <a:cubicBezTo>
                    <a:pt x="14441" y="469778"/>
                    <a:pt x="0" y="455338"/>
                    <a:pt x="0" y="437524"/>
                  </a:cubicBezTo>
                  <a:lnTo>
                    <a:pt x="0" y="32254"/>
                  </a:lnTo>
                  <a:cubicBezTo>
                    <a:pt x="0" y="14441"/>
                    <a:pt x="14441" y="0"/>
                    <a:pt x="32254" y="0"/>
                  </a:cubicBezTo>
                  <a:close/>
                </a:path>
              </a:pathLst>
            </a:custGeom>
            <a:solidFill>
              <a:srgbClr val="000000">
                <a:alpha val="0"/>
              </a:srgbClr>
            </a:solidFill>
          </p:spPr>
        </p:sp>
        <p:sp>
          <p:nvSpPr>
            <p:cNvPr name="TextBox 23" id="23"/>
            <p:cNvSpPr txBox="true"/>
            <p:nvPr/>
          </p:nvSpPr>
          <p:spPr>
            <a:xfrm>
              <a:off x="0" y="-47625"/>
              <a:ext cx="3224089" cy="517403"/>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The loader is a system software that loads a program to be executed from the secondary memory into a designated area of the main memory. Modern day operating systems have a loader incorporated within them. Absolute loaders, relocatable loaders, direct linking loaders are few forms of loader.</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1028700"/>
            <a:ext cx="12241463" cy="1486508"/>
            <a:chOff x="0" y="0"/>
            <a:chExt cx="3224089" cy="391508"/>
          </a:xfrm>
        </p:grpSpPr>
        <p:sp>
          <p:nvSpPr>
            <p:cNvPr name="Freeform 13" id="13"/>
            <p:cNvSpPr/>
            <p:nvPr/>
          </p:nvSpPr>
          <p:spPr>
            <a:xfrm flipH="false" flipV="false" rot="0">
              <a:off x="0" y="0"/>
              <a:ext cx="3224089" cy="391508"/>
            </a:xfrm>
            <a:custGeom>
              <a:avLst/>
              <a:gdLst/>
              <a:ahLst/>
              <a:cxnLst/>
              <a:rect r="r" b="b" t="t" l="l"/>
              <a:pathLst>
                <a:path h="391508" w="3224089">
                  <a:moveTo>
                    <a:pt x="32254" y="0"/>
                  </a:moveTo>
                  <a:lnTo>
                    <a:pt x="3191835" y="0"/>
                  </a:lnTo>
                  <a:cubicBezTo>
                    <a:pt x="3209648" y="0"/>
                    <a:pt x="3224089" y="14441"/>
                    <a:pt x="3224089" y="32254"/>
                  </a:cubicBezTo>
                  <a:lnTo>
                    <a:pt x="3224089" y="359254"/>
                  </a:lnTo>
                  <a:cubicBezTo>
                    <a:pt x="3224089" y="377068"/>
                    <a:pt x="3209648" y="391508"/>
                    <a:pt x="3191835" y="391508"/>
                  </a:cubicBezTo>
                  <a:lnTo>
                    <a:pt x="32254" y="391508"/>
                  </a:lnTo>
                  <a:cubicBezTo>
                    <a:pt x="23700" y="391508"/>
                    <a:pt x="15496" y="388110"/>
                    <a:pt x="9447" y="382061"/>
                  </a:cubicBezTo>
                  <a:cubicBezTo>
                    <a:pt x="3398" y="376012"/>
                    <a:pt x="0" y="367808"/>
                    <a:pt x="0" y="359254"/>
                  </a:cubicBezTo>
                  <a:lnTo>
                    <a:pt x="0" y="32254"/>
                  </a:lnTo>
                  <a:cubicBezTo>
                    <a:pt x="0" y="14441"/>
                    <a:pt x="14441" y="0"/>
                    <a:pt x="32254" y="0"/>
                  </a:cubicBezTo>
                  <a:close/>
                </a:path>
              </a:pathLst>
            </a:custGeom>
            <a:solidFill>
              <a:srgbClr val="C8DDFD"/>
            </a:solidFill>
          </p:spPr>
        </p:sp>
        <p:sp>
          <p:nvSpPr>
            <p:cNvPr name="TextBox 14" id="14"/>
            <p:cNvSpPr txBox="true"/>
            <p:nvPr/>
          </p:nvSpPr>
          <p:spPr>
            <a:xfrm>
              <a:off x="0" y="-123825"/>
              <a:ext cx="3224089" cy="515333"/>
            </a:xfrm>
            <a:prstGeom prst="rect">
              <a:avLst/>
            </a:prstGeom>
          </p:spPr>
          <p:txBody>
            <a:bodyPr anchor="ctr" rtlCol="false" tIns="50800" lIns="50800" bIns="50800" rIns="50800"/>
            <a:lstStyle/>
            <a:p>
              <a:pPr algn="l">
                <a:lnSpc>
                  <a:spcPts val="8819"/>
                </a:lnSpc>
              </a:pPr>
              <a:r>
                <a:rPr lang="en-US" sz="6299" spc="-214" b="true">
                  <a:solidFill>
                    <a:srgbClr val="FF751F"/>
                  </a:solidFill>
                  <a:latin typeface="DM Sans Bold"/>
                  <a:ea typeface="DM Sans Bold"/>
                  <a:cs typeface="DM Sans Bold"/>
                  <a:sym typeface="DM Sans Bold"/>
                </a:rPr>
                <a:t>1.3.2  :  Application Software</a:t>
              </a:r>
            </a:p>
          </p:txBody>
        </p:sp>
      </p:grpSp>
      <p:grpSp>
        <p:nvGrpSpPr>
          <p:cNvPr name="Group 15" id="15"/>
          <p:cNvGrpSpPr/>
          <p:nvPr/>
        </p:nvGrpSpPr>
        <p:grpSpPr>
          <a:xfrm rot="0">
            <a:off x="3023268" y="2853921"/>
            <a:ext cx="12241463" cy="4643967"/>
            <a:chOff x="0" y="0"/>
            <a:chExt cx="3224089" cy="1223102"/>
          </a:xfrm>
        </p:grpSpPr>
        <p:sp>
          <p:nvSpPr>
            <p:cNvPr name="Freeform 16" id="16"/>
            <p:cNvSpPr/>
            <p:nvPr/>
          </p:nvSpPr>
          <p:spPr>
            <a:xfrm flipH="false" flipV="false" rot="0">
              <a:off x="0" y="0"/>
              <a:ext cx="3224089" cy="1223102"/>
            </a:xfrm>
            <a:custGeom>
              <a:avLst/>
              <a:gdLst/>
              <a:ahLst/>
              <a:cxnLst/>
              <a:rect r="r" b="b" t="t" l="l"/>
              <a:pathLst>
                <a:path h="1223102" w="3224089">
                  <a:moveTo>
                    <a:pt x="32254" y="0"/>
                  </a:moveTo>
                  <a:lnTo>
                    <a:pt x="3191835" y="0"/>
                  </a:lnTo>
                  <a:cubicBezTo>
                    <a:pt x="3209648" y="0"/>
                    <a:pt x="3224089" y="14441"/>
                    <a:pt x="3224089" y="32254"/>
                  </a:cubicBezTo>
                  <a:lnTo>
                    <a:pt x="3224089" y="1190848"/>
                  </a:lnTo>
                  <a:cubicBezTo>
                    <a:pt x="3224089" y="1208662"/>
                    <a:pt x="3209648" y="1223102"/>
                    <a:pt x="3191835" y="1223102"/>
                  </a:cubicBezTo>
                  <a:lnTo>
                    <a:pt x="32254" y="1223102"/>
                  </a:lnTo>
                  <a:cubicBezTo>
                    <a:pt x="23700" y="1223102"/>
                    <a:pt x="15496" y="1219704"/>
                    <a:pt x="9447" y="1213655"/>
                  </a:cubicBezTo>
                  <a:cubicBezTo>
                    <a:pt x="3398" y="1207607"/>
                    <a:pt x="0" y="1199403"/>
                    <a:pt x="0" y="1190848"/>
                  </a:cubicBezTo>
                  <a:lnTo>
                    <a:pt x="0" y="32254"/>
                  </a:lnTo>
                  <a:cubicBezTo>
                    <a:pt x="0" y="14441"/>
                    <a:pt x="14441" y="0"/>
                    <a:pt x="32254" y="0"/>
                  </a:cubicBezTo>
                  <a:close/>
                </a:path>
              </a:pathLst>
            </a:custGeom>
            <a:solidFill>
              <a:srgbClr val="000000">
                <a:alpha val="0"/>
              </a:srgbClr>
            </a:solidFill>
          </p:spPr>
        </p:sp>
        <p:sp>
          <p:nvSpPr>
            <p:cNvPr name="TextBox 17" id="17"/>
            <p:cNvSpPr txBox="true"/>
            <p:nvPr/>
          </p:nvSpPr>
          <p:spPr>
            <a:xfrm>
              <a:off x="0" y="-47625"/>
              <a:ext cx="3224089" cy="1270727"/>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Application software are the ones that are meant to perform a specific activity and aid users in various ways.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Word processing software, image editing, spread sheet packages, database software and accounting software are all examples of application software.</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 Each of these has been designed to serve a special purpose.</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This are the types of software which runs on system software.</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Without system software application software can’t work.</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865148" y="1028700"/>
            <a:ext cx="12557704" cy="1623296"/>
            <a:chOff x="0" y="0"/>
            <a:chExt cx="3307379" cy="427535"/>
          </a:xfrm>
        </p:grpSpPr>
        <p:sp>
          <p:nvSpPr>
            <p:cNvPr name="Freeform 13" id="13"/>
            <p:cNvSpPr/>
            <p:nvPr/>
          </p:nvSpPr>
          <p:spPr>
            <a:xfrm flipH="false" flipV="false" rot="0">
              <a:off x="0" y="0"/>
              <a:ext cx="3307379" cy="427535"/>
            </a:xfrm>
            <a:custGeom>
              <a:avLst/>
              <a:gdLst/>
              <a:ahLst/>
              <a:cxnLst/>
              <a:rect r="r" b="b" t="t" l="l"/>
              <a:pathLst>
                <a:path h="427535" w="3307379">
                  <a:moveTo>
                    <a:pt x="31442" y="0"/>
                  </a:moveTo>
                  <a:lnTo>
                    <a:pt x="3275937" y="0"/>
                  </a:lnTo>
                  <a:cubicBezTo>
                    <a:pt x="3293302" y="0"/>
                    <a:pt x="3307379" y="14077"/>
                    <a:pt x="3307379" y="31442"/>
                  </a:cubicBezTo>
                  <a:lnTo>
                    <a:pt x="3307379" y="396093"/>
                  </a:lnTo>
                  <a:cubicBezTo>
                    <a:pt x="3307379" y="413458"/>
                    <a:pt x="3293302" y="427535"/>
                    <a:pt x="3275937" y="427535"/>
                  </a:cubicBezTo>
                  <a:lnTo>
                    <a:pt x="31442" y="427535"/>
                  </a:lnTo>
                  <a:cubicBezTo>
                    <a:pt x="14077" y="427535"/>
                    <a:pt x="0" y="413458"/>
                    <a:pt x="0" y="396093"/>
                  </a:cubicBezTo>
                  <a:lnTo>
                    <a:pt x="0" y="31442"/>
                  </a:lnTo>
                  <a:cubicBezTo>
                    <a:pt x="0" y="14077"/>
                    <a:pt x="14077" y="0"/>
                    <a:pt x="31442" y="0"/>
                  </a:cubicBezTo>
                  <a:close/>
                </a:path>
              </a:pathLst>
            </a:custGeom>
            <a:solidFill>
              <a:srgbClr val="C8DDFD"/>
            </a:solidFill>
          </p:spPr>
        </p:sp>
        <p:sp>
          <p:nvSpPr>
            <p:cNvPr name="TextBox 14" id="14"/>
            <p:cNvSpPr txBox="true"/>
            <p:nvPr/>
          </p:nvSpPr>
          <p:spPr>
            <a:xfrm>
              <a:off x="0" y="-85725"/>
              <a:ext cx="3307379" cy="513260"/>
            </a:xfrm>
            <a:prstGeom prst="rect">
              <a:avLst/>
            </a:prstGeom>
          </p:spPr>
          <p:txBody>
            <a:bodyPr anchor="ctr" rtlCol="false" tIns="50800" lIns="50800" bIns="50800" rIns="50800"/>
            <a:lstStyle/>
            <a:p>
              <a:pPr algn="l">
                <a:lnSpc>
                  <a:spcPts val="6019"/>
                </a:lnSpc>
              </a:pPr>
              <a:r>
                <a:rPr lang="en-US" sz="4299" spc="-146" b="true">
                  <a:solidFill>
                    <a:srgbClr val="FF751F"/>
                  </a:solidFill>
                  <a:latin typeface="DM Sans Bold"/>
                  <a:ea typeface="DM Sans Bold"/>
                  <a:cs typeface="DM Sans Bold"/>
                  <a:sym typeface="DM Sans Bold"/>
                </a:rPr>
                <a:t>1.4  :  Programming Language and their Generations</a:t>
              </a:r>
            </a:p>
          </p:txBody>
        </p:sp>
      </p:grpSp>
      <p:grpSp>
        <p:nvGrpSpPr>
          <p:cNvPr name="Group 15" id="15"/>
          <p:cNvGrpSpPr/>
          <p:nvPr/>
        </p:nvGrpSpPr>
        <p:grpSpPr>
          <a:xfrm rot="0">
            <a:off x="2948859" y="2971284"/>
            <a:ext cx="12390282" cy="2172216"/>
            <a:chOff x="0" y="0"/>
            <a:chExt cx="3263284" cy="572106"/>
          </a:xfrm>
        </p:grpSpPr>
        <p:sp>
          <p:nvSpPr>
            <p:cNvPr name="Freeform 16" id="16"/>
            <p:cNvSpPr/>
            <p:nvPr/>
          </p:nvSpPr>
          <p:spPr>
            <a:xfrm flipH="false" flipV="false" rot="0">
              <a:off x="0" y="0"/>
              <a:ext cx="3263284" cy="572106"/>
            </a:xfrm>
            <a:custGeom>
              <a:avLst/>
              <a:gdLst/>
              <a:ahLst/>
              <a:cxnLst/>
              <a:rect r="r" b="b" t="t" l="l"/>
              <a:pathLst>
                <a:path h="572106" w="3263284">
                  <a:moveTo>
                    <a:pt x="31867" y="0"/>
                  </a:moveTo>
                  <a:lnTo>
                    <a:pt x="3231417" y="0"/>
                  </a:lnTo>
                  <a:cubicBezTo>
                    <a:pt x="3239869" y="0"/>
                    <a:pt x="3247974" y="3357"/>
                    <a:pt x="3253951" y="9334"/>
                  </a:cubicBezTo>
                  <a:cubicBezTo>
                    <a:pt x="3259927" y="15310"/>
                    <a:pt x="3263284" y="23415"/>
                    <a:pt x="3263284" y="31867"/>
                  </a:cubicBezTo>
                  <a:lnTo>
                    <a:pt x="3263284" y="540240"/>
                  </a:lnTo>
                  <a:cubicBezTo>
                    <a:pt x="3263284" y="557839"/>
                    <a:pt x="3249017" y="572106"/>
                    <a:pt x="3231417" y="572106"/>
                  </a:cubicBezTo>
                  <a:lnTo>
                    <a:pt x="31867" y="572106"/>
                  </a:lnTo>
                  <a:cubicBezTo>
                    <a:pt x="23415" y="572106"/>
                    <a:pt x="15310" y="568749"/>
                    <a:pt x="9334" y="562773"/>
                  </a:cubicBezTo>
                  <a:cubicBezTo>
                    <a:pt x="3357" y="556797"/>
                    <a:pt x="0" y="548691"/>
                    <a:pt x="0" y="540240"/>
                  </a:cubicBezTo>
                  <a:lnTo>
                    <a:pt x="0" y="31867"/>
                  </a:lnTo>
                  <a:cubicBezTo>
                    <a:pt x="0" y="14267"/>
                    <a:pt x="14267" y="0"/>
                    <a:pt x="31867" y="0"/>
                  </a:cubicBezTo>
                  <a:close/>
                </a:path>
              </a:pathLst>
            </a:custGeom>
            <a:solidFill>
              <a:srgbClr val="000000">
                <a:alpha val="0"/>
              </a:srgbClr>
            </a:solidFill>
          </p:spPr>
        </p:sp>
        <p:sp>
          <p:nvSpPr>
            <p:cNvPr name="TextBox 17" id="17"/>
            <p:cNvSpPr txBox="true"/>
            <p:nvPr/>
          </p:nvSpPr>
          <p:spPr>
            <a:xfrm>
              <a:off x="0" y="-47625"/>
              <a:ext cx="3263284" cy="619731"/>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Software can be considered as a set of programs which work in a cohesive manner to perform a task.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A program is a set of instructions written in a programming language, which when executed in sequence performs a task.</a:t>
              </a:r>
            </a:p>
          </p:txBody>
        </p:sp>
      </p:grpSp>
      <p:grpSp>
        <p:nvGrpSpPr>
          <p:cNvPr name="Group 18" id="18"/>
          <p:cNvGrpSpPr/>
          <p:nvPr/>
        </p:nvGrpSpPr>
        <p:grpSpPr>
          <a:xfrm rot="0">
            <a:off x="2865148" y="5440488"/>
            <a:ext cx="12390282" cy="1353782"/>
            <a:chOff x="0" y="0"/>
            <a:chExt cx="3263284" cy="356552"/>
          </a:xfrm>
        </p:grpSpPr>
        <p:sp>
          <p:nvSpPr>
            <p:cNvPr name="Freeform 19" id="19"/>
            <p:cNvSpPr/>
            <p:nvPr/>
          </p:nvSpPr>
          <p:spPr>
            <a:xfrm flipH="false" flipV="false" rot="0">
              <a:off x="0" y="0"/>
              <a:ext cx="3263284" cy="356552"/>
            </a:xfrm>
            <a:custGeom>
              <a:avLst/>
              <a:gdLst/>
              <a:ahLst/>
              <a:cxnLst/>
              <a:rect r="r" b="b" t="t" l="l"/>
              <a:pathLst>
                <a:path h="356552" w="3263284">
                  <a:moveTo>
                    <a:pt x="31867" y="0"/>
                  </a:moveTo>
                  <a:lnTo>
                    <a:pt x="3231417" y="0"/>
                  </a:lnTo>
                  <a:cubicBezTo>
                    <a:pt x="3239869" y="0"/>
                    <a:pt x="3247974" y="3357"/>
                    <a:pt x="3253951" y="9334"/>
                  </a:cubicBezTo>
                  <a:cubicBezTo>
                    <a:pt x="3259927" y="15310"/>
                    <a:pt x="3263284" y="23415"/>
                    <a:pt x="3263284" y="31867"/>
                  </a:cubicBezTo>
                  <a:lnTo>
                    <a:pt x="3263284" y="324685"/>
                  </a:lnTo>
                  <a:cubicBezTo>
                    <a:pt x="3263284" y="342284"/>
                    <a:pt x="3249017" y="356552"/>
                    <a:pt x="3231417" y="356552"/>
                  </a:cubicBezTo>
                  <a:lnTo>
                    <a:pt x="31867" y="356552"/>
                  </a:lnTo>
                  <a:cubicBezTo>
                    <a:pt x="23415" y="356552"/>
                    <a:pt x="15310" y="353194"/>
                    <a:pt x="9334" y="347218"/>
                  </a:cubicBezTo>
                  <a:cubicBezTo>
                    <a:pt x="3357" y="341242"/>
                    <a:pt x="0" y="333137"/>
                    <a:pt x="0" y="324685"/>
                  </a:cubicBezTo>
                  <a:lnTo>
                    <a:pt x="0" y="31867"/>
                  </a:lnTo>
                  <a:cubicBezTo>
                    <a:pt x="0" y="14267"/>
                    <a:pt x="14267" y="0"/>
                    <a:pt x="31867" y="0"/>
                  </a:cubicBezTo>
                  <a:close/>
                </a:path>
              </a:pathLst>
            </a:custGeom>
            <a:solidFill>
              <a:srgbClr val="C8DDFD"/>
            </a:solidFill>
          </p:spPr>
        </p:sp>
        <p:sp>
          <p:nvSpPr>
            <p:cNvPr name="TextBox 20" id="20"/>
            <p:cNvSpPr txBox="true"/>
            <p:nvPr/>
          </p:nvSpPr>
          <p:spPr>
            <a:xfrm>
              <a:off x="0" y="-95250"/>
              <a:ext cx="3263284" cy="451802"/>
            </a:xfrm>
            <a:prstGeom prst="rect">
              <a:avLst/>
            </a:prstGeom>
          </p:spPr>
          <p:txBody>
            <a:bodyPr anchor="ctr" rtlCol="false" tIns="50800" lIns="50800" bIns="50800" rIns="50800"/>
            <a:lstStyle/>
            <a:p>
              <a:pPr algn="l">
                <a:lnSpc>
                  <a:spcPts val="6719"/>
                </a:lnSpc>
              </a:pPr>
              <a:r>
                <a:rPr lang="en-US" sz="4799" spc="-163" b="true">
                  <a:solidFill>
                    <a:srgbClr val="FF751F"/>
                  </a:solidFill>
                  <a:latin typeface="DM Sans Bold"/>
                  <a:ea typeface="DM Sans Bold"/>
                  <a:cs typeface="DM Sans Bold"/>
                  <a:sym typeface="DM Sans Bold"/>
                </a:rPr>
                <a:t>1.4.1  :  Programming Languages</a:t>
              </a:r>
            </a:p>
          </p:txBody>
        </p:sp>
      </p:grpSp>
      <p:grpSp>
        <p:nvGrpSpPr>
          <p:cNvPr name="Group 21" id="21"/>
          <p:cNvGrpSpPr/>
          <p:nvPr/>
        </p:nvGrpSpPr>
        <p:grpSpPr>
          <a:xfrm rot="0">
            <a:off x="2948859" y="7208399"/>
            <a:ext cx="12390282" cy="2210312"/>
            <a:chOff x="0" y="0"/>
            <a:chExt cx="3263284" cy="582140"/>
          </a:xfrm>
        </p:grpSpPr>
        <p:sp>
          <p:nvSpPr>
            <p:cNvPr name="Freeform 22" id="22"/>
            <p:cNvSpPr/>
            <p:nvPr/>
          </p:nvSpPr>
          <p:spPr>
            <a:xfrm flipH="false" flipV="false" rot="0">
              <a:off x="0" y="0"/>
              <a:ext cx="3263284" cy="582140"/>
            </a:xfrm>
            <a:custGeom>
              <a:avLst/>
              <a:gdLst/>
              <a:ahLst/>
              <a:cxnLst/>
              <a:rect r="r" b="b" t="t" l="l"/>
              <a:pathLst>
                <a:path h="582140" w="3263284">
                  <a:moveTo>
                    <a:pt x="31867" y="0"/>
                  </a:moveTo>
                  <a:lnTo>
                    <a:pt x="3231417" y="0"/>
                  </a:lnTo>
                  <a:cubicBezTo>
                    <a:pt x="3239869" y="0"/>
                    <a:pt x="3247974" y="3357"/>
                    <a:pt x="3253951" y="9334"/>
                  </a:cubicBezTo>
                  <a:cubicBezTo>
                    <a:pt x="3259927" y="15310"/>
                    <a:pt x="3263284" y="23415"/>
                    <a:pt x="3263284" y="31867"/>
                  </a:cubicBezTo>
                  <a:lnTo>
                    <a:pt x="3263284" y="550273"/>
                  </a:lnTo>
                  <a:cubicBezTo>
                    <a:pt x="3263284" y="567873"/>
                    <a:pt x="3249017" y="582140"/>
                    <a:pt x="3231417" y="582140"/>
                  </a:cubicBezTo>
                  <a:lnTo>
                    <a:pt x="31867" y="582140"/>
                  </a:lnTo>
                  <a:cubicBezTo>
                    <a:pt x="14267" y="582140"/>
                    <a:pt x="0" y="567873"/>
                    <a:pt x="0" y="550273"/>
                  </a:cubicBezTo>
                  <a:lnTo>
                    <a:pt x="0" y="31867"/>
                  </a:lnTo>
                  <a:cubicBezTo>
                    <a:pt x="0" y="14267"/>
                    <a:pt x="14267" y="0"/>
                    <a:pt x="31867" y="0"/>
                  </a:cubicBezTo>
                  <a:close/>
                </a:path>
              </a:pathLst>
            </a:custGeom>
            <a:solidFill>
              <a:srgbClr val="000000">
                <a:alpha val="0"/>
              </a:srgbClr>
            </a:solidFill>
          </p:spPr>
        </p:sp>
        <p:sp>
          <p:nvSpPr>
            <p:cNvPr name="TextBox 23" id="23"/>
            <p:cNvSpPr txBox="true"/>
            <p:nvPr/>
          </p:nvSpPr>
          <p:spPr>
            <a:xfrm>
              <a:off x="0" y="-47625"/>
              <a:ext cx="3263284" cy="629765"/>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A programming language gives a system of syntax and semantics using which a program can be written. Syntax is to a programming language in the same as grammar is to any spoken language. It lays down the rules that define the structure of the symbols, punctuation, tokens and keywords of a programming language.</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874449" y="1028700"/>
            <a:ext cx="12539102" cy="1449303"/>
            <a:chOff x="0" y="0"/>
            <a:chExt cx="3302479" cy="381709"/>
          </a:xfrm>
        </p:grpSpPr>
        <p:sp>
          <p:nvSpPr>
            <p:cNvPr name="Freeform 13" id="13"/>
            <p:cNvSpPr/>
            <p:nvPr/>
          </p:nvSpPr>
          <p:spPr>
            <a:xfrm flipH="false" flipV="false" rot="0">
              <a:off x="0" y="0"/>
              <a:ext cx="3302479" cy="381709"/>
            </a:xfrm>
            <a:custGeom>
              <a:avLst/>
              <a:gdLst/>
              <a:ahLst/>
              <a:cxnLst/>
              <a:rect r="r" b="b" t="t" l="l"/>
              <a:pathLst>
                <a:path h="381709" w="3302479">
                  <a:moveTo>
                    <a:pt x="31489" y="0"/>
                  </a:moveTo>
                  <a:lnTo>
                    <a:pt x="3270991" y="0"/>
                  </a:lnTo>
                  <a:cubicBezTo>
                    <a:pt x="3288381" y="0"/>
                    <a:pt x="3302479" y="14098"/>
                    <a:pt x="3302479" y="31489"/>
                  </a:cubicBezTo>
                  <a:lnTo>
                    <a:pt x="3302479" y="350221"/>
                  </a:lnTo>
                  <a:cubicBezTo>
                    <a:pt x="3302479" y="358572"/>
                    <a:pt x="3299162" y="366581"/>
                    <a:pt x="3293257" y="372487"/>
                  </a:cubicBezTo>
                  <a:cubicBezTo>
                    <a:pt x="3287351" y="378392"/>
                    <a:pt x="3279342" y="381709"/>
                    <a:pt x="3270991" y="381709"/>
                  </a:cubicBezTo>
                  <a:lnTo>
                    <a:pt x="31489" y="381709"/>
                  </a:lnTo>
                  <a:cubicBezTo>
                    <a:pt x="14098" y="381709"/>
                    <a:pt x="0" y="367612"/>
                    <a:pt x="0" y="350221"/>
                  </a:cubicBezTo>
                  <a:lnTo>
                    <a:pt x="0" y="31489"/>
                  </a:lnTo>
                  <a:cubicBezTo>
                    <a:pt x="0" y="14098"/>
                    <a:pt x="14098" y="0"/>
                    <a:pt x="31489" y="0"/>
                  </a:cubicBezTo>
                  <a:close/>
                </a:path>
              </a:pathLst>
            </a:custGeom>
            <a:solidFill>
              <a:srgbClr val="C8DDFD"/>
            </a:solidFill>
          </p:spPr>
        </p:sp>
        <p:sp>
          <p:nvSpPr>
            <p:cNvPr name="TextBox 14" id="14"/>
            <p:cNvSpPr txBox="true"/>
            <p:nvPr/>
          </p:nvSpPr>
          <p:spPr>
            <a:xfrm>
              <a:off x="0" y="-85725"/>
              <a:ext cx="3302479" cy="467434"/>
            </a:xfrm>
            <a:prstGeom prst="rect">
              <a:avLst/>
            </a:prstGeom>
          </p:spPr>
          <p:txBody>
            <a:bodyPr anchor="ctr" rtlCol="false" tIns="50800" lIns="50800" bIns="50800" rIns="50800"/>
            <a:lstStyle/>
            <a:p>
              <a:pPr algn="l">
                <a:lnSpc>
                  <a:spcPts val="6439"/>
                </a:lnSpc>
              </a:pPr>
              <a:r>
                <a:rPr lang="en-US" sz="4599" spc="-156" b="true">
                  <a:solidFill>
                    <a:srgbClr val="FF751F"/>
                  </a:solidFill>
                  <a:latin typeface="DM Sans Bold"/>
                  <a:ea typeface="DM Sans Bold"/>
                  <a:cs typeface="DM Sans Bold"/>
                  <a:sym typeface="DM Sans Bold"/>
                </a:rPr>
                <a:t>1.4.2  :  Generations of Programming Languages</a:t>
              </a:r>
            </a:p>
          </p:txBody>
        </p:sp>
      </p:grpSp>
      <p:grpSp>
        <p:nvGrpSpPr>
          <p:cNvPr name="Group 15" id="15"/>
          <p:cNvGrpSpPr/>
          <p:nvPr/>
        </p:nvGrpSpPr>
        <p:grpSpPr>
          <a:xfrm rot="0">
            <a:off x="3023268" y="2853921"/>
            <a:ext cx="12241463" cy="2586567"/>
            <a:chOff x="0" y="0"/>
            <a:chExt cx="3224089" cy="681236"/>
          </a:xfrm>
        </p:grpSpPr>
        <p:sp>
          <p:nvSpPr>
            <p:cNvPr name="Freeform 16" id="16"/>
            <p:cNvSpPr/>
            <p:nvPr/>
          </p:nvSpPr>
          <p:spPr>
            <a:xfrm flipH="false" flipV="false" rot="0">
              <a:off x="0" y="0"/>
              <a:ext cx="3224089" cy="681236"/>
            </a:xfrm>
            <a:custGeom>
              <a:avLst/>
              <a:gdLst/>
              <a:ahLst/>
              <a:cxnLst/>
              <a:rect r="r" b="b" t="t" l="l"/>
              <a:pathLst>
                <a:path h="681236" w="3224089">
                  <a:moveTo>
                    <a:pt x="32254" y="0"/>
                  </a:moveTo>
                  <a:lnTo>
                    <a:pt x="3191835" y="0"/>
                  </a:lnTo>
                  <a:cubicBezTo>
                    <a:pt x="3209648" y="0"/>
                    <a:pt x="3224089" y="14441"/>
                    <a:pt x="3224089" y="32254"/>
                  </a:cubicBezTo>
                  <a:lnTo>
                    <a:pt x="3224089" y="648982"/>
                  </a:lnTo>
                  <a:cubicBezTo>
                    <a:pt x="3224089" y="657536"/>
                    <a:pt x="3220691" y="665740"/>
                    <a:pt x="3214642" y="671789"/>
                  </a:cubicBezTo>
                  <a:cubicBezTo>
                    <a:pt x="3208593" y="677838"/>
                    <a:pt x="3200389" y="681236"/>
                    <a:pt x="3191835" y="681236"/>
                  </a:cubicBezTo>
                  <a:lnTo>
                    <a:pt x="32254" y="681236"/>
                  </a:lnTo>
                  <a:cubicBezTo>
                    <a:pt x="14441" y="681236"/>
                    <a:pt x="0" y="666795"/>
                    <a:pt x="0" y="648982"/>
                  </a:cubicBezTo>
                  <a:lnTo>
                    <a:pt x="0" y="32254"/>
                  </a:lnTo>
                  <a:cubicBezTo>
                    <a:pt x="0" y="14441"/>
                    <a:pt x="14441" y="0"/>
                    <a:pt x="32254" y="0"/>
                  </a:cubicBezTo>
                  <a:close/>
                </a:path>
              </a:pathLst>
            </a:custGeom>
            <a:solidFill>
              <a:srgbClr val="000000">
                <a:alpha val="0"/>
              </a:srgbClr>
            </a:solidFill>
          </p:spPr>
        </p:sp>
        <p:sp>
          <p:nvSpPr>
            <p:cNvPr name="TextBox 17" id="17"/>
            <p:cNvSpPr txBox="true"/>
            <p:nvPr/>
          </p:nvSpPr>
          <p:spPr>
            <a:xfrm>
              <a:off x="0" y="-47625"/>
              <a:ext cx="3224089" cy="728861"/>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The evolution can be broadly categorised into five stages, popularly known as the </a:t>
              </a:r>
              <a:r>
                <a:rPr lang="en-US" sz="2399" spc="-81" b="true">
                  <a:solidFill>
                    <a:srgbClr val="000000"/>
                  </a:solidFill>
                  <a:latin typeface="DM Sans Bold"/>
                  <a:ea typeface="DM Sans Bold"/>
                  <a:cs typeface="DM Sans Bold"/>
                  <a:sym typeface="DM Sans Bold"/>
                </a:rPr>
                <a:t>Generations of Programming Languages</a:t>
              </a:r>
              <a:r>
                <a:rPr lang="en-US" sz="2399" spc="-81">
                  <a:solidFill>
                    <a:srgbClr val="000000"/>
                  </a:solidFill>
                  <a:latin typeface="DM Sans"/>
                  <a:ea typeface="DM Sans"/>
                  <a:cs typeface="DM Sans"/>
                  <a:sym typeface="DM Sans"/>
                </a:rPr>
                <a:t>, where each generation has offered better features, greater efficiency, superior technology and more user-friendliness than the previous one.</a:t>
              </a:r>
            </a:p>
          </p:txBody>
        </p:sp>
      </p:grpSp>
      <p:sp>
        <p:nvSpPr>
          <p:cNvPr name="Freeform 18" id="18"/>
          <p:cNvSpPr/>
          <p:nvPr/>
        </p:nvSpPr>
        <p:spPr>
          <a:xfrm flipH="false" flipV="false" rot="0">
            <a:off x="2874449" y="5440488"/>
            <a:ext cx="12390282" cy="3273155"/>
          </a:xfrm>
          <a:custGeom>
            <a:avLst/>
            <a:gdLst/>
            <a:ahLst/>
            <a:cxnLst/>
            <a:rect r="r" b="b" t="t" l="l"/>
            <a:pathLst>
              <a:path h="3273155" w="12390282">
                <a:moveTo>
                  <a:pt x="0" y="0"/>
                </a:moveTo>
                <a:lnTo>
                  <a:pt x="12390283" y="0"/>
                </a:lnTo>
                <a:lnTo>
                  <a:pt x="12390283" y="3273155"/>
                </a:lnTo>
                <a:lnTo>
                  <a:pt x="0" y="3273155"/>
                </a:lnTo>
                <a:lnTo>
                  <a:pt x="0" y="0"/>
                </a:lnTo>
                <a:close/>
              </a:path>
            </a:pathLst>
          </a:custGeom>
          <a:blipFill>
            <a:blip r:embed="rId8"/>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874449" y="304048"/>
            <a:ext cx="12539102" cy="1449303"/>
            <a:chOff x="0" y="0"/>
            <a:chExt cx="3302479" cy="381709"/>
          </a:xfrm>
        </p:grpSpPr>
        <p:sp>
          <p:nvSpPr>
            <p:cNvPr name="Freeform 13" id="13"/>
            <p:cNvSpPr/>
            <p:nvPr/>
          </p:nvSpPr>
          <p:spPr>
            <a:xfrm flipH="false" flipV="false" rot="0">
              <a:off x="0" y="0"/>
              <a:ext cx="3302479" cy="381709"/>
            </a:xfrm>
            <a:custGeom>
              <a:avLst/>
              <a:gdLst/>
              <a:ahLst/>
              <a:cxnLst/>
              <a:rect r="r" b="b" t="t" l="l"/>
              <a:pathLst>
                <a:path h="381709" w="3302479">
                  <a:moveTo>
                    <a:pt x="31489" y="0"/>
                  </a:moveTo>
                  <a:lnTo>
                    <a:pt x="3270991" y="0"/>
                  </a:lnTo>
                  <a:cubicBezTo>
                    <a:pt x="3288381" y="0"/>
                    <a:pt x="3302479" y="14098"/>
                    <a:pt x="3302479" y="31489"/>
                  </a:cubicBezTo>
                  <a:lnTo>
                    <a:pt x="3302479" y="350221"/>
                  </a:lnTo>
                  <a:cubicBezTo>
                    <a:pt x="3302479" y="358572"/>
                    <a:pt x="3299162" y="366581"/>
                    <a:pt x="3293257" y="372487"/>
                  </a:cubicBezTo>
                  <a:cubicBezTo>
                    <a:pt x="3287351" y="378392"/>
                    <a:pt x="3279342" y="381709"/>
                    <a:pt x="3270991" y="381709"/>
                  </a:cubicBezTo>
                  <a:lnTo>
                    <a:pt x="31489" y="381709"/>
                  </a:lnTo>
                  <a:cubicBezTo>
                    <a:pt x="14098" y="381709"/>
                    <a:pt x="0" y="367612"/>
                    <a:pt x="0" y="350221"/>
                  </a:cubicBezTo>
                  <a:lnTo>
                    <a:pt x="0" y="31489"/>
                  </a:lnTo>
                  <a:cubicBezTo>
                    <a:pt x="0" y="14098"/>
                    <a:pt x="14098" y="0"/>
                    <a:pt x="31489" y="0"/>
                  </a:cubicBezTo>
                  <a:close/>
                </a:path>
              </a:pathLst>
            </a:custGeom>
            <a:solidFill>
              <a:srgbClr val="C8DDFD"/>
            </a:solidFill>
          </p:spPr>
        </p:sp>
        <p:sp>
          <p:nvSpPr>
            <p:cNvPr name="TextBox 14" id="14"/>
            <p:cNvSpPr txBox="true"/>
            <p:nvPr/>
          </p:nvSpPr>
          <p:spPr>
            <a:xfrm>
              <a:off x="0" y="-85725"/>
              <a:ext cx="3302479" cy="467434"/>
            </a:xfrm>
            <a:prstGeom prst="rect">
              <a:avLst/>
            </a:prstGeom>
          </p:spPr>
          <p:txBody>
            <a:bodyPr anchor="ctr" rtlCol="false" tIns="50800" lIns="50800" bIns="50800" rIns="50800"/>
            <a:lstStyle/>
            <a:p>
              <a:pPr algn="l">
                <a:lnSpc>
                  <a:spcPts val="6579"/>
                </a:lnSpc>
              </a:pPr>
              <a:r>
                <a:rPr lang="en-US" sz="4699" spc="-159" b="true">
                  <a:solidFill>
                    <a:srgbClr val="FF751F"/>
                  </a:solidFill>
                  <a:latin typeface="DM Sans Bold"/>
                  <a:ea typeface="DM Sans Bold"/>
                  <a:cs typeface="DM Sans Bold"/>
                  <a:sym typeface="DM Sans Bold"/>
                </a:rPr>
                <a:t>1.4.2.1  :  Low - Level Languages(LLL)</a:t>
              </a:r>
            </a:p>
          </p:txBody>
        </p:sp>
      </p:grpSp>
      <p:grpSp>
        <p:nvGrpSpPr>
          <p:cNvPr name="Group 15" id="15"/>
          <p:cNvGrpSpPr/>
          <p:nvPr/>
        </p:nvGrpSpPr>
        <p:grpSpPr>
          <a:xfrm rot="0">
            <a:off x="2874449" y="1982913"/>
            <a:ext cx="12539102" cy="1688554"/>
            <a:chOff x="0" y="0"/>
            <a:chExt cx="3302479" cy="444722"/>
          </a:xfrm>
        </p:grpSpPr>
        <p:sp>
          <p:nvSpPr>
            <p:cNvPr name="Freeform 16" id="16"/>
            <p:cNvSpPr/>
            <p:nvPr/>
          </p:nvSpPr>
          <p:spPr>
            <a:xfrm flipH="false" flipV="false" rot="0">
              <a:off x="0" y="0"/>
              <a:ext cx="3302479" cy="444722"/>
            </a:xfrm>
            <a:custGeom>
              <a:avLst/>
              <a:gdLst/>
              <a:ahLst/>
              <a:cxnLst/>
              <a:rect r="r" b="b" t="t" l="l"/>
              <a:pathLst>
                <a:path h="444722" w="3302479">
                  <a:moveTo>
                    <a:pt x="31489" y="0"/>
                  </a:moveTo>
                  <a:lnTo>
                    <a:pt x="3270991" y="0"/>
                  </a:lnTo>
                  <a:cubicBezTo>
                    <a:pt x="3288381" y="0"/>
                    <a:pt x="3302479" y="14098"/>
                    <a:pt x="3302479" y="31489"/>
                  </a:cubicBezTo>
                  <a:lnTo>
                    <a:pt x="3302479" y="413234"/>
                  </a:lnTo>
                  <a:cubicBezTo>
                    <a:pt x="3302479" y="421585"/>
                    <a:pt x="3299162" y="429594"/>
                    <a:pt x="3293257" y="435499"/>
                  </a:cubicBezTo>
                  <a:cubicBezTo>
                    <a:pt x="3287351" y="441405"/>
                    <a:pt x="3279342" y="444722"/>
                    <a:pt x="3270991" y="444722"/>
                  </a:cubicBezTo>
                  <a:lnTo>
                    <a:pt x="31489" y="444722"/>
                  </a:lnTo>
                  <a:cubicBezTo>
                    <a:pt x="23137" y="444722"/>
                    <a:pt x="15128" y="441405"/>
                    <a:pt x="9223" y="435499"/>
                  </a:cubicBezTo>
                  <a:cubicBezTo>
                    <a:pt x="3318" y="429594"/>
                    <a:pt x="0" y="421585"/>
                    <a:pt x="0" y="413234"/>
                  </a:cubicBezTo>
                  <a:lnTo>
                    <a:pt x="0" y="31489"/>
                  </a:lnTo>
                  <a:cubicBezTo>
                    <a:pt x="0" y="14098"/>
                    <a:pt x="14098" y="0"/>
                    <a:pt x="31489" y="0"/>
                  </a:cubicBezTo>
                  <a:close/>
                </a:path>
              </a:pathLst>
            </a:custGeom>
            <a:solidFill>
              <a:srgbClr val="000000">
                <a:alpha val="0"/>
              </a:srgbClr>
            </a:solidFill>
          </p:spPr>
        </p:sp>
        <p:sp>
          <p:nvSpPr>
            <p:cNvPr name="TextBox 17" id="17"/>
            <p:cNvSpPr txBox="true"/>
            <p:nvPr/>
          </p:nvSpPr>
          <p:spPr>
            <a:xfrm>
              <a:off x="0" y="-47625"/>
              <a:ext cx="3302479" cy="492347"/>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earliest languages developed were low-level languages. They are close to hardware and can give machine-level instructions.</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The first- and second-generation languages are low-level languages,</a:t>
              </a:r>
            </a:p>
          </p:txBody>
        </p:sp>
      </p:grpSp>
      <p:grpSp>
        <p:nvGrpSpPr>
          <p:cNvPr name="Group 18" id="18"/>
          <p:cNvGrpSpPr/>
          <p:nvPr/>
        </p:nvGrpSpPr>
        <p:grpSpPr>
          <a:xfrm rot="0">
            <a:off x="2874449" y="3900068"/>
            <a:ext cx="6269551" cy="673418"/>
            <a:chOff x="0" y="0"/>
            <a:chExt cx="1651240" cy="177361"/>
          </a:xfrm>
        </p:grpSpPr>
        <p:sp>
          <p:nvSpPr>
            <p:cNvPr name="Freeform 19" id="19"/>
            <p:cNvSpPr/>
            <p:nvPr/>
          </p:nvSpPr>
          <p:spPr>
            <a:xfrm flipH="false" flipV="false" rot="0">
              <a:off x="0" y="0"/>
              <a:ext cx="1651240" cy="177361"/>
            </a:xfrm>
            <a:custGeom>
              <a:avLst/>
              <a:gdLst/>
              <a:ahLst/>
              <a:cxnLst/>
              <a:rect r="r" b="b" t="t" l="l"/>
              <a:pathLst>
                <a:path h="177361" w="1651240">
                  <a:moveTo>
                    <a:pt x="0" y="0"/>
                  </a:moveTo>
                  <a:lnTo>
                    <a:pt x="1651240" y="0"/>
                  </a:lnTo>
                  <a:lnTo>
                    <a:pt x="1651240" y="177361"/>
                  </a:lnTo>
                  <a:lnTo>
                    <a:pt x="0" y="177361"/>
                  </a:lnTo>
                  <a:close/>
                </a:path>
              </a:pathLst>
            </a:custGeom>
            <a:solidFill>
              <a:srgbClr val="000000">
                <a:alpha val="0"/>
              </a:srgbClr>
            </a:solidFill>
          </p:spPr>
        </p:sp>
        <p:sp>
          <p:nvSpPr>
            <p:cNvPr name="TextBox 20" id="20"/>
            <p:cNvSpPr txBox="true"/>
            <p:nvPr/>
          </p:nvSpPr>
          <p:spPr>
            <a:xfrm>
              <a:off x="0" y="-57150"/>
              <a:ext cx="1651240" cy="234511"/>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First Generation Languages (</a:t>
              </a:r>
              <a:r>
                <a:rPr lang="en-US" b="true" sz="2999" spc="-101">
                  <a:solidFill>
                    <a:srgbClr val="000000"/>
                  </a:solidFill>
                  <a:latin typeface="DM Sans Bold"/>
                  <a:ea typeface="DM Sans Bold"/>
                  <a:cs typeface="DM Sans Bold"/>
                  <a:sym typeface="DM Sans Bold"/>
                </a:rPr>
                <a:t>1GL</a:t>
              </a:r>
              <a:r>
                <a:rPr lang="en-US" sz="2999" spc="-101">
                  <a:solidFill>
                    <a:srgbClr val="000000"/>
                  </a:solidFill>
                  <a:latin typeface="DM Sans"/>
                  <a:ea typeface="DM Sans"/>
                  <a:cs typeface="DM Sans"/>
                  <a:sym typeface="DM Sans"/>
                </a:rPr>
                <a:t>)</a:t>
              </a:r>
            </a:p>
          </p:txBody>
        </p:sp>
      </p:grpSp>
      <p:grpSp>
        <p:nvGrpSpPr>
          <p:cNvPr name="Group 21" id="21"/>
          <p:cNvGrpSpPr/>
          <p:nvPr/>
        </p:nvGrpSpPr>
        <p:grpSpPr>
          <a:xfrm rot="0">
            <a:off x="2874449" y="4995248"/>
            <a:ext cx="12241463" cy="1407460"/>
            <a:chOff x="0" y="0"/>
            <a:chExt cx="3224089" cy="370689"/>
          </a:xfrm>
        </p:grpSpPr>
        <p:sp>
          <p:nvSpPr>
            <p:cNvPr name="Freeform 22" id="22"/>
            <p:cNvSpPr/>
            <p:nvPr/>
          </p:nvSpPr>
          <p:spPr>
            <a:xfrm flipH="false" flipV="false" rot="0">
              <a:off x="0" y="0"/>
              <a:ext cx="3224089" cy="370689"/>
            </a:xfrm>
            <a:custGeom>
              <a:avLst/>
              <a:gdLst/>
              <a:ahLst/>
              <a:cxnLst/>
              <a:rect r="r" b="b" t="t" l="l"/>
              <a:pathLst>
                <a:path h="370689" w="3224089">
                  <a:moveTo>
                    <a:pt x="32254" y="0"/>
                  </a:moveTo>
                  <a:lnTo>
                    <a:pt x="3191835" y="0"/>
                  </a:lnTo>
                  <a:cubicBezTo>
                    <a:pt x="3209648" y="0"/>
                    <a:pt x="3224089" y="14441"/>
                    <a:pt x="3224089" y="32254"/>
                  </a:cubicBezTo>
                  <a:lnTo>
                    <a:pt x="3224089" y="338435"/>
                  </a:lnTo>
                  <a:cubicBezTo>
                    <a:pt x="3224089" y="346989"/>
                    <a:pt x="3220691" y="355193"/>
                    <a:pt x="3214642" y="361242"/>
                  </a:cubicBezTo>
                  <a:cubicBezTo>
                    <a:pt x="3208593" y="367291"/>
                    <a:pt x="3200389" y="370689"/>
                    <a:pt x="3191835" y="370689"/>
                  </a:cubicBezTo>
                  <a:lnTo>
                    <a:pt x="32254" y="370689"/>
                  </a:lnTo>
                  <a:cubicBezTo>
                    <a:pt x="14441" y="370689"/>
                    <a:pt x="0" y="356248"/>
                    <a:pt x="0" y="338435"/>
                  </a:cubicBezTo>
                  <a:lnTo>
                    <a:pt x="0" y="32254"/>
                  </a:lnTo>
                  <a:cubicBezTo>
                    <a:pt x="0" y="14441"/>
                    <a:pt x="14441" y="0"/>
                    <a:pt x="32254" y="0"/>
                  </a:cubicBezTo>
                  <a:close/>
                </a:path>
              </a:pathLst>
            </a:custGeom>
            <a:solidFill>
              <a:srgbClr val="000000">
                <a:alpha val="0"/>
              </a:srgbClr>
            </a:solidFill>
          </p:spPr>
        </p:sp>
        <p:sp>
          <p:nvSpPr>
            <p:cNvPr name="TextBox 23" id="23"/>
            <p:cNvSpPr txBox="true"/>
            <p:nvPr/>
          </p:nvSpPr>
          <p:spPr>
            <a:xfrm>
              <a:off x="0" y="-47625"/>
              <a:ext cx="3224089" cy="418314"/>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The first generation language are also known as </a:t>
              </a:r>
              <a:r>
                <a:rPr lang="en-US" b="true" sz="2399" spc="-81">
                  <a:solidFill>
                    <a:srgbClr val="000000"/>
                  </a:solidFill>
                  <a:latin typeface="DM Sans Bold"/>
                  <a:ea typeface="DM Sans Bold"/>
                  <a:cs typeface="DM Sans Bold"/>
                  <a:sym typeface="DM Sans Bold"/>
                </a:rPr>
                <a:t>Machine Language</a:t>
              </a:r>
              <a:r>
                <a:rPr lang="en-US" sz="2399" spc="-81">
                  <a:solidFill>
                    <a:srgbClr val="000000"/>
                  </a:solidFill>
                  <a:latin typeface="DM Sans"/>
                  <a:ea typeface="DM Sans"/>
                  <a:cs typeface="DM Sans"/>
                  <a:sym typeface="DM Sans"/>
                </a:rPr>
                <a:t>, is written entirely in binary code (</a:t>
              </a:r>
              <a:r>
                <a:rPr lang="en-US" b="true" sz="2399" spc="-81">
                  <a:solidFill>
                    <a:srgbClr val="000000"/>
                  </a:solidFill>
                  <a:latin typeface="DM Sans Bold"/>
                  <a:ea typeface="DM Sans Bold"/>
                  <a:cs typeface="DM Sans Bold"/>
                  <a:sym typeface="DM Sans Bold"/>
                </a:rPr>
                <a:t>‘0’ and ‘1’</a:t>
              </a:r>
              <a:r>
                <a:rPr lang="en-US" sz="2399" spc="-81">
                  <a:solidFill>
                    <a:srgbClr val="000000"/>
                  </a:solidFill>
                  <a:latin typeface="DM Sans"/>
                  <a:ea typeface="DM Sans"/>
                  <a:cs typeface="DM Sans"/>
                  <a:sym typeface="DM Sans"/>
                </a:rPr>
                <a:t>) It is the only programming language that a digital machine can directly execute without requiring any translation.</a:t>
              </a:r>
            </a:p>
          </p:txBody>
        </p:sp>
      </p:grpSp>
      <p:grpSp>
        <p:nvGrpSpPr>
          <p:cNvPr name="Group 24" id="24"/>
          <p:cNvGrpSpPr/>
          <p:nvPr/>
        </p:nvGrpSpPr>
        <p:grpSpPr>
          <a:xfrm rot="0">
            <a:off x="2874449" y="6824470"/>
            <a:ext cx="6883429" cy="638937"/>
            <a:chOff x="0" y="0"/>
            <a:chExt cx="1812920" cy="168280"/>
          </a:xfrm>
        </p:grpSpPr>
        <p:sp>
          <p:nvSpPr>
            <p:cNvPr name="Freeform 25" id="25"/>
            <p:cNvSpPr/>
            <p:nvPr/>
          </p:nvSpPr>
          <p:spPr>
            <a:xfrm flipH="false" flipV="false" rot="0">
              <a:off x="0" y="0"/>
              <a:ext cx="1812920" cy="168280"/>
            </a:xfrm>
            <a:custGeom>
              <a:avLst/>
              <a:gdLst/>
              <a:ahLst/>
              <a:cxnLst/>
              <a:rect r="r" b="b" t="t" l="l"/>
              <a:pathLst>
                <a:path h="168280" w="1812920">
                  <a:moveTo>
                    <a:pt x="0" y="0"/>
                  </a:moveTo>
                  <a:lnTo>
                    <a:pt x="1812920" y="0"/>
                  </a:lnTo>
                  <a:lnTo>
                    <a:pt x="1812920" y="168280"/>
                  </a:lnTo>
                  <a:lnTo>
                    <a:pt x="0" y="168280"/>
                  </a:lnTo>
                  <a:close/>
                </a:path>
              </a:pathLst>
            </a:custGeom>
            <a:solidFill>
              <a:srgbClr val="000000">
                <a:alpha val="0"/>
              </a:srgbClr>
            </a:solidFill>
          </p:spPr>
        </p:sp>
        <p:sp>
          <p:nvSpPr>
            <p:cNvPr name="TextBox 26" id="26"/>
            <p:cNvSpPr txBox="true"/>
            <p:nvPr/>
          </p:nvSpPr>
          <p:spPr>
            <a:xfrm>
              <a:off x="0" y="-57150"/>
              <a:ext cx="1812920" cy="225430"/>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Second Generation Languages (</a:t>
              </a:r>
              <a:r>
                <a:rPr lang="en-US" b="true" sz="2999" spc="-101">
                  <a:solidFill>
                    <a:srgbClr val="000000"/>
                  </a:solidFill>
                  <a:latin typeface="DM Sans Bold"/>
                  <a:ea typeface="DM Sans Bold"/>
                  <a:cs typeface="DM Sans Bold"/>
                  <a:sym typeface="DM Sans Bold"/>
                </a:rPr>
                <a:t>2GL</a:t>
              </a:r>
              <a:r>
                <a:rPr lang="en-US" sz="2999" spc="-101">
                  <a:solidFill>
                    <a:srgbClr val="000000"/>
                  </a:solidFill>
                  <a:latin typeface="DM Sans"/>
                  <a:ea typeface="DM Sans"/>
                  <a:cs typeface="DM Sans"/>
                  <a:sym typeface="DM Sans"/>
                </a:rPr>
                <a:t>)</a:t>
              </a:r>
            </a:p>
          </p:txBody>
        </p:sp>
      </p:grpSp>
      <p:grpSp>
        <p:nvGrpSpPr>
          <p:cNvPr name="Group 27" id="27"/>
          <p:cNvGrpSpPr/>
          <p:nvPr/>
        </p:nvGrpSpPr>
        <p:grpSpPr>
          <a:xfrm rot="0">
            <a:off x="2874449" y="7850840"/>
            <a:ext cx="12241463" cy="1407460"/>
            <a:chOff x="0" y="0"/>
            <a:chExt cx="3224089" cy="370689"/>
          </a:xfrm>
        </p:grpSpPr>
        <p:sp>
          <p:nvSpPr>
            <p:cNvPr name="Freeform 28" id="28"/>
            <p:cNvSpPr/>
            <p:nvPr/>
          </p:nvSpPr>
          <p:spPr>
            <a:xfrm flipH="false" flipV="false" rot="0">
              <a:off x="0" y="0"/>
              <a:ext cx="3224089" cy="370689"/>
            </a:xfrm>
            <a:custGeom>
              <a:avLst/>
              <a:gdLst/>
              <a:ahLst/>
              <a:cxnLst/>
              <a:rect r="r" b="b" t="t" l="l"/>
              <a:pathLst>
                <a:path h="370689" w="3224089">
                  <a:moveTo>
                    <a:pt x="32254" y="0"/>
                  </a:moveTo>
                  <a:lnTo>
                    <a:pt x="3191835" y="0"/>
                  </a:lnTo>
                  <a:cubicBezTo>
                    <a:pt x="3209648" y="0"/>
                    <a:pt x="3224089" y="14441"/>
                    <a:pt x="3224089" y="32254"/>
                  </a:cubicBezTo>
                  <a:lnTo>
                    <a:pt x="3224089" y="338435"/>
                  </a:lnTo>
                  <a:cubicBezTo>
                    <a:pt x="3224089" y="346989"/>
                    <a:pt x="3220691" y="355193"/>
                    <a:pt x="3214642" y="361242"/>
                  </a:cubicBezTo>
                  <a:cubicBezTo>
                    <a:pt x="3208593" y="367291"/>
                    <a:pt x="3200389" y="370689"/>
                    <a:pt x="3191835" y="370689"/>
                  </a:cubicBezTo>
                  <a:lnTo>
                    <a:pt x="32254" y="370689"/>
                  </a:lnTo>
                  <a:cubicBezTo>
                    <a:pt x="14441" y="370689"/>
                    <a:pt x="0" y="356248"/>
                    <a:pt x="0" y="338435"/>
                  </a:cubicBezTo>
                  <a:lnTo>
                    <a:pt x="0" y="32254"/>
                  </a:lnTo>
                  <a:cubicBezTo>
                    <a:pt x="0" y="14441"/>
                    <a:pt x="14441" y="0"/>
                    <a:pt x="32254" y="0"/>
                  </a:cubicBezTo>
                  <a:close/>
                </a:path>
              </a:pathLst>
            </a:custGeom>
            <a:solidFill>
              <a:srgbClr val="000000">
                <a:alpha val="0"/>
              </a:srgbClr>
            </a:solidFill>
          </p:spPr>
        </p:sp>
        <p:sp>
          <p:nvSpPr>
            <p:cNvPr name="TextBox 29" id="29"/>
            <p:cNvSpPr txBox="true"/>
            <p:nvPr/>
          </p:nvSpPr>
          <p:spPr>
            <a:xfrm>
              <a:off x="0" y="-47625"/>
              <a:ext cx="3224089" cy="418314"/>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The second-generation includes </a:t>
              </a:r>
              <a:r>
                <a:rPr lang="en-US" b="true" sz="2399" spc="-81">
                  <a:solidFill>
                    <a:srgbClr val="000000"/>
                  </a:solidFill>
                  <a:latin typeface="DM Sans Bold"/>
                  <a:ea typeface="DM Sans Bold"/>
                  <a:cs typeface="DM Sans Bold"/>
                  <a:sym typeface="DM Sans Bold"/>
                </a:rPr>
                <a:t>Assembly Language </a:t>
              </a:r>
              <a:r>
                <a:rPr lang="en-US" sz="2399" spc="-81">
                  <a:solidFill>
                    <a:srgbClr val="000000"/>
                  </a:solidFill>
                  <a:latin typeface="DM Sans"/>
                  <a:ea typeface="DM Sans"/>
                  <a:cs typeface="DM Sans"/>
                  <a:sym typeface="DM Sans"/>
                </a:rPr>
                <a:t>that uses mnemonic operation codes and symbolic addresses for writing a program.</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874449" y="304048"/>
            <a:ext cx="12539102" cy="1449303"/>
            <a:chOff x="0" y="0"/>
            <a:chExt cx="3302479" cy="381709"/>
          </a:xfrm>
        </p:grpSpPr>
        <p:sp>
          <p:nvSpPr>
            <p:cNvPr name="Freeform 13" id="13"/>
            <p:cNvSpPr/>
            <p:nvPr/>
          </p:nvSpPr>
          <p:spPr>
            <a:xfrm flipH="false" flipV="false" rot="0">
              <a:off x="0" y="0"/>
              <a:ext cx="3302479" cy="381709"/>
            </a:xfrm>
            <a:custGeom>
              <a:avLst/>
              <a:gdLst/>
              <a:ahLst/>
              <a:cxnLst/>
              <a:rect r="r" b="b" t="t" l="l"/>
              <a:pathLst>
                <a:path h="381709" w="3302479">
                  <a:moveTo>
                    <a:pt x="31489" y="0"/>
                  </a:moveTo>
                  <a:lnTo>
                    <a:pt x="3270991" y="0"/>
                  </a:lnTo>
                  <a:cubicBezTo>
                    <a:pt x="3288381" y="0"/>
                    <a:pt x="3302479" y="14098"/>
                    <a:pt x="3302479" y="31489"/>
                  </a:cubicBezTo>
                  <a:lnTo>
                    <a:pt x="3302479" y="350221"/>
                  </a:lnTo>
                  <a:cubicBezTo>
                    <a:pt x="3302479" y="358572"/>
                    <a:pt x="3299162" y="366581"/>
                    <a:pt x="3293257" y="372487"/>
                  </a:cubicBezTo>
                  <a:cubicBezTo>
                    <a:pt x="3287351" y="378392"/>
                    <a:pt x="3279342" y="381709"/>
                    <a:pt x="3270991" y="381709"/>
                  </a:cubicBezTo>
                  <a:lnTo>
                    <a:pt x="31489" y="381709"/>
                  </a:lnTo>
                  <a:cubicBezTo>
                    <a:pt x="14098" y="381709"/>
                    <a:pt x="0" y="367612"/>
                    <a:pt x="0" y="350221"/>
                  </a:cubicBezTo>
                  <a:lnTo>
                    <a:pt x="0" y="31489"/>
                  </a:lnTo>
                  <a:cubicBezTo>
                    <a:pt x="0" y="14098"/>
                    <a:pt x="14098" y="0"/>
                    <a:pt x="31489" y="0"/>
                  </a:cubicBezTo>
                  <a:close/>
                </a:path>
              </a:pathLst>
            </a:custGeom>
            <a:solidFill>
              <a:srgbClr val="C8DDFD"/>
            </a:solidFill>
          </p:spPr>
        </p:sp>
        <p:sp>
          <p:nvSpPr>
            <p:cNvPr name="TextBox 14" id="14"/>
            <p:cNvSpPr txBox="true"/>
            <p:nvPr/>
          </p:nvSpPr>
          <p:spPr>
            <a:xfrm>
              <a:off x="0" y="-85725"/>
              <a:ext cx="3302479" cy="467434"/>
            </a:xfrm>
            <a:prstGeom prst="rect">
              <a:avLst/>
            </a:prstGeom>
          </p:spPr>
          <p:txBody>
            <a:bodyPr anchor="ctr" rtlCol="false" tIns="50800" lIns="50800" bIns="50800" rIns="50800"/>
            <a:lstStyle/>
            <a:p>
              <a:pPr algn="l">
                <a:lnSpc>
                  <a:spcPts val="6579"/>
                </a:lnSpc>
              </a:pPr>
              <a:r>
                <a:rPr lang="en-US" sz="4699" spc="-159" b="true">
                  <a:solidFill>
                    <a:srgbClr val="FF751F"/>
                  </a:solidFill>
                  <a:latin typeface="DM Sans Bold"/>
                  <a:ea typeface="DM Sans Bold"/>
                  <a:cs typeface="DM Sans Bold"/>
                  <a:sym typeface="DM Sans Bold"/>
                </a:rPr>
                <a:t>1.4.2.2  :  High - Level Languages(HLL)</a:t>
              </a:r>
            </a:p>
          </p:txBody>
        </p:sp>
      </p:grpSp>
      <p:grpSp>
        <p:nvGrpSpPr>
          <p:cNvPr name="Group 15" id="15"/>
          <p:cNvGrpSpPr/>
          <p:nvPr/>
        </p:nvGrpSpPr>
        <p:grpSpPr>
          <a:xfrm rot="0">
            <a:off x="2874449" y="1982913"/>
            <a:ext cx="12539102" cy="1400175"/>
            <a:chOff x="0" y="0"/>
            <a:chExt cx="3302479" cy="368770"/>
          </a:xfrm>
        </p:grpSpPr>
        <p:sp>
          <p:nvSpPr>
            <p:cNvPr name="Freeform 16" id="16"/>
            <p:cNvSpPr/>
            <p:nvPr/>
          </p:nvSpPr>
          <p:spPr>
            <a:xfrm flipH="false" flipV="false" rot="0">
              <a:off x="0" y="0"/>
              <a:ext cx="3302479" cy="368770"/>
            </a:xfrm>
            <a:custGeom>
              <a:avLst/>
              <a:gdLst/>
              <a:ahLst/>
              <a:cxnLst/>
              <a:rect r="r" b="b" t="t" l="l"/>
              <a:pathLst>
                <a:path h="368770" w="3302479">
                  <a:moveTo>
                    <a:pt x="31489" y="0"/>
                  </a:moveTo>
                  <a:lnTo>
                    <a:pt x="3270991" y="0"/>
                  </a:lnTo>
                  <a:cubicBezTo>
                    <a:pt x="3288381" y="0"/>
                    <a:pt x="3302479" y="14098"/>
                    <a:pt x="3302479" y="31489"/>
                  </a:cubicBezTo>
                  <a:lnTo>
                    <a:pt x="3302479" y="337282"/>
                  </a:lnTo>
                  <a:cubicBezTo>
                    <a:pt x="3302479" y="345633"/>
                    <a:pt x="3299162" y="353642"/>
                    <a:pt x="3293257" y="359548"/>
                  </a:cubicBezTo>
                  <a:cubicBezTo>
                    <a:pt x="3287351" y="365453"/>
                    <a:pt x="3279342" y="368770"/>
                    <a:pt x="3270991" y="368770"/>
                  </a:cubicBezTo>
                  <a:lnTo>
                    <a:pt x="31489" y="368770"/>
                  </a:lnTo>
                  <a:cubicBezTo>
                    <a:pt x="14098" y="368770"/>
                    <a:pt x="0" y="354672"/>
                    <a:pt x="0" y="337282"/>
                  </a:cubicBezTo>
                  <a:lnTo>
                    <a:pt x="0" y="31489"/>
                  </a:lnTo>
                  <a:cubicBezTo>
                    <a:pt x="0" y="14098"/>
                    <a:pt x="14098" y="0"/>
                    <a:pt x="31489" y="0"/>
                  </a:cubicBezTo>
                  <a:close/>
                </a:path>
              </a:pathLst>
            </a:custGeom>
            <a:solidFill>
              <a:srgbClr val="000000">
                <a:alpha val="0"/>
              </a:srgbClr>
            </a:solidFill>
          </p:spPr>
        </p:sp>
        <p:sp>
          <p:nvSpPr>
            <p:cNvPr name="TextBox 17" id="17"/>
            <p:cNvSpPr txBox="true"/>
            <p:nvPr/>
          </p:nvSpPr>
          <p:spPr>
            <a:xfrm>
              <a:off x="0" y="-47625"/>
              <a:ext cx="3302479" cy="416395"/>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High-level languages are closed to human understandable languages and the program written in HLL are usually independent of the hardware of the system.</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Third and the higher generation languages are all high-level languages.</a:t>
              </a:r>
            </a:p>
          </p:txBody>
        </p:sp>
      </p:grpSp>
      <p:grpSp>
        <p:nvGrpSpPr>
          <p:cNvPr name="Group 18" id="18"/>
          <p:cNvGrpSpPr/>
          <p:nvPr/>
        </p:nvGrpSpPr>
        <p:grpSpPr>
          <a:xfrm rot="0">
            <a:off x="2874449" y="3611688"/>
            <a:ext cx="6492779" cy="827969"/>
            <a:chOff x="0" y="0"/>
            <a:chExt cx="1710032" cy="218066"/>
          </a:xfrm>
        </p:grpSpPr>
        <p:sp>
          <p:nvSpPr>
            <p:cNvPr name="Freeform 19" id="19"/>
            <p:cNvSpPr/>
            <p:nvPr/>
          </p:nvSpPr>
          <p:spPr>
            <a:xfrm flipH="false" flipV="false" rot="0">
              <a:off x="0" y="0"/>
              <a:ext cx="1710032" cy="218066"/>
            </a:xfrm>
            <a:custGeom>
              <a:avLst/>
              <a:gdLst/>
              <a:ahLst/>
              <a:cxnLst/>
              <a:rect r="r" b="b" t="t" l="l"/>
              <a:pathLst>
                <a:path h="218066" w="1710032">
                  <a:moveTo>
                    <a:pt x="0" y="0"/>
                  </a:moveTo>
                  <a:lnTo>
                    <a:pt x="1710032" y="0"/>
                  </a:lnTo>
                  <a:lnTo>
                    <a:pt x="1710032" y="218066"/>
                  </a:lnTo>
                  <a:lnTo>
                    <a:pt x="0" y="218066"/>
                  </a:lnTo>
                  <a:close/>
                </a:path>
              </a:pathLst>
            </a:custGeom>
            <a:solidFill>
              <a:srgbClr val="000000">
                <a:alpha val="0"/>
              </a:srgbClr>
            </a:solidFill>
          </p:spPr>
        </p:sp>
        <p:sp>
          <p:nvSpPr>
            <p:cNvPr name="TextBox 20" id="20"/>
            <p:cNvSpPr txBox="true"/>
            <p:nvPr/>
          </p:nvSpPr>
          <p:spPr>
            <a:xfrm>
              <a:off x="0" y="-57150"/>
              <a:ext cx="1710032" cy="275216"/>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Third-Generation Languages (</a:t>
              </a:r>
              <a:r>
                <a:rPr lang="en-US" b="true" sz="2999" spc="-101">
                  <a:solidFill>
                    <a:srgbClr val="000000"/>
                  </a:solidFill>
                  <a:latin typeface="DM Sans Bold"/>
                  <a:ea typeface="DM Sans Bold"/>
                  <a:cs typeface="DM Sans Bold"/>
                  <a:sym typeface="DM Sans Bold"/>
                </a:rPr>
                <a:t>3GL</a:t>
              </a:r>
              <a:r>
                <a:rPr lang="en-US" sz="2999" spc="-101">
                  <a:solidFill>
                    <a:srgbClr val="000000"/>
                  </a:solidFill>
                  <a:latin typeface="DM Sans"/>
                  <a:ea typeface="DM Sans"/>
                  <a:cs typeface="DM Sans"/>
                  <a:sym typeface="DM Sans"/>
                </a:rPr>
                <a:t>)</a:t>
              </a:r>
            </a:p>
          </p:txBody>
        </p:sp>
      </p:grpSp>
      <p:grpSp>
        <p:nvGrpSpPr>
          <p:cNvPr name="Group 21" id="21"/>
          <p:cNvGrpSpPr/>
          <p:nvPr/>
        </p:nvGrpSpPr>
        <p:grpSpPr>
          <a:xfrm rot="0">
            <a:off x="2874449" y="4668257"/>
            <a:ext cx="12241463" cy="1407460"/>
            <a:chOff x="0" y="0"/>
            <a:chExt cx="3224089" cy="370689"/>
          </a:xfrm>
        </p:grpSpPr>
        <p:sp>
          <p:nvSpPr>
            <p:cNvPr name="Freeform 22" id="22"/>
            <p:cNvSpPr/>
            <p:nvPr/>
          </p:nvSpPr>
          <p:spPr>
            <a:xfrm flipH="false" flipV="false" rot="0">
              <a:off x="0" y="0"/>
              <a:ext cx="3224089" cy="370689"/>
            </a:xfrm>
            <a:custGeom>
              <a:avLst/>
              <a:gdLst/>
              <a:ahLst/>
              <a:cxnLst/>
              <a:rect r="r" b="b" t="t" l="l"/>
              <a:pathLst>
                <a:path h="370689" w="3224089">
                  <a:moveTo>
                    <a:pt x="32254" y="0"/>
                  </a:moveTo>
                  <a:lnTo>
                    <a:pt x="3191835" y="0"/>
                  </a:lnTo>
                  <a:cubicBezTo>
                    <a:pt x="3209648" y="0"/>
                    <a:pt x="3224089" y="14441"/>
                    <a:pt x="3224089" y="32254"/>
                  </a:cubicBezTo>
                  <a:lnTo>
                    <a:pt x="3224089" y="338435"/>
                  </a:lnTo>
                  <a:cubicBezTo>
                    <a:pt x="3224089" y="346989"/>
                    <a:pt x="3220691" y="355193"/>
                    <a:pt x="3214642" y="361242"/>
                  </a:cubicBezTo>
                  <a:cubicBezTo>
                    <a:pt x="3208593" y="367291"/>
                    <a:pt x="3200389" y="370689"/>
                    <a:pt x="3191835" y="370689"/>
                  </a:cubicBezTo>
                  <a:lnTo>
                    <a:pt x="32254" y="370689"/>
                  </a:lnTo>
                  <a:cubicBezTo>
                    <a:pt x="14441" y="370689"/>
                    <a:pt x="0" y="356248"/>
                    <a:pt x="0" y="338435"/>
                  </a:cubicBezTo>
                  <a:lnTo>
                    <a:pt x="0" y="32254"/>
                  </a:lnTo>
                  <a:cubicBezTo>
                    <a:pt x="0" y="14441"/>
                    <a:pt x="14441" y="0"/>
                    <a:pt x="32254" y="0"/>
                  </a:cubicBezTo>
                  <a:close/>
                </a:path>
              </a:pathLst>
            </a:custGeom>
            <a:solidFill>
              <a:srgbClr val="000000">
                <a:alpha val="0"/>
              </a:srgbClr>
            </a:solidFill>
          </p:spPr>
        </p:sp>
        <p:sp>
          <p:nvSpPr>
            <p:cNvPr name="TextBox 23" id="23"/>
            <p:cNvSpPr txBox="true"/>
            <p:nvPr/>
          </p:nvSpPr>
          <p:spPr>
            <a:xfrm>
              <a:off x="0" y="-47625"/>
              <a:ext cx="3224089" cy="418314"/>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Using third-generation languages, programs are usually weitten as a series of english like words that are more human understable.In order to execute 3GL, it need to be either compiled or interpreted or sometimes both. EX : c, c++, java, etc. . .</a:t>
              </a:r>
            </a:p>
          </p:txBody>
        </p:sp>
      </p:grpSp>
      <p:grpSp>
        <p:nvGrpSpPr>
          <p:cNvPr name="Group 24" id="24"/>
          <p:cNvGrpSpPr/>
          <p:nvPr/>
        </p:nvGrpSpPr>
        <p:grpSpPr>
          <a:xfrm rot="0">
            <a:off x="2874449" y="6235783"/>
            <a:ext cx="6492779" cy="827969"/>
            <a:chOff x="0" y="0"/>
            <a:chExt cx="1710032" cy="218066"/>
          </a:xfrm>
        </p:grpSpPr>
        <p:sp>
          <p:nvSpPr>
            <p:cNvPr name="Freeform 25" id="25"/>
            <p:cNvSpPr/>
            <p:nvPr/>
          </p:nvSpPr>
          <p:spPr>
            <a:xfrm flipH="false" flipV="false" rot="0">
              <a:off x="0" y="0"/>
              <a:ext cx="1710032" cy="218066"/>
            </a:xfrm>
            <a:custGeom>
              <a:avLst/>
              <a:gdLst/>
              <a:ahLst/>
              <a:cxnLst/>
              <a:rect r="r" b="b" t="t" l="l"/>
              <a:pathLst>
                <a:path h="218066" w="1710032">
                  <a:moveTo>
                    <a:pt x="0" y="0"/>
                  </a:moveTo>
                  <a:lnTo>
                    <a:pt x="1710032" y="0"/>
                  </a:lnTo>
                  <a:lnTo>
                    <a:pt x="1710032" y="218066"/>
                  </a:lnTo>
                  <a:lnTo>
                    <a:pt x="0" y="218066"/>
                  </a:lnTo>
                  <a:close/>
                </a:path>
              </a:pathLst>
            </a:custGeom>
            <a:solidFill>
              <a:srgbClr val="000000">
                <a:alpha val="0"/>
              </a:srgbClr>
            </a:solidFill>
          </p:spPr>
        </p:sp>
        <p:sp>
          <p:nvSpPr>
            <p:cNvPr name="TextBox 26" id="26"/>
            <p:cNvSpPr txBox="true"/>
            <p:nvPr/>
          </p:nvSpPr>
          <p:spPr>
            <a:xfrm>
              <a:off x="0" y="-57150"/>
              <a:ext cx="1710032" cy="275216"/>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Forth-Generation Languages (</a:t>
              </a:r>
              <a:r>
                <a:rPr lang="en-US" b="true" sz="2999" spc="-101">
                  <a:solidFill>
                    <a:srgbClr val="000000"/>
                  </a:solidFill>
                  <a:latin typeface="DM Sans Bold"/>
                  <a:ea typeface="DM Sans Bold"/>
                  <a:cs typeface="DM Sans Bold"/>
                  <a:sym typeface="DM Sans Bold"/>
                </a:rPr>
                <a:t>4GL</a:t>
              </a:r>
              <a:r>
                <a:rPr lang="en-US" sz="2999" spc="-101">
                  <a:solidFill>
                    <a:srgbClr val="000000"/>
                  </a:solidFill>
                  <a:latin typeface="DM Sans"/>
                  <a:ea typeface="DM Sans"/>
                  <a:cs typeface="DM Sans"/>
                  <a:sym typeface="DM Sans"/>
                </a:rPr>
                <a:t>)</a:t>
              </a:r>
            </a:p>
          </p:txBody>
        </p:sp>
      </p:grpSp>
      <p:grpSp>
        <p:nvGrpSpPr>
          <p:cNvPr name="Group 27" id="27"/>
          <p:cNvGrpSpPr/>
          <p:nvPr/>
        </p:nvGrpSpPr>
        <p:grpSpPr>
          <a:xfrm rot="0">
            <a:off x="2874449" y="7223817"/>
            <a:ext cx="12241463" cy="998208"/>
            <a:chOff x="0" y="0"/>
            <a:chExt cx="3224089" cy="262903"/>
          </a:xfrm>
        </p:grpSpPr>
        <p:sp>
          <p:nvSpPr>
            <p:cNvPr name="Freeform 28" id="28"/>
            <p:cNvSpPr/>
            <p:nvPr/>
          </p:nvSpPr>
          <p:spPr>
            <a:xfrm flipH="false" flipV="false" rot="0">
              <a:off x="0" y="0"/>
              <a:ext cx="3224089" cy="262903"/>
            </a:xfrm>
            <a:custGeom>
              <a:avLst/>
              <a:gdLst/>
              <a:ahLst/>
              <a:cxnLst/>
              <a:rect r="r" b="b" t="t" l="l"/>
              <a:pathLst>
                <a:path h="262903" w="3224089">
                  <a:moveTo>
                    <a:pt x="32254" y="0"/>
                  </a:moveTo>
                  <a:lnTo>
                    <a:pt x="3191835" y="0"/>
                  </a:lnTo>
                  <a:cubicBezTo>
                    <a:pt x="3209648" y="0"/>
                    <a:pt x="3224089" y="14441"/>
                    <a:pt x="3224089" y="32254"/>
                  </a:cubicBezTo>
                  <a:lnTo>
                    <a:pt x="3224089" y="230648"/>
                  </a:lnTo>
                  <a:cubicBezTo>
                    <a:pt x="3224089" y="248462"/>
                    <a:pt x="3209648" y="262903"/>
                    <a:pt x="3191835" y="262903"/>
                  </a:cubicBezTo>
                  <a:lnTo>
                    <a:pt x="32254" y="262903"/>
                  </a:lnTo>
                  <a:cubicBezTo>
                    <a:pt x="14441" y="262903"/>
                    <a:pt x="0" y="248462"/>
                    <a:pt x="0" y="230648"/>
                  </a:cubicBezTo>
                  <a:lnTo>
                    <a:pt x="0" y="32254"/>
                  </a:lnTo>
                  <a:cubicBezTo>
                    <a:pt x="0" y="14441"/>
                    <a:pt x="14441" y="0"/>
                    <a:pt x="32254" y="0"/>
                  </a:cubicBezTo>
                  <a:close/>
                </a:path>
              </a:pathLst>
            </a:custGeom>
            <a:solidFill>
              <a:srgbClr val="000000">
                <a:alpha val="0"/>
              </a:srgbClr>
            </a:solidFill>
          </p:spPr>
        </p:sp>
        <p:sp>
          <p:nvSpPr>
            <p:cNvPr name="TextBox 29" id="29"/>
            <p:cNvSpPr txBox="true"/>
            <p:nvPr/>
          </p:nvSpPr>
          <p:spPr>
            <a:xfrm>
              <a:off x="0" y="-47625"/>
              <a:ext cx="3224089" cy="310528"/>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In 4GL we need to only state </a:t>
              </a:r>
              <a:r>
                <a:rPr lang="en-US" b="true" sz="2399" spc="-81">
                  <a:solidFill>
                    <a:srgbClr val="000000"/>
                  </a:solidFill>
                  <a:latin typeface="DM Sans Bold"/>
                  <a:ea typeface="DM Sans Bold"/>
                  <a:cs typeface="DM Sans Bold"/>
                  <a:sym typeface="DM Sans Bold"/>
                </a:rPr>
                <a:t>what to do without </a:t>
              </a:r>
              <a:r>
                <a:rPr lang="en-US" sz="2399" spc="-81">
                  <a:solidFill>
                    <a:srgbClr val="000000"/>
                  </a:solidFill>
                  <a:latin typeface="DM Sans"/>
                  <a:ea typeface="DM Sans"/>
                  <a:cs typeface="DM Sans"/>
                  <a:sym typeface="DM Sans"/>
                </a:rPr>
                <a:t>giving details </a:t>
              </a:r>
              <a:r>
                <a:rPr lang="en-US" b="true" sz="2399" spc="-81">
                  <a:solidFill>
                    <a:srgbClr val="000000"/>
                  </a:solidFill>
                  <a:latin typeface="DM Sans Bold"/>
                  <a:ea typeface="DM Sans Bold"/>
                  <a:cs typeface="DM Sans Bold"/>
                  <a:sym typeface="DM Sans Bold"/>
                </a:rPr>
                <a:t>How to do</a:t>
              </a:r>
              <a:r>
                <a:rPr lang="en-US" sz="2399" spc="-81">
                  <a:solidFill>
                    <a:srgbClr val="000000"/>
                  </a:solidFill>
                  <a:latin typeface="DM Sans"/>
                  <a:ea typeface="DM Sans"/>
                  <a:cs typeface="DM Sans"/>
                  <a:sym typeface="DM Sans"/>
                </a:rPr>
                <a:t>. The other languages with 4GL capability are PHP, Python, etc. . .</a:t>
              </a:r>
            </a:p>
          </p:txBody>
        </p:sp>
      </p:grpSp>
      <p:grpSp>
        <p:nvGrpSpPr>
          <p:cNvPr name="Group 30" id="30"/>
          <p:cNvGrpSpPr/>
          <p:nvPr/>
        </p:nvGrpSpPr>
        <p:grpSpPr>
          <a:xfrm rot="0">
            <a:off x="2874449" y="8383950"/>
            <a:ext cx="6492779" cy="827969"/>
            <a:chOff x="0" y="0"/>
            <a:chExt cx="1710032" cy="218066"/>
          </a:xfrm>
        </p:grpSpPr>
        <p:sp>
          <p:nvSpPr>
            <p:cNvPr name="Freeform 31" id="31"/>
            <p:cNvSpPr/>
            <p:nvPr/>
          </p:nvSpPr>
          <p:spPr>
            <a:xfrm flipH="false" flipV="false" rot="0">
              <a:off x="0" y="0"/>
              <a:ext cx="1710032" cy="218066"/>
            </a:xfrm>
            <a:custGeom>
              <a:avLst/>
              <a:gdLst/>
              <a:ahLst/>
              <a:cxnLst/>
              <a:rect r="r" b="b" t="t" l="l"/>
              <a:pathLst>
                <a:path h="218066" w="1710032">
                  <a:moveTo>
                    <a:pt x="0" y="0"/>
                  </a:moveTo>
                  <a:lnTo>
                    <a:pt x="1710032" y="0"/>
                  </a:lnTo>
                  <a:lnTo>
                    <a:pt x="1710032" y="218066"/>
                  </a:lnTo>
                  <a:lnTo>
                    <a:pt x="0" y="218066"/>
                  </a:lnTo>
                  <a:close/>
                </a:path>
              </a:pathLst>
            </a:custGeom>
            <a:solidFill>
              <a:srgbClr val="000000">
                <a:alpha val="0"/>
              </a:srgbClr>
            </a:solidFill>
          </p:spPr>
        </p:sp>
        <p:sp>
          <p:nvSpPr>
            <p:cNvPr name="TextBox 32" id="32"/>
            <p:cNvSpPr txBox="true"/>
            <p:nvPr/>
          </p:nvSpPr>
          <p:spPr>
            <a:xfrm>
              <a:off x="0" y="-57150"/>
              <a:ext cx="1710032" cy="275216"/>
            </a:xfrm>
            <a:prstGeom prst="rect">
              <a:avLst/>
            </a:prstGeom>
          </p:spPr>
          <p:txBody>
            <a:bodyPr anchor="ctr" rtlCol="false" tIns="50800" lIns="50800" bIns="50800" rIns="50800"/>
            <a:lstStyle/>
            <a:p>
              <a:pPr algn="l" marL="647694" indent="-323847" lvl="1">
                <a:lnSpc>
                  <a:spcPts val="4199"/>
                </a:lnSpc>
                <a:buFont typeface="Arial"/>
                <a:buChar char="•"/>
              </a:pPr>
              <a:r>
                <a:rPr lang="en-US" sz="2999" spc="-101">
                  <a:solidFill>
                    <a:srgbClr val="000000"/>
                  </a:solidFill>
                  <a:latin typeface="DM Sans"/>
                  <a:ea typeface="DM Sans"/>
                  <a:cs typeface="DM Sans"/>
                  <a:sym typeface="DM Sans"/>
                </a:rPr>
                <a:t>Fifth-Generation Languages (</a:t>
              </a:r>
              <a:r>
                <a:rPr lang="en-US" b="true" sz="2999" spc="-101">
                  <a:solidFill>
                    <a:srgbClr val="000000"/>
                  </a:solidFill>
                  <a:latin typeface="DM Sans Bold"/>
                  <a:ea typeface="DM Sans Bold"/>
                  <a:cs typeface="DM Sans Bold"/>
                  <a:sym typeface="DM Sans Bold"/>
                </a:rPr>
                <a:t>5GL</a:t>
              </a:r>
              <a:r>
                <a:rPr lang="en-US" sz="2999" spc="-101">
                  <a:solidFill>
                    <a:srgbClr val="000000"/>
                  </a:solidFill>
                  <a:latin typeface="DM Sans"/>
                  <a:ea typeface="DM Sans"/>
                  <a:cs typeface="DM Sans"/>
                  <a:sym typeface="DM Sans"/>
                </a:rPr>
                <a:t>)</a:t>
              </a:r>
            </a:p>
          </p:txBody>
        </p:sp>
      </p:grpSp>
      <p:grpSp>
        <p:nvGrpSpPr>
          <p:cNvPr name="Group 33" id="33"/>
          <p:cNvGrpSpPr/>
          <p:nvPr/>
        </p:nvGrpSpPr>
        <p:grpSpPr>
          <a:xfrm rot="0">
            <a:off x="2874449" y="9189581"/>
            <a:ext cx="12241463" cy="998208"/>
            <a:chOff x="0" y="0"/>
            <a:chExt cx="3224089" cy="262903"/>
          </a:xfrm>
        </p:grpSpPr>
        <p:sp>
          <p:nvSpPr>
            <p:cNvPr name="Freeform 34" id="34"/>
            <p:cNvSpPr/>
            <p:nvPr/>
          </p:nvSpPr>
          <p:spPr>
            <a:xfrm flipH="false" flipV="false" rot="0">
              <a:off x="0" y="0"/>
              <a:ext cx="3224089" cy="262903"/>
            </a:xfrm>
            <a:custGeom>
              <a:avLst/>
              <a:gdLst/>
              <a:ahLst/>
              <a:cxnLst/>
              <a:rect r="r" b="b" t="t" l="l"/>
              <a:pathLst>
                <a:path h="262903" w="3224089">
                  <a:moveTo>
                    <a:pt x="32254" y="0"/>
                  </a:moveTo>
                  <a:lnTo>
                    <a:pt x="3191835" y="0"/>
                  </a:lnTo>
                  <a:cubicBezTo>
                    <a:pt x="3209648" y="0"/>
                    <a:pt x="3224089" y="14441"/>
                    <a:pt x="3224089" y="32254"/>
                  </a:cubicBezTo>
                  <a:lnTo>
                    <a:pt x="3224089" y="230648"/>
                  </a:lnTo>
                  <a:cubicBezTo>
                    <a:pt x="3224089" y="248462"/>
                    <a:pt x="3209648" y="262903"/>
                    <a:pt x="3191835" y="262903"/>
                  </a:cubicBezTo>
                  <a:lnTo>
                    <a:pt x="32254" y="262903"/>
                  </a:lnTo>
                  <a:cubicBezTo>
                    <a:pt x="14441" y="262903"/>
                    <a:pt x="0" y="248462"/>
                    <a:pt x="0" y="230648"/>
                  </a:cubicBezTo>
                  <a:lnTo>
                    <a:pt x="0" y="32254"/>
                  </a:lnTo>
                  <a:cubicBezTo>
                    <a:pt x="0" y="14441"/>
                    <a:pt x="14441" y="0"/>
                    <a:pt x="32254" y="0"/>
                  </a:cubicBezTo>
                  <a:close/>
                </a:path>
              </a:pathLst>
            </a:custGeom>
            <a:solidFill>
              <a:srgbClr val="000000">
                <a:alpha val="0"/>
              </a:srgbClr>
            </a:solidFill>
          </p:spPr>
        </p:sp>
        <p:sp>
          <p:nvSpPr>
            <p:cNvPr name="TextBox 35" id="35"/>
            <p:cNvSpPr txBox="true"/>
            <p:nvPr/>
          </p:nvSpPr>
          <p:spPr>
            <a:xfrm>
              <a:off x="0" y="-47625"/>
              <a:ext cx="3224089" cy="310528"/>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Fifth-generation languages implement the concepts of </a:t>
              </a:r>
              <a:r>
                <a:rPr lang="en-US" b="true" sz="2399" spc="-81">
                  <a:solidFill>
                    <a:srgbClr val="000000"/>
                  </a:solidFill>
                  <a:latin typeface="DM Sans Bold"/>
                  <a:ea typeface="DM Sans Bold"/>
                  <a:cs typeface="DM Sans Bold"/>
                  <a:sym typeface="DM Sans Bold"/>
                </a:rPr>
                <a:t>artificial intelligence</a:t>
              </a:r>
              <a:r>
                <a:rPr lang="en-US" sz="2399" spc="-81">
                  <a:solidFill>
                    <a:srgbClr val="000000"/>
                  </a:solidFill>
                  <a:latin typeface="DM Sans"/>
                  <a:ea typeface="DM Sans"/>
                  <a:cs typeface="DM Sans"/>
                  <a:sym typeface="DM Sans"/>
                </a:rPr>
                <a:t> and </a:t>
              </a:r>
              <a:r>
                <a:rPr lang="en-US" b="true" sz="2399" spc="-81">
                  <a:solidFill>
                    <a:srgbClr val="000000"/>
                  </a:solidFill>
                  <a:latin typeface="DM Sans Bold"/>
                  <a:ea typeface="DM Sans Bold"/>
                  <a:cs typeface="DM Sans Bold"/>
                  <a:sym typeface="DM Sans Bold"/>
                </a:rPr>
                <a:t>neural networks</a:t>
              </a:r>
              <a:r>
                <a:rPr lang="en-US" sz="2399" spc="-81">
                  <a:solidFill>
                    <a:srgbClr val="000000"/>
                  </a:solidFill>
                  <a:latin typeface="DM Sans"/>
                  <a:ea typeface="DM Sans"/>
                  <a:cs typeface="DM Sans"/>
                  <a:sym typeface="DM Sans"/>
                </a:rPr>
                <a:t>. </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2865148" y="1028700"/>
            <a:ext cx="12557704" cy="1623296"/>
            <a:chOff x="0" y="0"/>
            <a:chExt cx="3307379" cy="427535"/>
          </a:xfrm>
        </p:grpSpPr>
        <p:sp>
          <p:nvSpPr>
            <p:cNvPr name="Freeform 13" id="13"/>
            <p:cNvSpPr/>
            <p:nvPr/>
          </p:nvSpPr>
          <p:spPr>
            <a:xfrm flipH="false" flipV="false" rot="0">
              <a:off x="0" y="0"/>
              <a:ext cx="3307379" cy="427535"/>
            </a:xfrm>
            <a:custGeom>
              <a:avLst/>
              <a:gdLst/>
              <a:ahLst/>
              <a:cxnLst/>
              <a:rect r="r" b="b" t="t" l="l"/>
              <a:pathLst>
                <a:path h="427535" w="3307379">
                  <a:moveTo>
                    <a:pt x="31442" y="0"/>
                  </a:moveTo>
                  <a:lnTo>
                    <a:pt x="3275937" y="0"/>
                  </a:lnTo>
                  <a:cubicBezTo>
                    <a:pt x="3293302" y="0"/>
                    <a:pt x="3307379" y="14077"/>
                    <a:pt x="3307379" y="31442"/>
                  </a:cubicBezTo>
                  <a:lnTo>
                    <a:pt x="3307379" y="396093"/>
                  </a:lnTo>
                  <a:cubicBezTo>
                    <a:pt x="3307379" y="413458"/>
                    <a:pt x="3293302" y="427535"/>
                    <a:pt x="3275937" y="427535"/>
                  </a:cubicBezTo>
                  <a:lnTo>
                    <a:pt x="31442" y="427535"/>
                  </a:lnTo>
                  <a:cubicBezTo>
                    <a:pt x="14077" y="427535"/>
                    <a:pt x="0" y="413458"/>
                    <a:pt x="0" y="396093"/>
                  </a:cubicBezTo>
                  <a:lnTo>
                    <a:pt x="0" y="31442"/>
                  </a:lnTo>
                  <a:cubicBezTo>
                    <a:pt x="0" y="14077"/>
                    <a:pt x="14077" y="0"/>
                    <a:pt x="31442" y="0"/>
                  </a:cubicBezTo>
                  <a:close/>
                </a:path>
              </a:pathLst>
            </a:custGeom>
            <a:solidFill>
              <a:srgbClr val="C8DDFD"/>
            </a:solidFill>
          </p:spPr>
        </p:sp>
        <p:sp>
          <p:nvSpPr>
            <p:cNvPr name="TextBox 14" id="14"/>
            <p:cNvSpPr txBox="true"/>
            <p:nvPr/>
          </p:nvSpPr>
          <p:spPr>
            <a:xfrm>
              <a:off x="0" y="-76200"/>
              <a:ext cx="3307379" cy="503735"/>
            </a:xfrm>
            <a:prstGeom prst="rect">
              <a:avLst/>
            </a:prstGeom>
          </p:spPr>
          <p:txBody>
            <a:bodyPr anchor="ctr" rtlCol="false" tIns="50800" lIns="50800" bIns="50800" rIns="50800"/>
            <a:lstStyle/>
            <a:p>
              <a:pPr algn="l">
                <a:lnSpc>
                  <a:spcPts val="5599"/>
                </a:lnSpc>
              </a:pPr>
              <a:r>
                <a:rPr lang="en-US" sz="3999" spc="-135" b="true">
                  <a:solidFill>
                    <a:srgbClr val="FF751F"/>
                  </a:solidFill>
                  <a:latin typeface="DM Sans Bold"/>
                  <a:ea typeface="DM Sans Bold"/>
                  <a:cs typeface="DM Sans Bold"/>
                  <a:sym typeface="DM Sans Bold"/>
                </a:rPr>
                <a:t>1.5  :  Program Development Life Cycle of a C Program</a:t>
              </a:r>
            </a:p>
          </p:txBody>
        </p:sp>
      </p:grpSp>
      <p:grpSp>
        <p:nvGrpSpPr>
          <p:cNvPr name="Group 15" id="15"/>
          <p:cNvGrpSpPr/>
          <p:nvPr/>
        </p:nvGrpSpPr>
        <p:grpSpPr>
          <a:xfrm rot="0">
            <a:off x="2948859" y="2752738"/>
            <a:ext cx="12390282" cy="1260700"/>
            <a:chOff x="0" y="0"/>
            <a:chExt cx="3263284" cy="332036"/>
          </a:xfrm>
        </p:grpSpPr>
        <p:sp>
          <p:nvSpPr>
            <p:cNvPr name="Freeform 16" id="16"/>
            <p:cNvSpPr/>
            <p:nvPr/>
          </p:nvSpPr>
          <p:spPr>
            <a:xfrm flipH="false" flipV="false" rot="0">
              <a:off x="0" y="0"/>
              <a:ext cx="3263284" cy="332036"/>
            </a:xfrm>
            <a:custGeom>
              <a:avLst/>
              <a:gdLst/>
              <a:ahLst/>
              <a:cxnLst/>
              <a:rect r="r" b="b" t="t" l="l"/>
              <a:pathLst>
                <a:path h="332036" w="3263284">
                  <a:moveTo>
                    <a:pt x="31867" y="0"/>
                  </a:moveTo>
                  <a:lnTo>
                    <a:pt x="3231417" y="0"/>
                  </a:lnTo>
                  <a:cubicBezTo>
                    <a:pt x="3239869" y="0"/>
                    <a:pt x="3247974" y="3357"/>
                    <a:pt x="3253951" y="9334"/>
                  </a:cubicBezTo>
                  <a:cubicBezTo>
                    <a:pt x="3259927" y="15310"/>
                    <a:pt x="3263284" y="23415"/>
                    <a:pt x="3263284" y="31867"/>
                  </a:cubicBezTo>
                  <a:lnTo>
                    <a:pt x="3263284" y="300169"/>
                  </a:lnTo>
                  <a:cubicBezTo>
                    <a:pt x="3263284" y="317769"/>
                    <a:pt x="3249017" y="332036"/>
                    <a:pt x="3231417" y="332036"/>
                  </a:cubicBezTo>
                  <a:lnTo>
                    <a:pt x="31867" y="332036"/>
                  </a:lnTo>
                  <a:cubicBezTo>
                    <a:pt x="23415" y="332036"/>
                    <a:pt x="15310" y="328679"/>
                    <a:pt x="9334" y="322703"/>
                  </a:cubicBezTo>
                  <a:cubicBezTo>
                    <a:pt x="3357" y="316726"/>
                    <a:pt x="0" y="308621"/>
                    <a:pt x="0" y="300169"/>
                  </a:cubicBezTo>
                  <a:lnTo>
                    <a:pt x="0" y="31867"/>
                  </a:lnTo>
                  <a:cubicBezTo>
                    <a:pt x="0" y="14267"/>
                    <a:pt x="14267" y="0"/>
                    <a:pt x="31867" y="0"/>
                  </a:cubicBezTo>
                  <a:close/>
                </a:path>
              </a:pathLst>
            </a:custGeom>
            <a:solidFill>
              <a:srgbClr val="000000">
                <a:alpha val="0"/>
              </a:srgbClr>
            </a:solidFill>
          </p:spPr>
        </p:sp>
        <p:sp>
          <p:nvSpPr>
            <p:cNvPr name="TextBox 17" id="17"/>
            <p:cNvSpPr txBox="true"/>
            <p:nvPr/>
          </p:nvSpPr>
          <p:spPr>
            <a:xfrm>
              <a:off x="0" y="-47625"/>
              <a:ext cx="3263284" cy="379661"/>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Developing a program or a project in c is not a single task, but requires a specific sequence of steps, called the phases of program development.</a:t>
              </a:r>
            </a:p>
          </p:txBody>
        </p:sp>
      </p:grpSp>
      <p:sp>
        <p:nvSpPr>
          <p:cNvPr name="Freeform 18" id="18"/>
          <p:cNvSpPr/>
          <p:nvPr/>
        </p:nvSpPr>
        <p:spPr>
          <a:xfrm flipH="false" flipV="false" rot="0">
            <a:off x="4854062" y="4118213"/>
            <a:ext cx="7592558" cy="5868192"/>
          </a:xfrm>
          <a:custGeom>
            <a:avLst/>
            <a:gdLst/>
            <a:ahLst/>
            <a:cxnLst/>
            <a:rect r="r" b="b" t="t" l="l"/>
            <a:pathLst>
              <a:path h="5868192" w="7592558">
                <a:moveTo>
                  <a:pt x="0" y="0"/>
                </a:moveTo>
                <a:lnTo>
                  <a:pt x="7592558" y="0"/>
                </a:lnTo>
                <a:lnTo>
                  <a:pt x="7592558" y="5868192"/>
                </a:lnTo>
                <a:lnTo>
                  <a:pt x="0" y="5868192"/>
                </a:lnTo>
                <a:lnTo>
                  <a:pt x="0" y="0"/>
                </a:lnTo>
                <a:close/>
              </a:path>
            </a:pathLst>
          </a:custGeom>
          <a:blipFill>
            <a:blip r:embed="rId8"/>
            <a:stretch>
              <a:fillRect l="0" t="0" r="0" b="0"/>
            </a:stretch>
          </a:blipFill>
        </p:spPr>
      </p:sp>
      <p:sp>
        <p:nvSpPr>
          <p:cNvPr name="AutoShape 19" id="19"/>
          <p:cNvSpPr/>
          <p:nvPr/>
        </p:nvSpPr>
        <p:spPr>
          <a:xfrm>
            <a:off x="9934596" y="4804019"/>
            <a:ext cx="1078948" cy="1097540"/>
          </a:xfrm>
          <a:prstGeom prst="line">
            <a:avLst/>
          </a:prstGeom>
          <a:ln cap="flat" w="38100">
            <a:solidFill>
              <a:srgbClr val="000000"/>
            </a:solidFill>
            <a:prstDash val="solid"/>
            <a:headEnd type="none" len="sm" w="sm"/>
            <a:tailEnd type="triangle" len="med" w="lg"/>
          </a:ln>
        </p:spPr>
      </p:sp>
      <p:sp>
        <p:nvSpPr>
          <p:cNvPr name="AutoShape 20" id="20"/>
          <p:cNvSpPr/>
          <p:nvPr/>
        </p:nvSpPr>
        <p:spPr>
          <a:xfrm flipH="true">
            <a:off x="10812499" y="7225910"/>
            <a:ext cx="390640" cy="1543998"/>
          </a:xfrm>
          <a:prstGeom prst="line">
            <a:avLst/>
          </a:prstGeom>
          <a:ln cap="flat" w="38100">
            <a:solidFill>
              <a:srgbClr val="000000"/>
            </a:solidFill>
            <a:prstDash val="solid"/>
            <a:headEnd type="none" len="sm" w="sm"/>
            <a:tailEnd type="triangle" len="med" w="lg"/>
          </a:ln>
        </p:spPr>
      </p:sp>
      <p:sp>
        <p:nvSpPr>
          <p:cNvPr name="AutoShape 21" id="21"/>
          <p:cNvSpPr/>
          <p:nvPr/>
        </p:nvSpPr>
        <p:spPr>
          <a:xfrm flipH="true" flipV="true">
            <a:off x="6246146" y="7232247"/>
            <a:ext cx="529842" cy="1501931"/>
          </a:xfrm>
          <a:prstGeom prst="line">
            <a:avLst/>
          </a:prstGeom>
          <a:ln cap="flat" w="38100">
            <a:solidFill>
              <a:srgbClr val="000000"/>
            </a:solidFill>
            <a:prstDash val="solid"/>
            <a:headEnd type="none" len="sm" w="sm"/>
            <a:tailEnd type="triangle" len="med" w="lg"/>
          </a:ln>
        </p:spPr>
      </p:sp>
      <p:sp>
        <p:nvSpPr>
          <p:cNvPr name="AutoShape 22" id="22"/>
          <p:cNvSpPr/>
          <p:nvPr/>
        </p:nvSpPr>
        <p:spPr>
          <a:xfrm flipV="true">
            <a:off x="5857303" y="4838464"/>
            <a:ext cx="1148102" cy="1024981"/>
          </a:xfrm>
          <a:prstGeom prst="line">
            <a:avLst/>
          </a:prstGeom>
          <a:ln cap="flat" w="38100">
            <a:solidFill>
              <a:srgbClr val="000000"/>
            </a:solidFill>
            <a:prstDash val="solid"/>
            <a:headEnd type="none" len="sm" w="sm"/>
            <a:tailEnd type="triangle" len="med" w="lg"/>
          </a:ln>
        </p:spPr>
      </p:sp>
      <p:sp>
        <p:nvSpPr>
          <p:cNvPr name="AutoShape 23" id="23"/>
          <p:cNvSpPr/>
          <p:nvPr/>
        </p:nvSpPr>
        <p:spPr>
          <a:xfrm flipH="true">
            <a:off x="8334095" y="9258300"/>
            <a:ext cx="316246" cy="0"/>
          </a:xfrm>
          <a:prstGeom prst="line">
            <a:avLst/>
          </a:prstGeom>
          <a:ln cap="flat" w="38100">
            <a:solidFill>
              <a:srgbClr val="000000"/>
            </a:solidFill>
            <a:prstDash val="solid"/>
            <a:headEnd type="none" len="sm" w="sm"/>
            <a:tailEnd type="triangle" len="med" w="lg"/>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243205"/>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629131"/>
            <a:ext cx="12390282" cy="1059982"/>
            <a:chOff x="0" y="0"/>
            <a:chExt cx="3263284" cy="279172"/>
          </a:xfrm>
        </p:grpSpPr>
        <p:sp>
          <p:nvSpPr>
            <p:cNvPr name="Freeform 13" id="13"/>
            <p:cNvSpPr/>
            <p:nvPr/>
          </p:nvSpPr>
          <p:spPr>
            <a:xfrm flipH="false" flipV="false" rot="0">
              <a:off x="0" y="0"/>
              <a:ext cx="3263284" cy="279172"/>
            </a:xfrm>
            <a:custGeom>
              <a:avLst/>
              <a:gdLst/>
              <a:ahLst/>
              <a:cxnLst/>
              <a:rect r="r" b="b" t="t" l="l"/>
              <a:pathLst>
                <a:path h="279172" w="3263284">
                  <a:moveTo>
                    <a:pt x="31867" y="0"/>
                  </a:moveTo>
                  <a:lnTo>
                    <a:pt x="3231417" y="0"/>
                  </a:lnTo>
                  <a:cubicBezTo>
                    <a:pt x="3239869" y="0"/>
                    <a:pt x="3247974" y="3357"/>
                    <a:pt x="3253951" y="9334"/>
                  </a:cubicBezTo>
                  <a:cubicBezTo>
                    <a:pt x="3259927" y="15310"/>
                    <a:pt x="3263284" y="23415"/>
                    <a:pt x="3263284" y="31867"/>
                  </a:cubicBezTo>
                  <a:lnTo>
                    <a:pt x="3263284" y="247305"/>
                  </a:lnTo>
                  <a:cubicBezTo>
                    <a:pt x="3263284" y="264905"/>
                    <a:pt x="3249017" y="279172"/>
                    <a:pt x="3231417" y="279172"/>
                  </a:cubicBezTo>
                  <a:lnTo>
                    <a:pt x="31867" y="279172"/>
                  </a:lnTo>
                  <a:cubicBezTo>
                    <a:pt x="23415" y="279172"/>
                    <a:pt x="15310" y="275815"/>
                    <a:pt x="9334" y="269839"/>
                  </a:cubicBezTo>
                  <a:cubicBezTo>
                    <a:pt x="3357" y="263862"/>
                    <a:pt x="0" y="255757"/>
                    <a:pt x="0" y="247305"/>
                  </a:cubicBezTo>
                  <a:lnTo>
                    <a:pt x="0" y="31867"/>
                  </a:lnTo>
                  <a:cubicBezTo>
                    <a:pt x="0" y="14267"/>
                    <a:pt x="14267" y="0"/>
                    <a:pt x="31867" y="0"/>
                  </a:cubicBezTo>
                  <a:close/>
                </a:path>
              </a:pathLst>
            </a:custGeom>
            <a:solidFill>
              <a:srgbClr val="C8DDFD"/>
            </a:solidFill>
          </p:spPr>
        </p:sp>
        <p:sp>
          <p:nvSpPr>
            <p:cNvPr name="TextBox 14" id="14"/>
            <p:cNvSpPr txBox="true"/>
            <p:nvPr/>
          </p:nvSpPr>
          <p:spPr>
            <a:xfrm>
              <a:off x="0" y="-95250"/>
              <a:ext cx="3263284" cy="374422"/>
            </a:xfrm>
            <a:prstGeom prst="rect">
              <a:avLst/>
            </a:prstGeom>
          </p:spPr>
          <p:txBody>
            <a:bodyPr anchor="ctr" rtlCol="false" tIns="50800" lIns="50800" bIns="50800" rIns="50800"/>
            <a:lstStyle/>
            <a:p>
              <a:pPr algn="l">
                <a:lnSpc>
                  <a:spcPts val="6719"/>
                </a:lnSpc>
              </a:pPr>
              <a:r>
                <a:rPr lang="en-US" sz="4799" spc="-163" b="true">
                  <a:solidFill>
                    <a:srgbClr val="FF751F"/>
                  </a:solidFill>
                  <a:latin typeface="DM Sans Bold"/>
                  <a:ea typeface="DM Sans Bold"/>
                  <a:cs typeface="DM Sans Bold"/>
                  <a:sym typeface="DM Sans Bold"/>
                </a:rPr>
                <a:t>1.5.1  :  Problem Analysis</a:t>
              </a:r>
            </a:p>
          </p:txBody>
        </p:sp>
      </p:grpSp>
      <p:grpSp>
        <p:nvGrpSpPr>
          <p:cNvPr name="Group 15" id="15"/>
          <p:cNvGrpSpPr/>
          <p:nvPr/>
        </p:nvGrpSpPr>
        <p:grpSpPr>
          <a:xfrm rot="0">
            <a:off x="3023268" y="1982913"/>
            <a:ext cx="12241463" cy="1284401"/>
            <a:chOff x="0" y="0"/>
            <a:chExt cx="3224089" cy="338278"/>
          </a:xfrm>
        </p:grpSpPr>
        <p:sp>
          <p:nvSpPr>
            <p:cNvPr name="Freeform 16" id="16"/>
            <p:cNvSpPr/>
            <p:nvPr/>
          </p:nvSpPr>
          <p:spPr>
            <a:xfrm flipH="false" flipV="false" rot="0">
              <a:off x="0" y="0"/>
              <a:ext cx="3224089" cy="338278"/>
            </a:xfrm>
            <a:custGeom>
              <a:avLst/>
              <a:gdLst/>
              <a:ahLst/>
              <a:cxnLst/>
              <a:rect r="r" b="b" t="t" l="l"/>
              <a:pathLst>
                <a:path h="338278" w="3224089">
                  <a:moveTo>
                    <a:pt x="32254" y="0"/>
                  </a:moveTo>
                  <a:lnTo>
                    <a:pt x="3191835" y="0"/>
                  </a:lnTo>
                  <a:cubicBezTo>
                    <a:pt x="3209648" y="0"/>
                    <a:pt x="3224089" y="14441"/>
                    <a:pt x="3224089" y="32254"/>
                  </a:cubicBezTo>
                  <a:lnTo>
                    <a:pt x="3224089" y="306024"/>
                  </a:lnTo>
                  <a:cubicBezTo>
                    <a:pt x="3224089" y="323838"/>
                    <a:pt x="3209648" y="338278"/>
                    <a:pt x="3191835" y="338278"/>
                  </a:cubicBezTo>
                  <a:lnTo>
                    <a:pt x="32254" y="338278"/>
                  </a:lnTo>
                  <a:cubicBezTo>
                    <a:pt x="14441" y="338278"/>
                    <a:pt x="0" y="323838"/>
                    <a:pt x="0" y="306024"/>
                  </a:cubicBezTo>
                  <a:lnTo>
                    <a:pt x="0" y="32254"/>
                  </a:lnTo>
                  <a:cubicBezTo>
                    <a:pt x="0" y="14441"/>
                    <a:pt x="14441" y="0"/>
                    <a:pt x="32254" y="0"/>
                  </a:cubicBezTo>
                  <a:close/>
                </a:path>
              </a:pathLst>
            </a:custGeom>
            <a:solidFill>
              <a:srgbClr val="000000">
                <a:alpha val="0"/>
              </a:srgbClr>
            </a:solidFill>
          </p:spPr>
        </p:sp>
        <p:sp>
          <p:nvSpPr>
            <p:cNvPr name="TextBox 17" id="17"/>
            <p:cNvSpPr txBox="true"/>
            <p:nvPr/>
          </p:nvSpPr>
          <p:spPr>
            <a:xfrm>
              <a:off x="0" y="-47625"/>
              <a:ext cx="3224089" cy="385903"/>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When the problem is recived, the programmer try to understand the problem at first. The y determine weather the problem is valid or not and can have a solution or not.</a:t>
              </a:r>
            </a:p>
          </p:txBody>
        </p:sp>
      </p:grpSp>
      <p:grpSp>
        <p:nvGrpSpPr>
          <p:cNvPr name="Group 18" id="18"/>
          <p:cNvGrpSpPr/>
          <p:nvPr/>
        </p:nvGrpSpPr>
        <p:grpSpPr>
          <a:xfrm rot="0">
            <a:off x="3023268" y="3383088"/>
            <a:ext cx="12390282" cy="986103"/>
            <a:chOff x="0" y="0"/>
            <a:chExt cx="3263284" cy="259714"/>
          </a:xfrm>
        </p:grpSpPr>
        <p:sp>
          <p:nvSpPr>
            <p:cNvPr name="Freeform 19" id="19"/>
            <p:cNvSpPr/>
            <p:nvPr/>
          </p:nvSpPr>
          <p:spPr>
            <a:xfrm flipH="false" flipV="false" rot="0">
              <a:off x="0" y="0"/>
              <a:ext cx="3263284" cy="259714"/>
            </a:xfrm>
            <a:custGeom>
              <a:avLst/>
              <a:gdLst/>
              <a:ahLst/>
              <a:cxnLst/>
              <a:rect r="r" b="b" t="t" l="l"/>
              <a:pathLst>
                <a:path h="259714" w="3263284">
                  <a:moveTo>
                    <a:pt x="31867" y="0"/>
                  </a:moveTo>
                  <a:lnTo>
                    <a:pt x="3231417" y="0"/>
                  </a:lnTo>
                  <a:cubicBezTo>
                    <a:pt x="3239869" y="0"/>
                    <a:pt x="3247974" y="3357"/>
                    <a:pt x="3253951" y="9334"/>
                  </a:cubicBezTo>
                  <a:cubicBezTo>
                    <a:pt x="3259927" y="15310"/>
                    <a:pt x="3263284" y="23415"/>
                    <a:pt x="3263284" y="31867"/>
                  </a:cubicBezTo>
                  <a:lnTo>
                    <a:pt x="3263284" y="227848"/>
                  </a:lnTo>
                  <a:cubicBezTo>
                    <a:pt x="3263284" y="236299"/>
                    <a:pt x="3259927" y="244405"/>
                    <a:pt x="3253951" y="250381"/>
                  </a:cubicBezTo>
                  <a:cubicBezTo>
                    <a:pt x="3247974" y="256357"/>
                    <a:pt x="3239869" y="259714"/>
                    <a:pt x="3231417" y="259714"/>
                  </a:cubicBezTo>
                  <a:lnTo>
                    <a:pt x="31867" y="259714"/>
                  </a:lnTo>
                  <a:cubicBezTo>
                    <a:pt x="14267" y="259714"/>
                    <a:pt x="0" y="245447"/>
                    <a:pt x="0" y="227848"/>
                  </a:cubicBezTo>
                  <a:lnTo>
                    <a:pt x="0" y="31867"/>
                  </a:lnTo>
                  <a:cubicBezTo>
                    <a:pt x="0" y="14267"/>
                    <a:pt x="14267" y="0"/>
                    <a:pt x="31867" y="0"/>
                  </a:cubicBezTo>
                  <a:close/>
                </a:path>
              </a:pathLst>
            </a:custGeom>
            <a:solidFill>
              <a:srgbClr val="C8DDFD"/>
            </a:solidFill>
          </p:spPr>
        </p:sp>
        <p:sp>
          <p:nvSpPr>
            <p:cNvPr name="TextBox 20" id="20"/>
            <p:cNvSpPr txBox="true"/>
            <p:nvPr/>
          </p:nvSpPr>
          <p:spPr>
            <a:xfrm>
              <a:off x="0" y="-95250"/>
              <a:ext cx="3263284" cy="354964"/>
            </a:xfrm>
            <a:prstGeom prst="rect">
              <a:avLst/>
            </a:prstGeom>
          </p:spPr>
          <p:txBody>
            <a:bodyPr anchor="ctr" rtlCol="false" tIns="50800" lIns="50800" bIns="50800" rIns="50800"/>
            <a:lstStyle/>
            <a:p>
              <a:pPr algn="l">
                <a:lnSpc>
                  <a:spcPts val="6719"/>
                </a:lnSpc>
              </a:pPr>
              <a:r>
                <a:rPr lang="en-US" sz="4799" spc="-163" b="true">
                  <a:solidFill>
                    <a:srgbClr val="FF751F"/>
                  </a:solidFill>
                  <a:latin typeface="DM Sans Bold"/>
                  <a:ea typeface="DM Sans Bold"/>
                  <a:cs typeface="DM Sans Bold"/>
                  <a:sym typeface="DM Sans Bold"/>
                </a:rPr>
                <a:t>1.5.2  :  Algorithm Development</a:t>
              </a:r>
            </a:p>
          </p:txBody>
        </p:sp>
      </p:grpSp>
      <p:grpSp>
        <p:nvGrpSpPr>
          <p:cNvPr name="Group 21" id="21"/>
          <p:cNvGrpSpPr/>
          <p:nvPr/>
        </p:nvGrpSpPr>
        <p:grpSpPr>
          <a:xfrm rot="0">
            <a:off x="3023268" y="4664466"/>
            <a:ext cx="12241463" cy="1783689"/>
            <a:chOff x="0" y="0"/>
            <a:chExt cx="3224089" cy="469778"/>
          </a:xfrm>
        </p:grpSpPr>
        <p:sp>
          <p:nvSpPr>
            <p:cNvPr name="Freeform 22" id="22"/>
            <p:cNvSpPr/>
            <p:nvPr/>
          </p:nvSpPr>
          <p:spPr>
            <a:xfrm flipH="false" flipV="false" rot="0">
              <a:off x="0" y="0"/>
              <a:ext cx="3224089" cy="469778"/>
            </a:xfrm>
            <a:custGeom>
              <a:avLst/>
              <a:gdLst/>
              <a:ahLst/>
              <a:cxnLst/>
              <a:rect r="r" b="b" t="t" l="l"/>
              <a:pathLst>
                <a:path h="469778" w="3224089">
                  <a:moveTo>
                    <a:pt x="32254" y="0"/>
                  </a:moveTo>
                  <a:lnTo>
                    <a:pt x="3191835" y="0"/>
                  </a:lnTo>
                  <a:cubicBezTo>
                    <a:pt x="3209648" y="0"/>
                    <a:pt x="3224089" y="14441"/>
                    <a:pt x="3224089" y="32254"/>
                  </a:cubicBezTo>
                  <a:lnTo>
                    <a:pt x="3224089" y="437524"/>
                  </a:lnTo>
                  <a:cubicBezTo>
                    <a:pt x="3224089" y="446078"/>
                    <a:pt x="3220691" y="454282"/>
                    <a:pt x="3214642" y="460331"/>
                  </a:cubicBezTo>
                  <a:cubicBezTo>
                    <a:pt x="3208593" y="466380"/>
                    <a:pt x="3200389" y="469778"/>
                    <a:pt x="3191835" y="469778"/>
                  </a:cubicBezTo>
                  <a:lnTo>
                    <a:pt x="32254" y="469778"/>
                  </a:lnTo>
                  <a:cubicBezTo>
                    <a:pt x="14441" y="469778"/>
                    <a:pt x="0" y="455338"/>
                    <a:pt x="0" y="437524"/>
                  </a:cubicBezTo>
                  <a:lnTo>
                    <a:pt x="0" y="32254"/>
                  </a:lnTo>
                  <a:cubicBezTo>
                    <a:pt x="0" y="14441"/>
                    <a:pt x="14441" y="0"/>
                    <a:pt x="32254" y="0"/>
                  </a:cubicBezTo>
                  <a:close/>
                </a:path>
              </a:pathLst>
            </a:custGeom>
            <a:solidFill>
              <a:srgbClr val="000000">
                <a:alpha val="0"/>
              </a:srgbClr>
            </a:solidFill>
          </p:spPr>
        </p:sp>
        <p:sp>
          <p:nvSpPr>
            <p:cNvPr name="TextBox 23" id="23"/>
            <p:cNvSpPr txBox="true"/>
            <p:nvPr/>
          </p:nvSpPr>
          <p:spPr>
            <a:xfrm>
              <a:off x="0" y="-47625"/>
              <a:ext cx="3224089" cy="517403"/>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In order to attain the selected solution, a step-by-step procedure is developed. The modules in the program are identified, and algorithm for each module or function is written. The variables, files, functions, etc., are determined. The logical flow of control is determined in this phase.</a:t>
              </a:r>
            </a:p>
          </p:txBody>
        </p:sp>
      </p:grpSp>
      <p:grpSp>
        <p:nvGrpSpPr>
          <p:cNvPr name="Group 24" id="24"/>
          <p:cNvGrpSpPr/>
          <p:nvPr/>
        </p:nvGrpSpPr>
        <p:grpSpPr>
          <a:xfrm rot="0">
            <a:off x="3041762" y="6743431"/>
            <a:ext cx="12390282" cy="986103"/>
            <a:chOff x="0" y="0"/>
            <a:chExt cx="3263284" cy="259714"/>
          </a:xfrm>
        </p:grpSpPr>
        <p:sp>
          <p:nvSpPr>
            <p:cNvPr name="Freeform 25" id="25"/>
            <p:cNvSpPr/>
            <p:nvPr/>
          </p:nvSpPr>
          <p:spPr>
            <a:xfrm flipH="false" flipV="false" rot="0">
              <a:off x="0" y="0"/>
              <a:ext cx="3263284" cy="259714"/>
            </a:xfrm>
            <a:custGeom>
              <a:avLst/>
              <a:gdLst/>
              <a:ahLst/>
              <a:cxnLst/>
              <a:rect r="r" b="b" t="t" l="l"/>
              <a:pathLst>
                <a:path h="259714" w="3263284">
                  <a:moveTo>
                    <a:pt x="31867" y="0"/>
                  </a:moveTo>
                  <a:lnTo>
                    <a:pt x="3231417" y="0"/>
                  </a:lnTo>
                  <a:cubicBezTo>
                    <a:pt x="3239869" y="0"/>
                    <a:pt x="3247974" y="3357"/>
                    <a:pt x="3253951" y="9334"/>
                  </a:cubicBezTo>
                  <a:cubicBezTo>
                    <a:pt x="3259927" y="15310"/>
                    <a:pt x="3263284" y="23415"/>
                    <a:pt x="3263284" y="31867"/>
                  </a:cubicBezTo>
                  <a:lnTo>
                    <a:pt x="3263284" y="227848"/>
                  </a:lnTo>
                  <a:cubicBezTo>
                    <a:pt x="3263284" y="236299"/>
                    <a:pt x="3259927" y="244405"/>
                    <a:pt x="3253951" y="250381"/>
                  </a:cubicBezTo>
                  <a:cubicBezTo>
                    <a:pt x="3247974" y="256357"/>
                    <a:pt x="3239869" y="259714"/>
                    <a:pt x="3231417" y="259714"/>
                  </a:cubicBezTo>
                  <a:lnTo>
                    <a:pt x="31867" y="259714"/>
                  </a:lnTo>
                  <a:cubicBezTo>
                    <a:pt x="14267" y="259714"/>
                    <a:pt x="0" y="245447"/>
                    <a:pt x="0" y="227848"/>
                  </a:cubicBezTo>
                  <a:lnTo>
                    <a:pt x="0" y="31867"/>
                  </a:lnTo>
                  <a:cubicBezTo>
                    <a:pt x="0" y="14267"/>
                    <a:pt x="14267" y="0"/>
                    <a:pt x="31867" y="0"/>
                  </a:cubicBezTo>
                  <a:close/>
                </a:path>
              </a:pathLst>
            </a:custGeom>
            <a:solidFill>
              <a:srgbClr val="C8DDFD"/>
            </a:solidFill>
          </p:spPr>
        </p:sp>
        <p:sp>
          <p:nvSpPr>
            <p:cNvPr name="TextBox 26" id="26"/>
            <p:cNvSpPr txBox="true"/>
            <p:nvPr/>
          </p:nvSpPr>
          <p:spPr>
            <a:xfrm>
              <a:off x="0" y="-95250"/>
              <a:ext cx="3263284" cy="354964"/>
            </a:xfrm>
            <a:prstGeom prst="rect">
              <a:avLst/>
            </a:prstGeom>
          </p:spPr>
          <p:txBody>
            <a:bodyPr anchor="ctr" rtlCol="false" tIns="50800" lIns="50800" bIns="50800" rIns="50800"/>
            <a:lstStyle/>
            <a:p>
              <a:pPr algn="l">
                <a:lnSpc>
                  <a:spcPts val="6719"/>
                </a:lnSpc>
              </a:pPr>
              <a:r>
                <a:rPr lang="en-US" sz="4799" spc="-163" b="true">
                  <a:solidFill>
                    <a:srgbClr val="FF751F"/>
                  </a:solidFill>
                  <a:latin typeface="DM Sans Bold"/>
                  <a:ea typeface="DM Sans Bold"/>
                  <a:cs typeface="DM Sans Bold"/>
                  <a:sym typeface="DM Sans Bold"/>
                </a:rPr>
                <a:t>1.5.2  :  Coding</a:t>
              </a:r>
            </a:p>
          </p:txBody>
        </p:sp>
      </p:grpSp>
      <p:grpSp>
        <p:nvGrpSpPr>
          <p:cNvPr name="Group 27" id="27"/>
          <p:cNvGrpSpPr/>
          <p:nvPr/>
        </p:nvGrpSpPr>
        <p:grpSpPr>
          <a:xfrm rot="0">
            <a:off x="3023268" y="8024809"/>
            <a:ext cx="12241463" cy="1374437"/>
            <a:chOff x="0" y="0"/>
            <a:chExt cx="3224089" cy="361992"/>
          </a:xfrm>
        </p:grpSpPr>
        <p:sp>
          <p:nvSpPr>
            <p:cNvPr name="Freeform 28" id="28"/>
            <p:cNvSpPr/>
            <p:nvPr/>
          </p:nvSpPr>
          <p:spPr>
            <a:xfrm flipH="false" flipV="false" rot="0">
              <a:off x="0" y="0"/>
              <a:ext cx="3224089" cy="361992"/>
            </a:xfrm>
            <a:custGeom>
              <a:avLst/>
              <a:gdLst/>
              <a:ahLst/>
              <a:cxnLst/>
              <a:rect r="r" b="b" t="t" l="l"/>
              <a:pathLst>
                <a:path h="361992" w="3224089">
                  <a:moveTo>
                    <a:pt x="32254" y="0"/>
                  </a:moveTo>
                  <a:lnTo>
                    <a:pt x="3191835" y="0"/>
                  </a:lnTo>
                  <a:cubicBezTo>
                    <a:pt x="3209648" y="0"/>
                    <a:pt x="3224089" y="14441"/>
                    <a:pt x="3224089" y="32254"/>
                  </a:cubicBezTo>
                  <a:lnTo>
                    <a:pt x="3224089" y="329738"/>
                  </a:lnTo>
                  <a:cubicBezTo>
                    <a:pt x="3224089" y="338292"/>
                    <a:pt x="3220691" y="346496"/>
                    <a:pt x="3214642" y="352545"/>
                  </a:cubicBezTo>
                  <a:cubicBezTo>
                    <a:pt x="3208593" y="358593"/>
                    <a:pt x="3200389" y="361992"/>
                    <a:pt x="3191835" y="361992"/>
                  </a:cubicBezTo>
                  <a:lnTo>
                    <a:pt x="32254" y="361992"/>
                  </a:lnTo>
                  <a:cubicBezTo>
                    <a:pt x="14441" y="361992"/>
                    <a:pt x="0" y="347551"/>
                    <a:pt x="0" y="329738"/>
                  </a:cubicBezTo>
                  <a:lnTo>
                    <a:pt x="0" y="32254"/>
                  </a:lnTo>
                  <a:cubicBezTo>
                    <a:pt x="0" y="14441"/>
                    <a:pt x="14441" y="0"/>
                    <a:pt x="32254" y="0"/>
                  </a:cubicBezTo>
                  <a:close/>
                </a:path>
              </a:pathLst>
            </a:custGeom>
            <a:solidFill>
              <a:srgbClr val="000000">
                <a:alpha val="0"/>
              </a:srgbClr>
            </a:solidFill>
          </p:spPr>
        </p:sp>
        <p:sp>
          <p:nvSpPr>
            <p:cNvPr name="TextBox 29" id="29"/>
            <p:cNvSpPr txBox="true"/>
            <p:nvPr/>
          </p:nvSpPr>
          <p:spPr>
            <a:xfrm>
              <a:off x="0" y="-47625"/>
              <a:ext cx="3224089" cy="409617"/>
            </a:xfrm>
            <a:prstGeom prst="rect">
              <a:avLst/>
            </a:prstGeom>
          </p:spPr>
          <p:txBody>
            <a:bodyPr anchor="ctr" rtlCol="false" tIns="50800" lIns="50800" bIns="50800" rIns="50800"/>
            <a:lstStyle/>
            <a:p>
              <a:pPr algn="l">
                <a:lnSpc>
                  <a:spcPts val="3359"/>
                </a:lnSpc>
              </a:pPr>
              <a:r>
                <a:rPr lang="en-US" sz="2399" spc="-81">
                  <a:solidFill>
                    <a:srgbClr val="000000"/>
                  </a:solidFill>
                  <a:latin typeface="DM Sans"/>
                  <a:ea typeface="DM Sans"/>
                  <a:cs typeface="DM Sans"/>
                  <a:sym typeface="DM Sans"/>
                </a:rPr>
                <a:t>The algorithms developed in the previous phase are converted to C language code. Programmer should follow the syntax of C language while writing the code, a deviation from which leads to errors.</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19175"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629131"/>
            <a:ext cx="12390282" cy="1059982"/>
            <a:chOff x="0" y="0"/>
            <a:chExt cx="3263284" cy="279172"/>
          </a:xfrm>
        </p:grpSpPr>
        <p:sp>
          <p:nvSpPr>
            <p:cNvPr name="Freeform 13" id="13"/>
            <p:cNvSpPr/>
            <p:nvPr/>
          </p:nvSpPr>
          <p:spPr>
            <a:xfrm flipH="false" flipV="false" rot="0">
              <a:off x="0" y="0"/>
              <a:ext cx="3263284" cy="279172"/>
            </a:xfrm>
            <a:custGeom>
              <a:avLst/>
              <a:gdLst/>
              <a:ahLst/>
              <a:cxnLst/>
              <a:rect r="r" b="b" t="t" l="l"/>
              <a:pathLst>
                <a:path h="279172" w="3263284">
                  <a:moveTo>
                    <a:pt x="31867" y="0"/>
                  </a:moveTo>
                  <a:lnTo>
                    <a:pt x="3231417" y="0"/>
                  </a:lnTo>
                  <a:cubicBezTo>
                    <a:pt x="3239869" y="0"/>
                    <a:pt x="3247974" y="3357"/>
                    <a:pt x="3253951" y="9334"/>
                  </a:cubicBezTo>
                  <a:cubicBezTo>
                    <a:pt x="3259927" y="15310"/>
                    <a:pt x="3263284" y="23415"/>
                    <a:pt x="3263284" y="31867"/>
                  </a:cubicBezTo>
                  <a:lnTo>
                    <a:pt x="3263284" y="247305"/>
                  </a:lnTo>
                  <a:cubicBezTo>
                    <a:pt x="3263284" y="264905"/>
                    <a:pt x="3249017" y="279172"/>
                    <a:pt x="3231417" y="279172"/>
                  </a:cubicBezTo>
                  <a:lnTo>
                    <a:pt x="31867" y="279172"/>
                  </a:lnTo>
                  <a:cubicBezTo>
                    <a:pt x="23415" y="279172"/>
                    <a:pt x="15310" y="275815"/>
                    <a:pt x="9334" y="269839"/>
                  </a:cubicBezTo>
                  <a:cubicBezTo>
                    <a:pt x="3357" y="263862"/>
                    <a:pt x="0" y="255757"/>
                    <a:pt x="0" y="247305"/>
                  </a:cubicBezTo>
                  <a:lnTo>
                    <a:pt x="0" y="31867"/>
                  </a:lnTo>
                  <a:cubicBezTo>
                    <a:pt x="0" y="14267"/>
                    <a:pt x="14267" y="0"/>
                    <a:pt x="31867" y="0"/>
                  </a:cubicBezTo>
                  <a:close/>
                </a:path>
              </a:pathLst>
            </a:custGeom>
            <a:solidFill>
              <a:srgbClr val="C8DDFD"/>
            </a:solidFill>
          </p:spPr>
        </p:sp>
        <p:sp>
          <p:nvSpPr>
            <p:cNvPr name="TextBox 14" id="14"/>
            <p:cNvSpPr txBox="true"/>
            <p:nvPr/>
          </p:nvSpPr>
          <p:spPr>
            <a:xfrm>
              <a:off x="0" y="-95250"/>
              <a:ext cx="3263284" cy="374422"/>
            </a:xfrm>
            <a:prstGeom prst="rect">
              <a:avLst/>
            </a:prstGeom>
          </p:spPr>
          <p:txBody>
            <a:bodyPr anchor="ctr" rtlCol="false" tIns="50800" lIns="50800" bIns="50800" rIns="50800"/>
            <a:lstStyle/>
            <a:p>
              <a:pPr algn="l">
                <a:lnSpc>
                  <a:spcPts val="6719"/>
                </a:lnSpc>
              </a:pPr>
              <a:r>
                <a:rPr lang="en-US" sz="4799" spc="-163" b="true">
                  <a:solidFill>
                    <a:srgbClr val="FF751F"/>
                  </a:solidFill>
                  <a:latin typeface="DM Sans Bold"/>
                  <a:ea typeface="DM Sans Bold"/>
                  <a:cs typeface="DM Sans Bold"/>
                  <a:sym typeface="DM Sans Bold"/>
                </a:rPr>
                <a:t>1.5.4  :  Testing and Debugging</a:t>
              </a:r>
            </a:p>
          </p:txBody>
        </p:sp>
      </p:grpSp>
      <p:grpSp>
        <p:nvGrpSpPr>
          <p:cNvPr name="Group 15" id="15"/>
          <p:cNvGrpSpPr/>
          <p:nvPr/>
        </p:nvGrpSpPr>
        <p:grpSpPr>
          <a:xfrm rot="0">
            <a:off x="3023268" y="1982913"/>
            <a:ext cx="12241463" cy="2338531"/>
            <a:chOff x="0" y="0"/>
            <a:chExt cx="3224089" cy="615909"/>
          </a:xfrm>
        </p:grpSpPr>
        <p:sp>
          <p:nvSpPr>
            <p:cNvPr name="Freeform 16" id="16"/>
            <p:cNvSpPr/>
            <p:nvPr/>
          </p:nvSpPr>
          <p:spPr>
            <a:xfrm flipH="false" flipV="false" rot="0">
              <a:off x="0" y="0"/>
              <a:ext cx="3224089" cy="615909"/>
            </a:xfrm>
            <a:custGeom>
              <a:avLst/>
              <a:gdLst/>
              <a:ahLst/>
              <a:cxnLst/>
              <a:rect r="r" b="b" t="t" l="l"/>
              <a:pathLst>
                <a:path h="615909" w="3224089">
                  <a:moveTo>
                    <a:pt x="32254" y="0"/>
                  </a:moveTo>
                  <a:lnTo>
                    <a:pt x="3191835" y="0"/>
                  </a:lnTo>
                  <a:cubicBezTo>
                    <a:pt x="3209648" y="0"/>
                    <a:pt x="3224089" y="14441"/>
                    <a:pt x="3224089" y="32254"/>
                  </a:cubicBezTo>
                  <a:lnTo>
                    <a:pt x="3224089" y="583655"/>
                  </a:lnTo>
                  <a:cubicBezTo>
                    <a:pt x="3224089" y="592210"/>
                    <a:pt x="3220691" y="600413"/>
                    <a:pt x="3214642" y="606462"/>
                  </a:cubicBezTo>
                  <a:cubicBezTo>
                    <a:pt x="3208593" y="612511"/>
                    <a:pt x="3200389" y="615909"/>
                    <a:pt x="3191835" y="615909"/>
                  </a:cubicBezTo>
                  <a:lnTo>
                    <a:pt x="32254" y="615909"/>
                  </a:lnTo>
                  <a:cubicBezTo>
                    <a:pt x="14441" y="615909"/>
                    <a:pt x="0" y="601469"/>
                    <a:pt x="0" y="583655"/>
                  </a:cubicBezTo>
                  <a:lnTo>
                    <a:pt x="0" y="32254"/>
                  </a:lnTo>
                  <a:cubicBezTo>
                    <a:pt x="0" y="14441"/>
                    <a:pt x="14441" y="0"/>
                    <a:pt x="32254" y="0"/>
                  </a:cubicBezTo>
                  <a:close/>
                </a:path>
              </a:pathLst>
            </a:custGeom>
            <a:solidFill>
              <a:srgbClr val="000000">
                <a:alpha val="0"/>
              </a:srgbClr>
            </a:solidFill>
          </p:spPr>
        </p:sp>
        <p:sp>
          <p:nvSpPr>
            <p:cNvPr name="TextBox 17" id="17"/>
            <p:cNvSpPr txBox="true"/>
            <p:nvPr/>
          </p:nvSpPr>
          <p:spPr>
            <a:xfrm>
              <a:off x="0" y="-47625"/>
              <a:ext cx="3224089" cy="663534"/>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Once the initial code is written and syntax errors are corrected, the program is executed to see the outputs The outputs may be correct or incorrect.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Incorrect outputs may result from incorrect logic or overlooking program constraints.</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By examining the outputs from the test cases, the errors or bugs are identified. The bugs are removed through the debugging process.</a:t>
              </a:r>
            </a:p>
          </p:txBody>
        </p:sp>
      </p:grpSp>
      <p:grpSp>
        <p:nvGrpSpPr>
          <p:cNvPr name="Group 18" id="18"/>
          <p:cNvGrpSpPr/>
          <p:nvPr/>
        </p:nvGrpSpPr>
        <p:grpSpPr>
          <a:xfrm rot="0">
            <a:off x="3023268" y="4683394"/>
            <a:ext cx="12390282" cy="1059982"/>
            <a:chOff x="0" y="0"/>
            <a:chExt cx="3263284" cy="279172"/>
          </a:xfrm>
        </p:grpSpPr>
        <p:sp>
          <p:nvSpPr>
            <p:cNvPr name="Freeform 19" id="19"/>
            <p:cNvSpPr/>
            <p:nvPr/>
          </p:nvSpPr>
          <p:spPr>
            <a:xfrm flipH="false" flipV="false" rot="0">
              <a:off x="0" y="0"/>
              <a:ext cx="3263284" cy="279172"/>
            </a:xfrm>
            <a:custGeom>
              <a:avLst/>
              <a:gdLst/>
              <a:ahLst/>
              <a:cxnLst/>
              <a:rect r="r" b="b" t="t" l="l"/>
              <a:pathLst>
                <a:path h="279172" w="3263284">
                  <a:moveTo>
                    <a:pt x="31867" y="0"/>
                  </a:moveTo>
                  <a:lnTo>
                    <a:pt x="3231417" y="0"/>
                  </a:lnTo>
                  <a:cubicBezTo>
                    <a:pt x="3239869" y="0"/>
                    <a:pt x="3247974" y="3357"/>
                    <a:pt x="3253951" y="9334"/>
                  </a:cubicBezTo>
                  <a:cubicBezTo>
                    <a:pt x="3259927" y="15310"/>
                    <a:pt x="3263284" y="23415"/>
                    <a:pt x="3263284" y="31867"/>
                  </a:cubicBezTo>
                  <a:lnTo>
                    <a:pt x="3263284" y="247305"/>
                  </a:lnTo>
                  <a:cubicBezTo>
                    <a:pt x="3263284" y="264905"/>
                    <a:pt x="3249017" y="279172"/>
                    <a:pt x="3231417" y="279172"/>
                  </a:cubicBezTo>
                  <a:lnTo>
                    <a:pt x="31867" y="279172"/>
                  </a:lnTo>
                  <a:cubicBezTo>
                    <a:pt x="23415" y="279172"/>
                    <a:pt x="15310" y="275815"/>
                    <a:pt x="9334" y="269839"/>
                  </a:cubicBezTo>
                  <a:cubicBezTo>
                    <a:pt x="3357" y="263862"/>
                    <a:pt x="0" y="255757"/>
                    <a:pt x="0" y="247305"/>
                  </a:cubicBezTo>
                  <a:lnTo>
                    <a:pt x="0" y="31867"/>
                  </a:lnTo>
                  <a:cubicBezTo>
                    <a:pt x="0" y="14267"/>
                    <a:pt x="14267" y="0"/>
                    <a:pt x="31867" y="0"/>
                  </a:cubicBezTo>
                  <a:close/>
                </a:path>
              </a:pathLst>
            </a:custGeom>
            <a:solidFill>
              <a:srgbClr val="C8DDFD"/>
            </a:solidFill>
          </p:spPr>
        </p:sp>
        <p:sp>
          <p:nvSpPr>
            <p:cNvPr name="TextBox 20" id="20"/>
            <p:cNvSpPr txBox="true"/>
            <p:nvPr/>
          </p:nvSpPr>
          <p:spPr>
            <a:xfrm>
              <a:off x="0" y="-95250"/>
              <a:ext cx="3263284" cy="374422"/>
            </a:xfrm>
            <a:prstGeom prst="rect">
              <a:avLst/>
            </a:prstGeom>
          </p:spPr>
          <p:txBody>
            <a:bodyPr anchor="ctr" rtlCol="false" tIns="50800" lIns="50800" bIns="50800" rIns="50800"/>
            <a:lstStyle/>
            <a:p>
              <a:pPr algn="l">
                <a:lnSpc>
                  <a:spcPts val="6719"/>
                </a:lnSpc>
              </a:pPr>
              <a:r>
                <a:rPr lang="en-US" sz="4799" spc="-163" b="true">
                  <a:solidFill>
                    <a:srgbClr val="FF751F"/>
                  </a:solidFill>
                  <a:latin typeface="DM Sans Bold"/>
                  <a:ea typeface="DM Sans Bold"/>
                  <a:cs typeface="DM Sans Bold"/>
                  <a:sym typeface="DM Sans Bold"/>
                </a:rPr>
                <a:t>1.5.4  :  Maintenance and Documentation</a:t>
              </a:r>
            </a:p>
          </p:txBody>
        </p:sp>
      </p:grpSp>
      <p:grpSp>
        <p:nvGrpSpPr>
          <p:cNvPr name="Group 21" id="21"/>
          <p:cNvGrpSpPr/>
          <p:nvPr/>
        </p:nvGrpSpPr>
        <p:grpSpPr>
          <a:xfrm rot="0">
            <a:off x="3023268" y="6102116"/>
            <a:ext cx="12241463" cy="3586569"/>
            <a:chOff x="0" y="0"/>
            <a:chExt cx="3224089" cy="944611"/>
          </a:xfrm>
        </p:grpSpPr>
        <p:sp>
          <p:nvSpPr>
            <p:cNvPr name="Freeform 22" id="22"/>
            <p:cNvSpPr/>
            <p:nvPr/>
          </p:nvSpPr>
          <p:spPr>
            <a:xfrm flipH="false" flipV="false" rot="0">
              <a:off x="0" y="0"/>
              <a:ext cx="3224089" cy="944611"/>
            </a:xfrm>
            <a:custGeom>
              <a:avLst/>
              <a:gdLst/>
              <a:ahLst/>
              <a:cxnLst/>
              <a:rect r="r" b="b" t="t" l="l"/>
              <a:pathLst>
                <a:path h="944611" w="3224089">
                  <a:moveTo>
                    <a:pt x="32254" y="0"/>
                  </a:moveTo>
                  <a:lnTo>
                    <a:pt x="3191835" y="0"/>
                  </a:lnTo>
                  <a:cubicBezTo>
                    <a:pt x="3209648" y="0"/>
                    <a:pt x="3224089" y="14441"/>
                    <a:pt x="3224089" y="32254"/>
                  </a:cubicBezTo>
                  <a:lnTo>
                    <a:pt x="3224089" y="912357"/>
                  </a:lnTo>
                  <a:cubicBezTo>
                    <a:pt x="3224089" y="920911"/>
                    <a:pt x="3220691" y="929115"/>
                    <a:pt x="3214642" y="935164"/>
                  </a:cubicBezTo>
                  <a:cubicBezTo>
                    <a:pt x="3208593" y="941213"/>
                    <a:pt x="3200389" y="944611"/>
                    <a:pt x="3191835" y="944611"/>
                  </a:cubicBezTo>
                  <a:lnTo>
                    <a:pt x="32254" y="944611"/>
                  </a:lnTo>
                  <a:cubicBezTo>
                    <a:pt x="14441" y="944611"/>
                    <a:pt x="0" y="930170"/>
                    <a:pt x="0" y="912357"/>
                  </a:cubicBezTo>
                  <a:lnTo>
                    <a:pt x="0" y="32254"/>
                  </a:lnTo>
                  <a:cubicBezTo>
                    <a:pt x="0" y="14441"/>
                    <a:pt x="14441" y="0"/>
                    <a:pt x="32254" y="0"/>
                  </a:cubicBezTo>
                  <a:close/>
                </a:path>
              </a:pathLst>
            </a:custGeom>
            <a:solidFill>
              <a:srgbClr val="000000">
                <a:alpha val="0"/>
              </a:srgbClr>
            </a:solidFill>
          </p:spPr>
        </p:sp>
        <p:sp>
          <p:nvSpPr>
            <p:cNvPr name="TextBox 23" id="23"/>
            <p:cNvSpPr txBox="true"/>
            <p:nvPr/>
          </p:nvSpPr>
          <p:spPr>
            <a:xfrm>
              <a:off x="0" y="-47625"/>
              <a:ext cx="3224089" cy="992236"/>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Any changes made to the program after its installation is called maintenance. Periodic maintenance is done to cater to the changing requirements in the place of deployment, or to debug previously unidentified bugs.</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A very important activity that needs to be done throughout each phase of program development is documentation. At the end of program development, it is desirable to consolidate all algorithms, flowcharts, etc. . . in a manual that states the program's functionality.</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1028700"/>
            <a:ext cx="12241463" cy="1300484"/>
            <a:chOff x="0" y="0"/>
            <a:chExt cx="3224089" cy="342514"/>
          </a:xfrm>
        </p:grpSpPr>
        <p:sp>
          <p:nvSpPr>
            <p:cNvPr name="Freeform 13" id="13"/>
            <p:cNvSpPr/>
            <p:nvPr/>
          </p:nvSpPr>
          <p:spPr>
            <a:xfrm flipH="false" flipV="false" rot="0">
              <a:off x="0" y="0"/>
              <a:ext cx="3224089" cy="342514"/>
            </a:xfrm>
            <a:custGeom>
              <a:avLst/>
              <a:gdLst/>
              <a:ahLst/>
              <a:cxnLst/>
              <a:rect r="r" b="b" t="t" l="l"/>
              <a:pathLst>
                <a:path h="342514" w="3224089">
                  <a:moveTo>
                    <a:pt x="32254" y="0"/>
                  </a:moveTo>
                  <a:lnTo>
                    <a:pt x="3191835" y="0"/>
                  </a:lnTo>
                  <a:cubicBezTo>
                    <a:pt x="3209648" y="0"/>
                    <a:pt x="3224089" y="14441"/>
                    <a:pt x="3224089" y="32254"/>
                  </a:cubicBezTo>
                  <a:lnTo>
                    <a:pt x="3224089" y="310260"/>
                  </a:lnTo>
                  <a:cubicBezTo>
                    <a:pt x="3224089" y="318814"/>
                    <a:pt x="3220691" y="327018"/>
                    <a:pt x="3214642" y="333067"/>
                  </a:cubicBezTo>
                  <a:cubicBezTo>
                    <a:pt x="3208593" y="339116"/>
                    <a:pt x="3200389" y="342514"/>
                    <a:pt x="3191835" y="342514"/>
                  </a:cubicBezTo>
                  <a:lnTo>
                    <a:pt x="32254" y="342514"/>
                  </a:lnTo>
                  <a:cubicBezTo>
                    <a:pt x="14441" y="342514"/>
                    <a:pt x="0" y="328074"/>
                    <a:pt x="0" y="310260"/>
                  </a:cubicBezTo>
                  <a:lnTo>
                    <a:pt x="0" y="32254"/>
                  </a:lnTo>
                  <a:cubicBezTo>
                    <a:pt x="0" y="14441"/>
                    <a:pt x="14441" y="0"/>
                    <a:pt x="32254" y="0"/>
                  </a:cubicBezTo>
                  <a:close/>
                </a:path>
              </a:pathLst>
            </a:custGeom>
            <a:solidFill>
              <a:srgbClr val="C8DDFD"/>
            </a:solidFill>
          </p:spPr>
        </p:sp>
        <p:sp>
          <p:nvSpPr>
            <p:cNvPr name="TextBox 14" id="14"/>
            <p:cNvSpPr txBox="true"/>
            <p:nvPr/>
          </p:nvSpPr>
          <p:spPr>
            <a:xfrm>
              <a:off x="0" y="-95250"/>
              <a:ext cx="3224089" cy="437764"/>
            </a:xfrm>
            <a:prstGeom prst="rect">
              <a:avLst/>
            </a:prstGeom>
          </p:spPr>
          <p:txBody>
            <a:bodyPr anchor="ctr" rtlCol="false" tIns="50800" lIns="50800" bIns="50800" rIns="50800"/>
            <a:lstStyle/>
            <a:p>
              <a:pPr algn="l">
                <a:lnSpc>
                  <a:spcPts val="6999"/>
                </a:lnSpc>
              </a:pPr>
              <a:r>
                <a:rPr lang="en-US" sz="4999" spc="-169" b="true">
                  <a:solidFill>
                    <a:srgbClr val="FF751F"/>
                  </a:solidFill>
                  <a:latin typeface="DM Sans Bold"/>
                  <a:ea typeface="DM Sans Bold"/>
                  <a:cs typeface="DM Sans Bold"/>
                  <a:sym typeface="DM Sans Bold"/>
                </a:rPr>
                <a:t>1.6  :  Algorithms and Flowcharts</a:t>
              </a:r>
            </a:p>
          </p:txBody>
        </p:sp>
      </p:grpSp>
      <p:grpSp>
        <p:nvGrpSpPr>
          <p:cNvPr name="Group 15" id="15"/>
          <p:cNvGrpSpPr/>
          <p:nvPr/>
        </p:nvGrpSpPr>
        <p:grpSpPr>
          <a:xfrm rot="0">
            <a:off x="2948859" y="2329184"/>
            <a:ext cx="12390282" cy="5375042"/>
            <a:chOff x="0" y="0"/>
            <a:chExt cx="3263284" cy="1415649"/>
          </a:xfrm>
        </p:grpSpPr>
        <p:sp>
          <p:nvSpPr>
            <p:cNvPr name="Freeform 16" id="16"/>
            <p:cNvSpPr/>
            <p:nvPr/>
          </p:nvSpPr>
          <p:spPr>
            <a:xfrm flipH="false" flipV="false" rot="0">
              <a:off x="0" y="0"/>
              <a:ext cx="3263284" cy="1415649"/>
            </a:xfrm>
            <a:custGeom>
              <a:avLst/>
              <a:gdLst/>
              <a:ahLst/>
              <a:cxnLst/>
              <a:rect r="r" b="b" t="t" l="l"/>
              <a:pathLst>
                <a:path h="1415649" w="3263284">
                  <a:moveTo>
                    <a:pt x="31867" y="0"/>
                  </a:moveTo>
                  <a:lnTo>
                    <a:pt x="3231417" y="0"/>
                  </a:lnTo>
                  <a:cubicBezTo>
                    <a:pt x="3239869" y="0"/>
                    <a:pt x="3247974" y="3357"/>
                    <a:pt x="3253951" y="9334"/>
                  </a:cubicBezTo>
                  <a:cubicBezTo>
                    <a:pt x="3259927" y="15310"/>
                    <a:pt x="3263284" y="23415"/>
                    <a:pt x="3263284" y="31867"/>
                  </a:cubicBezTo>
                  <a:lnTo>
                    <a:pt x="3263284" y="1383782"/>
                  </a:lnTo>
                  <a:cubicBezTo>
                    <a:pt x="3263284" y="1392234"/>
                    <a:pt x="3259927" y="1400339"/>
                    <a:pt x="3253951" y="1406315"/>
                  </a:cubicBezTo>
                  <a:cubicBezTo>
                    <a:pt x="3247974" y="1412292"/>
                    <a:pt x="3239869" y="1415649"/>
                    <a:pt x="3231417" y="1415649"/>
                  </a:cubicBezTo>
                  <a:lnTo>
                    <a:pt x="31867" y="1415649"/>
                  </a:lnTo>
                  <a:cubicBezTo>
                    <a:pt x="14267" y="1415649"/>
                    <a:pt x="0" y="1401382"/>
                    <a:pt x="0" y="1383782"/>
                  </a:cubicBezTo>
                  <a:lnTo>
                    <a:pt x="0" y="31867"/>
                  </a:lnTo>
                  <a:cubicBezTo>
                    <a:pt x="0" y="14267"/>
                    <a:pt x="14267" y="0"/>
                    <a:pt x="31867" y="0"/>
                  </a:cubicBezTo>
                  <a:close/>
                </a:path>
              </a:pathLst>
            </a:custGeom>
            <a:solidFill>
              <a:srgbClr val="000000">
                <a:alpha val="0"/>
              </a:srgbClr>
            </a:solidFill>
          </p:spPr>
        </p:sp>
        <p:sp>
          <p:nvSpPr>
            <p:cNvPr name="TextBox 17" id="17"/>
            <p:cNvSpPr txBox="true"/>
            <p:nvPr/>
          </p:nvSpPr>
          <p:spPr>
            <a:xfrm>
              <a:off x="0" y="-47625"/>
              <a:ext cx="3263284" cy="1463274"/>
            </a:xfrm>
            <a:prstGeom prst="rect">
              <a:avLst/>
            </a:prstGeom>
          </p:spPr>
          <p:txBody>
            <a:bodyPr anchor="ctr" rtlCol="false" tIns="50800" lIns="50800" bIns="50800" rIns="50800"/>
            <a:lstStyle/>
            <a:p>
              <a:pPr algn="l" marL="582925" indent="-291463" lvl="1">
                <a:lnSpc>
                  <a:spcPts val="3779"/>
                </a:lnSpc>
                <a:buFont typeface="Arial"/>
                <a:buChar char="•"/>
              </a:pPr>
              <a:r>
                <a:rPr lang="en-US" sz="2699" spc="-91">
                  <a:solidFill>
                    <a:srgbClr val="000000"/>
                  </a:solidFill>
                  <a:latin typeface="DM Sans"/>
                  <a:ea typeface="DM Sans"/>
                  <a:cs typeface="DM Sans"/>
                  <a:sym typeface="DM Sans"/>
                </a:rPr>
                <a:t>Algorithms and flowcharts these are two primary tools that are used to develop programming logic before we start coding in C. </a:t>
              </a:r>
            </a:p>
            <a:p>
              <a:pPr algn="l" marL="582925" indent="-291463" lvl="1">
                <a:lnSpc>
                  <a:spcPts val="3779"/>
                </a:lnSpc>
                <a:buFont typeface="Arial"/>
                <a:buChar char="•"/>
              </a:pPr>
              <a:r>
                <a:rPr lang="en-US" sz="2699" spc="-91">
                  <a:solidFill>
                    <a:srgbClr val="000000"/>
                  </a:solidFill>
                  <a:latin typeface="DM Sans"/>
                  <a:ea typeface="DM Sans"/>
                  <a:cs typeface="DM Sans"/>
                  <a:sym typeface="DM Sans"/>
                </a:rPr>
                <a:t>Logic development is a vital requirement of a programmer, and so it needs to be learnt.</a:t>
              </a:r>
            </a:p>
            <a:p>
              <a:pPr algn="l" marL="582925" indent="-291463" lvl="1">
                <a:lnSpc>
                  <a:spcPts val="3779"/>
                </a:lnSpc>
                <a:buFont typeface="Arial"/>
                <a:buChar char="•"/>
              </a:pPr>
              <a:r>
                <a:rPr lang="en-US" sz="2699" spc="-91">
                  <a:solidFill>
                    <a:srgbClr val="000000"/>
                  </a:solidFill>
                  <a:latin typeface="DM Sans"/>
                  <a:ea typeface="DM Sans"/>
                  <a:cs typeface="DM Sans"/>
                  <a:sym typeface="DM Sans"/>
                </a:rPr>
                <a:t>It is advisable to always use tools such as algorithms and flowcharts to first plan and then write a program. </a:t>
              </a:r>
            </a:p>
            <a:p>
              <a:pPr algn="l" marL="582925" indent="-291463" lvl="1">
                <a:lnSpc>
                  <a:spcPts val="3779"/>
                </a:lnSpc>
                <a:buFont typeface="Arial"/>
                <a:buChar char="•"/>
              </a:pPr>
              <a:r>
                <a:rPr lang="en-US" sz="2699" spc="-91">
                  <a:solidFill>
                    <a:srgbClr val="000000"/>
                  </a:solidFill>
                  <a:latin typeface="DM Sans"/>
                  <a:ea typeface="DM Sans"/>
                  <a:cs typeface="DM Sans"/>
                  <a:sym typeface="DM Sans"/>
                </a:rPr>
                <a:t>After all it has been rightly said that well planned is half done.</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629131"/>
            <a:ext cx="12390282" cy="1059982"/>
            <a:chOff x="0" y="0"/>
            <a:chExt cx="3263284" cy="279172"/>
          </a:xfrm>
        </p:grpSpPr>
        <p:sp>
          <p:nvSpPr>
            <p:cNvPr name="Freeform 13" id="13"/>
            <p:cNvSpPr/>
            <p:nvPr/>
          </p:nvSpPr>
          <p:spPr>
            <a:xfrm flipH="false" flipV="false" rot="0">
              <a:off x="0" y="0"/>
              <a:ext cx="3263284" cy="279172"/>
            </a:xfrm>
            <a:custGeom>
              <a:avLst/>
              <a:gdLst/>
              <a:ahLst/>
              <a:cxnLst/>
              <a:rect r="r" b="b" t="t" l="l"/>
              <a:pathLst>
                <a:path h="279172" w="3263284">
                  <a:moveTo>
                    <a:pt x="31867" y="0"/>
                  </a:moveTo>
                  <a:lnTo>
                    <a:pt x="3231417" y="0"/>
                  </a:lnTo>
                  <a:cubicBezTo>
                    <a:pt x="3239869" y="0"/>
                    <a:pt x="3247974" y="3357"/>
                    <a:pt x="3253951" y="9334"/>
                  </a:cubicBezTo>
                  <a:cubicBezTo>
                    <a:pt x="3259927" y="15310"/>
                    <a:pt x="3263284" y="23415"/>
                    <a:pt x="3263284" y="31867"/>
                  </a:cubicBezTo>
                  <a:lnTo>
                    <a:pt x="3263284" y="247305"/>
                  </a:lnTo>
                  <a:cubicBezTo>
                    <a:pt x="3263284" y="264905"/>
                    <a:pt x="3249017" y="279172"/>
                    <a:pt x="3231417" y="279172"/>
                  </a:cubicBezTo>
                  <a:lnTo>
                    <a:pt x="31867" y="279172"/>
                  </a:lnTo>
                  <a:cubicBezTo>
                    <a:pt x="23415" y="279172"/>
                    <a:pt x="15310" y="275815"/>
                    <a:pt x="9334" y="269839"/>
                  </a:cubicBezTo>
                  <a:cubicBezTo>
                    <a:pt x="3357" y="263862"/>
                    <a:pt x="0" y="255757"/>
                    <a:pt x="0" y="247305"/>
                  </a:cubicBezTo>
                  <a:lnTo>
                    <a:pt x="0" y="31867"/>
                  </a:lnTo>
                  <a:cubicBezTo>
                    <a:pt x="0" y="14267"/>
                    <a:pt x="14267" y="0"/>
                    <a:pt x="31867" y="0"/>
                  </a:cubicBezTo>
                  <a:close/>
                </a:path>
              </a:pathLst>
            </a:custGeom>
            <a:solidFill>
              <a:srgbClr val="C8DDFD"/>
            </a:solidFill>
          </p:spPr>
        </p:sp>
        <p:sp>
          <p:nvSpPr>
            <p:cNvPr name="TextBox 14" id="14"/>
            <p:cNvSpPr txBox="true"/>
            <p:nvPr/>
          </p:nvSpPr>
          <p:spPr>
            <a:xfrm>
              <a:off x="0" y="-95250"/>
              <a:ext cx="3263284" cy="374422"/>
            </a:xfrm>
            <a:prstGeom prst="rect">
              <a:avLst/>
            </a:prstGeom>
          </p:spPr>
          <p:txBody>
            <a:bodyPr anchor="ctr" rtlCol="false" tIns="50800" lIns="50800" bIns="50800" rIns="50800"/>
            <a:lstStyle/>
            <a:p>
              <a:pPr algn="l">
                <a:lnSpc>
                  <a:spcPts val="6719"/>
                </a:lnSpc>
              </a:pPr>
              <a:r>
                <a:rPr lang="en-US" sz="4799" spc="-163" b="true">
                  <a:solidFill>
                    <a:srgbClr val="FF751F"/>
                  </a:solidFill>
                  <a:latin typeface="DM Sans Bold"/>
                  <a:ea typeface="DM Sans Bold"/>
                  <a:cs typeface="DM Sans Bold"/>
                  <a:sym typeface="DM Sans Bold"/>
                </a:rPr>
                <a:t>1.6.1  :  Algorithm</a:t>
              </a:r>
            </a:p>
          </p:txBody>
        </p:sp>
      </p:grpSp>
      <p:grpSp>
        <p:nvGrpSpPr>
          <p:cNvPr name="Group 15" id="15"/>
          <p:cNvGrpSpPr/>
          <p:nvPr/>
        </p:nvGrpSpPr>
        <p:grpSpPr>
          <a:xfrm rot="0">
            <a:off x="3023268" y="2548341"/>
            <a:ext cx="12390282" cy="5784294"/>
            <a:chOff x="0" y="0"/>
            <a:chExt cx="3263284" cy="1523435"/>
          </a:xfrm>
        </p:grpSpPr>
        <p:sp>
          <p:nvSpPr>
            <p:cNvPr name="Freeform 16" id="16"/>
            <p:cNvSpPr/>
            <p:nvPr/>
          </p:nvSpPr>
          <p:spPr>
            <a:xfrm flipH="false" flipV="false" rot="0">
              <a:off x="0" y="0"/>
              <a:ext cx="3263284" cy="1523435"/>
            </a:xfrm>
            <a:custGeom>
              <a:avLst/>
              <a:gdLst/>
              <a:ahLst/>
              <a:cxnLst/>
              <a:rect r="r" b="b" t="t" l="l"/>
              <a:pathLst>
                <a:path h="1523435" w="3263284">
                  <a:moveTo>
                    <a:pt x="31867" y="0"/>
                  </a:moveTo>
                  <a:lnTo>
                    <a:pt x="3231417" y="0"/>
                  </a:lnTo>
                  <a:cubicBezTo>
                    <a:pt x="3239869" y="0"/>
                    <a:pt x="3247974" y="3357"/>
                    <a:pt x="3253951" y="9334"/>
                  </a:cubicBezTo>
                  <a:cubicBezTo>
                    <a:pt x="3259927" y="15310"/>
                    <a:pt x="3263284" y="23415"/>
                    <a:pt x="3263284" y="31867"/>
                  </a:cubicBezTo>
                  <a:lnTo>
                    <a:pt x="3263284" y="1491569"/>
                  </a:lnTo>
                  <a:cubicBezTo>
                    <a:pt x="3263284" y="1509168"/>
                    <a:pt x="3249017" y="1523435"/>
                    <a:pt x="3231417" y="1523435"/>
                  </a:cubicBezTo>
                  <a:lnTo>
                    <a:pt x="31867" y="1523435"/>
                  </a:lnTo>
                  <a:cubicBezTo>
                    <a:pt x="14267" y="1523435"/>
                    <a:pt x="0" y="1509168"/>
                    <a:pt x="0" y="1491569"/>
                  </a:cubicBezTo>
                  <a:lnTo>
                    <a:pt x="0" y="31867"/>
                  </a:lnTo>
                  <a:cubicBezTo>
                    <a:pt x="0" y="14267"/>
                    <a:pt x="14267" y="0"/>
                    <a:pt x="31867" y="0"/>
                  </a:cubicBezTo>
                  <a:close/>
                </a:path>
              </a:pathLst>
            </a:custGeom>
            <a:solidFill>
              <a:srgbClr val="000000">
                <a:alpha val="0"/>
              </a:srgbClr>
            </a:solidFill>
          </p:spPr>
        </p:sp>
        <p:sp>
          <p:nvSpPr>
            <p:cNvPr name="TextBox 17" id="17"/>
            <p:cNvSpPr txBox="true"/>
            <p:nvPr/>
          </p:nvSpPr>
          <p:spPr>
            <a:xfrm>
              <a:off x="0" y="-47625"/>
              <a:ext cx="3263284" cy="1571060"/>
            </a:xfrm>
            <a:prstGeom prst="rect">
              <a:avLst/>
            </a:prstGeom>
          </p:spPr>
          <p:txBody>
            <a:bodyPr anchor="ctr" rtlCol="false" tIns="50800" lIns="50800" bIns="50800" rIns="50800"/>
            <a:lstStyle/>
            <a:p>
              <a:pPr algn="l" marL="582925" indent="-291463" lvl="1">
                <a:lnSpc>
                  <a:spcPts val="3779"/>
                </a:lnSpc>
                <a:buAutoNum type="arabicPeriod" startAt="1"/>
              </a:pPr>
              <a:r>
                <a:rPr lang="en-US" sz="2699" spc="-91">
                  <a:solidFill>
                    <a:srgbClr val="000000"/>
                  </a:solidFill>
                  <a:latin typeface="DM Sans"/>
                  <a:ea typeface="DM Sans"/>
                  <a:cs typeface="DM Sans"/>
                  <a:sym typeface="DM Sans"/>
                </a:rPr>
                <a:t>An algorithm is a finite set of unambiguous instructions which, when executed, performs a task correctly. There are three characteristic features in this description of an algorithm. They are:</a:t>
              </a:r>
            </a:p>
            <a:p>
              <a:pPr algn="l" marL="582925" indent="-291463" lvl="1">
                <a:lnSpc>
                  <a:spcPts val="3779"/>
                </a:lnSpc>
                <a:buFont typeface="Arial"/>
                <a:buChar char="•"/>
              </a:pPr>
              <a:r>
                <a:rPr lang="en-US" sz="2699" spc="-91">
                  <a:solidFill>
                    <a:srgbClr val="000000"/>
                  </a:solidFill>
                  <a:latin typeface="DM Sans"/>
                  <a:ea typeface="DM Sans"/>
                  <a:cs typeface="DM Sans"/>
                  <a:sym typeface="DM Sans"/>
                </a:rPr>
                <a:t>The number of steps required to perform the task should be finite.</a:t>
              </a:r>
            </a:p>
            <a:p>
              <a:pPr algn="l" marL="582925" indent="-291463" lvl="1">
                <a:lnSpc>
                  <a:spcPts val="3779"/>
                </a:lnSpc>
                <a:buFont typeface="Arial"/>
                <a:buChar char="•"/>
              </a:pPr>
              <a:r>
                <a:rPr lang="en-US" sz="2699" spc="-91">
                  <a:solidFill>
                    <a:srgbClr val="000000"/>
                  </a:solidFill>
                  <a:latin typeface="DM Sans"/>
                  <a:ea typeface="DM Sans"/>
                  <a:cs typeface="DM Sans"/>
                  <a:sym typeface="DM Sans"/>
                </a:rPr>
                <a:t>Each of the instruction in the algorithm should be unambiguous in nature; meaning on the execution of each such instruction, the outcome should be definite and predictable. </a:t>
              </a:r>
            </a:p>
            <a:p>
              <a:pPr algn="l" marL="582925" indent="-291463" lvl="1">
                <a:lnSpc>
                  <a:spcPts val="3779"/>
                </a:lnSpc>
                <a:buFont typeface="Arial"/>
                <a:buChar char="•"/>
              </a:pPr>
              <a:r>
                <a:rPr lang="en-US" sz="2699" spc="-91">
                  <a:solidFill>
                    <a:srgbClr val="000000"/>
                  </a:solidFill>
                  <a:latin typeface="DM Sans"/>
                  <a:ea typeface="DM Sans"/>
                  <a:cs typeface="DM Sans"/>
                  <a:sym typeface="DM Sans"/>
                </a:rPr>
                <a:t>Finally, the algorithm should solve the problem correctly. In other words, on the execution of the algorithm, the objective should be fulfilled.</a:t>
              </a:r>
            </a:p>
            <a:p>
              <a:pPr algn="l" marL="582925" indent="-291463" lvl="1">
                <a:lnSpc>
                  <a:spcPts val="3779"/>
                </a:lnSpc>
                <a:buAutoNum type="arabicPeriod" startAt="1"/>
              </a:pPr>
              <a:r>
                <a:rPr lang="en-US" sz="2699" spc="-91">
                  <a:solidFill>
                    <a:srgbClr val="000000"/>
                  </a:solidFill>
                  <a:latin typeface="DM Sans"/>
                  <a:ea typeface="DM Sans"/>
                  <a:cs typeface="DM Sans"/>
                  <a:sym typeface="DM Sans"/>
                </a:rPr>
                <a:t>There are no defined rules to write an algorithm.</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927224" y="508781"/>
            <a:ext cx="1932752" cy="638937"/>
            <a:chOff x="0" y="0"/>
            <a:chExt cx="509038" cy="168280"/>
          </a:xfrm>
        </p:grpSpPr>
        <p:sp>
          <p:nvSpPr>
            <p:cNvPr name="Freeform 13" id="13"/>
            <p:cNvSpPr/>
            <p:nvPr/>
          </p:nvSpPr>
          <p:spPr>
            <a:xfrm flipH="false" flipV="false" rot="0">
              <a:off x="0" y="0"/>
              <a:ext cx="509038" cy="168280"/>
            </a:xfrm>
            <a:custGeom>
              <a:avLst/>
              <a:gdLst/>
              <a:ahLst/>
              <a:cxnLst/>
              <a:rect r="r" b="b" t="t" l="l"/>
              <a:pathLst>
                <a:path h="168280" w="509038">
                  <a:moveTo>
                    <a:pt x="0" y="0"/>
                  </a:moveTo>
                  <a:lnTo>
                    <a:pt x="509038" y="0"/>
                  </a:lnTo>
                  <a:lnTo>
                    <a:pt x="509038" y="168280"/>
                  </a:lnTo>
                  <a:lnTo>
                    <a:pt x="0" y="168280"/>
                  </a:lnTo>
                  <a:close/>
                </a:path>
              </a:pathLst>
            </a:custGeom>
            <a:solidFill>
              <a:srgbClr val="000000"/>
            </a:solidFill>
          </p:spPr>
        </p:sp>
        <p:sp>
          <p:nvSpPr>
            <p:cNvPr name="TextBox 14" id="14"/>
            <p:cNvSpPr txBox="true"/>
            <p:nvPr/>
          </p:nvSpPr>
          <p:spPr>
            <a:xfrm>
              <a:off x="0" y="-57150"/>
              <a:ext cx="509038" cy="225430"/>
            </a:xfrm>
            <a:prstGeom prst="rect">
              <a:avLst/>
            </a:prstGeom>
          </p:spPr>
          <p:txBody>
            <a:bodyPr anchor="ctr" rtlCol="false" tIns="50800" lIns="50800" bIns="50800" rIns="50800"/>
            <a:lstStyle/>
            <a:p>
              <a:pPr algn="ctr">
                <a:lnSpc>
                  <a:spcPts val="4199"/>
                </a:lnSpc>
              </a:pPr>
              <a:r>
                <a:rPr lang="en-US" sz="2999" spc="-101">
                  <a:solidFill>
                    <a:srgbClr val="FFFFFF"/>
                  </a:solidFill>
                  <a:latin typeface="DM Sans"/>
                  <a:ea typeface="DM Sans"/>
                  <a:cs typeface="DM Sans"/>
                  <a:sym typeface="DM Sans"/>
                </a:rPr>
                <a:t>Example </a:t>
              </a:r>
            </a:p>
          </p:txBody>
        </p:sp>
      </p:grpSp>
      <p:grpSp>
        <p:nvGrpSpPr>
          <p:cNvPr name="Group 15" id="15"/>
          <p:cNvGrpSpPr/>
          <p:nvPr/>
        </p:nvGrpSpPr>
        <p:grpSpPr>
          <a:xfrm rot="0">
            <a:off x="1927224" y="1713594"/>
            <a:ext cx="12966956" cy="5021596"/>
            <a:chOff x="0" y="0"/>
            <a:chExt cx="3415165" cy="1322560"/>
          </a:xfrm>
        </p:grpSpPr>
        <p:sp>
          <p:nvSpPr>
            <p:cNvPr name="Freeform 16" id="16"/>
            <p:cNvSpPr/>
            <p:nvPr/>
          </p:nvSpPr>
          <p:spPr>
            <a:xfrm flipH="false" flipV="false" rot="0">
              <a:off x="0" y="0"/>
              <a:ext cx="3415166" cy="1322560"/>
            </a:xfrm>
            <a:custGeom>
              <a:avLst/>
              <a:gdLst/>
              <a:ahLst/>
              <a:cxnLst/>
              <a:rect r="r" b="b" t="t" l="l"/>
              <a:pathLst>
                <a:path h="1322560" w="3415166">
                  <a:moveTo>
                    <a:pt x="30450" y="0"/>
                  </a:moveTo>
                  <a:lnTo>
                    <a:pt x="3384716" y="0"/>
                  </a:lnTo>
                  <a:cubicBezTo>
                    <a:pt x="3392792" y="0"/>
                    <a:pt x="3400537" y="3208"/>
                    <a:pt x="3406247" y="8918"/>
                  </a:cubicBezTo>
                  <a:cubicBezTo>
                    <a:pt x="3411958" y="14629"/>
                    <a:pt x="3415166" y="22374"/>
                    <a:pt x="3415166" y="30450"/>
                  </a:cubicBezTo>
                  <a:lnTo>
                    <a:pt x="3415166" y="1292111"/>
                  </a:lnTo>
                  <a:cubicBezTo>
                    <a:pt x="3415166" y="1300187"/>
                    <a:pt x="3411958" y="1307932"/>
                    <a:pt x="3406247" y="1313642"/>
                  </a:cubicBezTo>
                  <a:cubicBezTo>
                    <a:pt x="3400537" y="1319352"/>
                    <a:pt x="3392792" y="1322560"/>
                    <a:pt x="3384716" y="1322560"/>
                  </a:cubicBezTo>
                  <a:lnTo>
                    <a:pt x="30450" y="1322560"/>
                  </a:lnTo>
                  <a:cubicBezTo>
                    <a:pt x="22374" y="1322560"/>
                    <a:pt x="14629" y="1319352"/>
                    <a:pt x="8918" y="1313642"/>
                  </a:cubicBezTo>
                  <a:cubicBezTo>
                    <a:pt x="3208" y="1307932"/>
                    <a:pt x="0" y="1300187"/>
                    <a:pt x="0" y="1292111"/>
                  </a:cubicBezTo>
                  <a:lnTo>
                    <a:pt x="0" y="30450"/>
                  </a:lnTo>
                  <a:cubicBezTo>
                    <a:pt x="0" y="22374"/>
                    <a:pt x="3208" y="14629"/>
                    <a:pt x="8918" y="8918"/>
                  </a:cubicBezTo>
                  <a:cubicBezTo>
                    <a:pt x="14629" y="3208"/>
                    <a:pt x="22374" y="0"/>
                    <a:pt x="30450" y="0"/>
                  </a:cubicBezTo>
                  <a:close/>
                </a:path>
              </a:pathLst>
            </a:custGeom>
            <a:solidFill>
              <a:srgbClr val="000000">
                <a:alpha val="0"/>
              </a:srgbClr>
            </a:solidFill>
          </p:spPr>
        </p:sp>
        <p:sp>
          <p:nvSpPr>
            <p:cNvPr name="TextBox 17" id="17"/>
            <p:cNvSpPr txBox="true"/>
            <p:nvPr/>
          </p:nvSpPr>
          <p:spPr>
            <a:xfrm>
              <a:off x="0" y="-47625"/>
              <a:ext cx="3415165" cy="1370185"/>
            </a:xfrm>
            <a:prstGeom prst="rect">
              <a:avLst/>
            </a:prstGeom>
          </p:spPr>
          <p:txBody>
            <a:bodyPr anchor="ctr" rtlCol="false" tIns="50800" lIns="50800" bIns="50800" rIns="50800"/>
            <a:lstStyle/>
            <a:p>
              <a:pPr algn="l">
                <a:lnSpc>
                  <a:spcPts val="3359"/>
                </a:lnSpc>
              </a:pPr>
              <a:r>
                <a:rPr lang="en-US" sz="2399" spc="-81" b="true">
                  <a:solidFill>
                    <a:srgbClr val="000000"/>
                  </a:solidFill>
                  <a:latin typeface="DM Sans Bold"/>
                  <a:ea typeface="DM Sans Bold"/>
                  <a:cs typeface="DM Sans Bold"/>
                  <a:sym typeface="DM Sans Bold"/>
                </a:rPr>
                <a:t>Problem </a:t>
              </a:r>
              <a:r>
                <a:rPr lang="en-US" sz="2399" spc="-81">
                  <a:solidFill>
                    <a:srgbClr val="000000"/>
                  </a:solidFill>
                  <a:latin typeface="DM Sans"/>
                  <a:ea typeface="DM Sans"/>
                  <a:cs typeface="DM Sans"/>
                  <a:sym typeface="DM Sans"/>
                </a:rPr>
                <a:t>- Develop an algorithm to find the average of three number taken input from the user.</a:t>
              </a:r>
            </a:p>
            <a:p>
              <a:pPr algn="l">
                <a:lnSpc>
                  <a:spcPts val="3359"/>
                </a:lnSpc>
              </a:pPr>
            </a:p>
            <a:p>
              <a:pPr algn="l">
                <a:lnSpc>
                  <a:spcPts val="3359"/>
                </a:lnSpc>
              </a:pPr>
              <a:r>
                <a:rPr lang="en-US" sz="2399" spc="-81" b="true">
                  <a:solidFill>
                    <a:srgbClr val="000000"/>
                  </a:solidFill>
                  <a:latin typeface="DM Sans Bold"/>
                  <a:ea typeface="DM Sans Bold"/>
                  <a:cs typeface="DM Sans Bold"/>
                  <a:sym typeface="DM Sans Bold"/>
                </a:rPr>
                <a:t>Algorithm Average</a:t>
              </a:r>
            </a:p>
            <a:p>
              <a:pPr algn="l">
                <a:lnSpc>
                  <a:spcPts val="3359"/>
                </a:lnSpc>
              </a:pPr>
              <a:r>
                <a:rPr lang="en-US" sz="2399" spc="-81" b="true">
                  <a:solidFill>
                    <a:srgbClr val="000000"/>
                  </a:solidFill>
                  <a:latin typeface="DM Sans Bold"/>
                  <a:ea typeface="DM Sans Bold"/>
                  <a:cs typeface="DM Sans Bold"/>
                  <a:sym typeface="DM Sans Bold"/>
                </a:rPr>
                <a:t>Step 0 </a:t>
              </a:r>
              <a:r>
                <a:rPr lang="en-US" sz="2399" spc="-81">
                  <a:solidFill>
                    <a:srgbClr val="000000"/>
                  </a:solidFill>
                  <a:latin typeface="DM Sans"/>
                  <a:ea typeface="DM Sans"/>
                  <a:cs typeface="DM Sans"/>
                  <a:sym typeface="DM Sans"/>
                </a:rPr>
                <a:t>: Start</a:t>
              </a:r>
            </a:p>
            <a:p>
              <a:pPr algn="l">
                <a:lnSpc>
                  <a:spcPts val="3359"/>
                </a:lnSpc>
              </a:pPr>
              <a:r>
                <a:rPr lang="en-US" sz="2399" spc="-81" b="true">
                  <a:solidFill>
                    <a:srgbClr val="000000"/>
                  </a:solidFill>
                  <a:latin typeface="DM Sans Bold"/>
                  <a:ea typeface="DM Sans Bold"/>
                  <a:cs typeface="DM Sans Bold"/>
                  <a:sym typeface="DM Sans Bold"/>
                </a:rPr>
                <a:t>Step 1 </a:t>
              </a:r>
              <a:r>
                <a:rPr lang="en-US" sz="2399" spc="-81">
                  <a:solidFill>
                    <a:srgbClr val="000000"/>
                  </a:solidFill>
                  <a:latin typeface="DM Sans"/>
                  <a:ea typeface="DM Sans"/>
                  <a:cs typeface="DM Sans"/>
                  <a:sym typeface="DM Sans"/>
                </a:rPr>
                <a:t> : Input number in variable A</a:t>
              </a:r>
            </a:p>
            <a:p>
              <a:pPr algn="l">
                <a:lnSpc>
                  <a:spcPts val="3359"/>
                </a:lnSpc>
              </a:pPr>
              <a:r>
                <a:rPr lang="en-US" sz="2399" spc="-81" b="true">
                  <a:solidFill>
                    <a:srgbClr val="000000"/>
                  </a:solidFill>
                  <a:latin typeface="DM Sans Bold"/>
                  <a:ea typeface="DM Sans Bold"/>
                  <a:cs typeface="DM Sans Bold"/>
                  <a:sym typeface="DM Sans Bold"/>
                </a:rPr>
                <a:t>Step 2 </a:t>
              </a:r>
              <a:r>
                <a:rPr lang="en-US" sz="2399" spc="-81">
                  <a:solidFill>
                    <a:srgbClr val="000000"/>
                  </a:solidFill>
                  <a:latin typeface="DM Sans"/>
                  <a:ea typeface="DM Sans"/>
                  <a:cs typeface="DM Sans"/>
                  <a:sym typeface="DM Sans"/>
                </a:rPr>
                <a:t>: Input number in variable B</a:t>
              </a:r>
            </a:p>
            <a:p>
              <a:pPr algn="l">
                <a:lnSpc>
                  <a:spcPts val="3359"/>
                </a:lnSpc>
              </a:pPr>
              <a:r>
                <a:rPr lang="en-US" sz="2399" spc="-81" b="true">
                  <a:solidFill>
                    <a:srgbClr val="000000"/>
                  </a:solidFill>
                  <a:latin typeface="DM Sans Bold"/>
                  <a:ea typeface="DM Sans Bold"/>
                  <a:cs typeface="DM Sans Bold"/>
                  <a:sym typeface="DM Sans Bold"/>
                </a:rPr>
                <a:t>Step 3</a:t>
              </a:r>
              <a:r>
                <a:rPr lang="en-US" sz="2399" spc="-81">
                  <a:solidFill>
                    <a:srgbClr val="000000"/>
                  </a:solidFill>
                  <a:latin typeface="DM Sans"/>
                  <a:ea typeface="DM Sans"/>
                  <a:cs typeface="DM Sans"/>
                  <a:sym typeface="DM Sans"/>
                </a:rPr>
                <a:t> : Input number in variable C</a:t>
              </a:r>
            </a:p>
            <a:p>
              <a:pPr algn="l">
                <a:lnSpc>
                  <a:spcPts val="3359"/>
                </a:lnSpc>
              </a:pPr>
              <a:r>
                <a:rPr lang="en-US" sz="2399" spc="-81" b="true">
                  <a:solidFill>
                    <a:srgbClr val="000000"/>
                  </a:solidFill>
                  <a:latin typeface="DM Sans Bold"/>
                  <a:ea typeface="DM Sans Bold"/>
                  <a:cs typeface="DM Sans Bold"/>
                  <a:sym typeface="DM Sans Bold"/>
                </a:rPr>
                <a:t>Step 4 </a:t>
              </a:r>
              <a:r>
                <a:rPr lang="en-US" sz="2399" spc="-81">
                  <a:solidFill>
                    <a:srgbClr val="000000"/>
                  </a:solidFill>
                  <a:latin typeface="DM Sans"/>
                  <a:ea typeface="DM Sans"/>
                  <a:cs typeface="DM Sans"/>
                  <a:sym typeface="DM Sans"/>
                </a:rPr>
                <a:t>: Sum = A + B + C</a:t>
              </a:r>
            </a:p>
            <a:p>
              <a:pPr algn="l">
                <a:lnSpc>
                  <a:spcPts val="3359"/>
                </a:lnSpc>
              </a:pPr>
              <a:r>
                <a:rPr lang="en-US" sz="2399" spc="-81" b="true">
                  <a:solidFill>
                    <a:srgbClr val="000000"/>
                  </a:solidFill>
                  <a:latin typeface="DM Sans Bold"/>
                  <a:ea typeface="DM Sans Bold"/>
                  <a:cs typeface="DM Sans Bold"/>
                  <a:sym typeface="DM Sans Bold"/>
                </a:rPr>
                <a:t>Step 5 </a:t>
              </a:r>
              <a:r>
                <a:rPr lang="en-US" sz="2399" spc="-81">
                  <a:solidFill>
                    <a:srgbClr val="000000"/>
                  </a:solidFill>
                  <a:latin typeface="DM Sans"/>
                  <a:ea typeface="DM Sans"/>
                  <a:cs typeface="DM Sans"/>
                  <a:sym typeface="DM Sans"/>
                </a:rPr>
                <a:t>: Avg = Sum / 3</a:t>
              </a:r>
            </a:p>
            <a:p>
              <a:pPr algn="l">
                <a:lnSpc>
                  <a:spcPts val="3359"/>
                </a:lnSpc>
              </a:pPr>
              <a:r>
                <a:rPr lang="en-US" sz="2399" spc="-81" b="true">
                  <a:solidFill>
                    <a:srgbClr val="000000"/>
                  </a:solidFill>
                  <a:latin typeface="DM Sans Bold"/>
                  <a:ea typeface="DM Sans Bold"/>
                  <a:cs typeface="DM Sans Bold"/>
                  <a:sym typeface="DM Sans Bold"/>
                </a:rPr>
                <a:t>Step 6 </a:t>
              </a:r>
              <a:r>
                <a:rPr lang="en-US" sz="2399" spc="-81">
                  <a:solidFill>
                    <a:srgbClr val="000000"/>
                  </a:solidFill>
                  <a:latin typeface="DM Sans"/>
                  <a:ea typeface="DM Sans"/>
                  <a:cs typeface="DM Sans"/>
                  <a:sym typeface="DM Sans"/>
                </a:rPr>
                <a:t>: Print Avg</a:t>
              </a:r>
            </a:p>
            <a:p>
              <a:pPr algn="l">
                <a:lnSpc>
                  <a:spcPts val="3359"/>
                </a:lnSpc>
              </a:pPr>
              <a:r>
                <a:rPr lang="en-US" sz="2399" spc="-81" b="true">
                  <a:solidFill>
                    <a:srgbClr val="000000"/>
                  </a:solidFill>
                  <a:latin typeface="DM Sans Bold"/>
                  <a:ea typeface="DM Sans Bold"/>
                  <a:cs typeface="DM Sans Bold"/>
                  <a:sym typeface="DM Sans Bold"/>
                </a:rPr>
                <a:t>Step 7 </a:t>
              </a:r>
              <a:r>
                <a:rPr lang="en-US" sz="2399" spc="-81">
                  <a:solidFill>
                    <a:srgbClr val="000000"/>
                  </a:solidFill>
                  <a:latin typeface="DM Sans"/>
                  <a:ea typeface="DM Sans"/>
                  <a:cs typeface="DM Sans"/>
                  <a:sym typeface="DM Sans"/>
                </a:rPr>
                <a:t>: End</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3023268" y="629131"/>
            <a:ext cx="12390282" cy="1059982"/>
            <a:chOff x="0" y="0"/>
            <a:chExt cx="3263284" cy="279172"/>
          </a:xfrm>
        </p:grpSpPr>
        <p:sp>
          <p:nvSpPr>
            <p:cNvPr name="Freeform 13" id="13"/>
            <p:cNvSpPr/>
            <p:nvPr/>
          </p:nvSpPr>
          <p:spPr>
            <a:xfrm flipH="false" flipV="false" rot="0">
              <a:off x="0" y="0"/>
              <a:ext cx="3263284" cy="279172"/>
            </a:xfrm>
            <a:custGeom>
              <a:avLst/>
              <a:gdLst/>
              <a:ahLst/>
              <a:cxnLst/>
              <a:rect r="r" b="b" t="t" l="l"/>
              <a:pathLst>
                <a:path h="279172" w="3263284">
                  <a:moveTo>
                    <a:pt x="31867" y="0"/>
                  </a:moveTo>
                  <a:lnTo>
                    <a:pt x="3231417" y="0"/>
                  </a:lnTo>
                  <a:cubicBezTo>
                    <a:pt x="3239869" y="0"/>
                    <a:pt x="3247974" y="3357"/>
                    <a:pt x="3253951" y="9334"/>
                  </a:cubicBezTo>
                  <a:cubicBezTo>
                    <a:pt x="3259927" y="15310"/>
                    <a:pt x="3263284" y="23415"/>
                    <a:pt x="3263284" y="31867"/>
                  </a:cubicBezTo>
                  <a:lnTo>
                    <a:pt x="3263284" y="247305"/>
                  </a:lnTo>
                  <a:cubicBezTo>
                    <a:pt x="3263284" y="264905"/>
                    <a:pt x="3249017" y="279172"/>
                    <a:pt x="3231417" y="279172"/>
                  </a:cubicBezTo>
                  <a:lnTo>
                    <a:pt x="31867" y="279172"/>
                  </a:lnTo>
                  <a:cubicBezTo>
                    <a:pt x="23415" y="279172"/>
                    <a:pt x="15310" y="275815"/>
                    <a:pt x="9334" y="269839"/>
                  </a:cubicBezTo>
                  <a:cubicBezTo>
                    <a:pt x="3357" y="263862"/>
                    <a:pt x="0" y="255757"/>
                    <a:pt x="0" y="247305"/>
                  </a:cubicBezTo>
                  <a:lnTo>
                    <a:pt x="0" y="31867"/>
                  </a:lnTo>
                  <a:cubicBezTo>
                    <a:pt x="0" y="14267"/>
                    <a:pt x="14267" y="0"/>
                    <a:pt x="31867" y="0"/>
                  </a:cubicBezTo>
                  <a:close/>
                </a:path>
              </a:pathLst>
            </a:custGeom>
            <a:solidFill>
              <a:srgbClr val="C8DDFD"/>
            </a:solidFill>
          </p:spPr>
        </p:sp>
        <p:sp>
          <p:nvSpPr>
            <p:cNvPr name="TextBox 14" id="14"/>
            <p:cNvSpPr txBox="true"/>
            <p:nvPr/>
          </p:nvSpPr>
          <p:spPr>
            <a:xfrm>
              <a:off x="0" y="-95250"/>
              <a:ext cx="3263284" cy="374422"/>
            </a:xfrm>
            <a:prstGeom prst="rect">
              <a:avLst/>
            </a:prstGeom>
          </p:spPr>
          <p:txBody>
            <a:bodyPr anchor="ctr" rtlCol="false" tIns="50800" lIns="50800" bIns="50800" rIns="50800"/>
            <a:lstStyle/>
            <a:p>
              <a:pPr algn="l">
                <a:lnSpc>
                  <a:spcPts val="6719"/>
                </a:lnSpc>
              </a:pPr>
              <a:r>
                <a:rPr lang="en-US" sz="4799" spc="-163" b="true">
                  <a:solidFill>
                    <a:srgbClr val="FF751F"/>
                  </a:solidFill>
                  <a:latin typeface="DM Sans Bold"/>
                  <a:ea typeface="DM Sans Bold"/>
                  <a:cs typeface="DM Sans Bold"/>
                  <a:sym typeface="DM Sans Bold"/>
                </a:rPr>
                <a:t>1.6.2  :  Flowchart</a:t>
              </a:r>
            </a:p>
          </p:txBody>
        </p:sp>
      </p:grpSp>
      <p:grpSp>
        <p:nvGrpSpPr>
          <p:cNvPr name="Group 15" id="15"/>
          <p:cNvGrpSpPr/>
          <p:nvPr/>
        </p:nvGrpSpPr>
        <p:grpSpPr>
          <a:xfrm rot="0">
            <a:off x="2948859" y="1982913"/>
            <a:ext cx="12390282" cy="2324251"/>
            <a:chOff x="0" y="0"/>
            <a:chExt cx="3263284" cy="612148"/>
          </a:xfrm>
        </p:grpSpPr>
        <p:sp>
          <p:nvSpPr>
            <p:cNvPr name="Freeform 16" id="16"/>
            <p:cNvSpPr/>
            <p:nvPr/>
          </p:nvSpPr>
          <p:spPr>
            <a:xfrm flipH="false" flipV="false" rot="0">
              <a:off x="0" y="0"/>
              <a:ext cx="3263284" cy="612148"/>
            </a:xfrm>
            <a:custGeom>
              <a:avLst/>
              <a:gdLst/>
              <a:ahLst/>
              <a:cxnLst/>
              <a:rect r="r" b="b" t="t" l="l"/>
              <a:pathLst>
                <a:path h="612148" w="3263284">
                  <a:moveTo>
                    <a:pt x="31867" y="0"/>
                  </a:moveTo>
                  <a:lnTo>
                    <a:pt x="3231417" y="0"/>
                  </a:lnTo>
                  <a:cubicBezTo>
                    <a:pt x="3239869" y="0"/>
                    <a:pt x="3247974" y="3357"/>
                    <a:pt x="3253951" y="9334"/>
                  </a:cubicBezTo>
                  <a:cubicBezTo>
                    <a:pt x="3259927" y="15310"/>
                    <a:pt x="3263284" y="23415"/>
                    <a:pt x="3263284" y="31867"/>
                  </a:cubicBezTo>
                  <a:lnTo>
                    <a:pt x="3263284" y="580282"/>
                  </a:lnTo>
                  <a:cubicBezTo>
                    <a:pt x="3263284" y="597881"/>
                    <a:pt x="3249017" y="612148"/>
                    <a:pt x="3231417" y="612148"/>
                  </a:cubicBezTo>
                  <a:lnTo>
                    <a:pt x="31867" y="612148"/>
                  </a:lnTo>
                  <a:cubicBezTo>
                    <a:pt x="14267" y="612148"/>
                    <a:pt x="0" y="597881"/>
                    <a:pt x="0" y="580282"/>
                  </a:cubicBezTo>
                  <a:lnTo>
                    <a:pt x="0" y="31867"/>
                  </a:lnTo>
                  <a:cubicBezTo>
                    <a:pt x="0" y="14267"/>
                    <a:pt x="14267" y="0"/>
                    <a:pt x="31867" y="0"/>
                  </a:cubicBezTo>
                  <a:close/>
                </a:path>
              </a:pathLst>
            </a:custGeom>
            <a:solidFill>
              <a:srgbClr val="000000">
                <a:alpha val="0"/>
              </a:srgbClr>
            </a:solidFill>
          </p:spPr>
        </p:sp>
        <p:sp>
          <p:nvSpPr>
            <p:cNvPr name="TextBox 17" id="17"/>
            <p:cNvSpPr txBox="true"/>
            <p:nvPr/>
          </p:nvSpPr>
          <p:spPr>
            <a:xfrm>
              <a:off x="0" y="-47625"/>
              <a:ext cx="3263284" cy="659773"/>
            </a:xfrm>
            <a:prstGeom prst="rect">
              <a:avLst/>
            </a:prstGeom>
          </p:spPr>
          <p:txBody>
            <a:bodyPr anchor="ctr" rtlCol="false" tIns="50800" lIns="50800" bIns="50800" rIns="50800"/>
            <a:lstStyle/>
            <a:p>
              <a:pPr algn="l" marL="518157" indent="-259078" lvl="1">
                <a:lnSpc>
                  <a:spcPts val="3359"/>
                </a:lnSpc>
                <a:buFont typeface="Arial"/>
                <a:buChar char="•"/>
              </a:pPr>
              <a:r>
                <a:rPr lang="en-US" sz="2399" spc="-81">
                  <a:solidFill>
                    <a:srgbClr val="000000"/>
                  </a:solidFill>
                  <a:latin typeface="DM Sans"/>
                  <a:ea typeface="DM Sans"/>
                  <a:cs typeface="DM Sans"/>
                  <a:sym typeface="DM Sans"/>
                </a:rPr>
                <a:t>Just like the algorithm, the flowchart is also a tool to represent logic.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As the name indicates, a flowchart helps us graphically visualize the flow of control within the sequence of statements. </a:t>
              </a:r>
            </a:p>
            <a:p>
              <a:pPr algn="l" marL="518157" indent="-259078" lvl="1">
                <a:lnSpc>
                  <a:spcPts val="3359"/>
                </a:lnSpc>
                <a:buFont typeface="Arial"/>
                <a:buChar char="•"/>
              </a:pPr>
              <a:r>
                <a:rPr lang="en-US" sz="2399" spc="-81">
                  <a:solidFill>
                    <a:srgbClr val="000000"/>
                  </a:solidFill>
                  <a:latin typeface="DM Sans"/>
                  <a:ea typeface="DM Sans"/>
                  <a:cs typeface="DM Sans"/>
                  <a:sym typeface="DM Sans"/>
                </a:rPr>
                <a:t>At times it becomes easier for us to understand logic better when we have a picture in front of us.</a:t>
              </a:r>
            </a:p>
          </p:txBody>
        </p:sp>
      </p:grpSp>
      <p:sp>
        <p:nvSpPr>
          <p:cNvPr name="Freeform 18" id="18"/>
          <p:cNvSpPr/>
          <p:nvPr/>
        </p:nvSpPr>
        <p:spPr>
          <a:xfrm flipH="false" flipV="false" rot="-70907">
            <a:off x="4214121" y="4208331"/>
            <a:ext cx="9525547" cy="5668216"/>
          </a:xfrm>
          <a:custGeom>
            <a:avLst/>
            <a:gdLst/>
            <a:ahLst/>
            <a:cxnLst/>
            <a:rect r="r" b="b" t="t" l="l"/>
            <a:pathLst>
              <a:path h="5668216" w="9525547">
                <a:moveTo>
                  <a:pt x="0" y="0"/>
                </a:moveTo>
                <a:lnTo>
                  <a:pt x="9525547" y="0"/>
                </a:lnTo>
                <a:lnTo>
                  <a:pt x="9525547" y="5668215"/>
                </a:lnTo>
                <a:lnTo>
                  <a:pt x="0" y="5668215"/>
                </a:lnTo>
                <a:lnTo>
                  <a:pt x="0" y="0"/>
                </a:lnTo>
                <a:close/>
              </a:path>
            </a:pathLst>
          </a:custGeom>
          <a:blipFill>
            <a:blip r:embed="rId8"/>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1927224" y="508781"/>
            <a:ext cx="1932752" cy="638937"/>
            <a:chOff x="0" y="0"/>
            <a:chExt cx="509038" cy="168280"/>
          </a:xfrm>
        </p:grpSpPr>
        <p:sp>
          <p:nvSpPr>
            <p:cNvPr name="Freeform 13" id="13"/>
            <p:cNvSpPr/>
            <p:nvPr/>
          </p:nvSpPr>
          <p:spPr>
            <a:xfrm flipH="false" flipV="false" rot="0">
              <a:off x="0" y="0"/>
              <a:ext cx="509038" cy="168280"/>
            </a:xfrm>
            <a:custGeom>
              <a:avLst/>
              <a:gdLst/>
              <a:ahLst/>
              <a:cxnLst/>
              <a:rect r="r" b="b" t="t" l="l"/>
              <a:pathLst>
                <a:path h="168280" w="509038">
                  <a:moveTo>
                    <a:pt x="0" y="0"/>
                  </a:moveTo>
                  <a:lnTo>
                    <a:pt x="509038" y="0"/>
                  </a:lnTo>
                  <a:lnTo>
                    <a:pt x="509038" y="168280"/>
                  </a:lnTo>
                  <a:lnTo>
                    <a:pt x="0" y="168280"/>
                  </a:lnTo>
                  <a:close/>
                </a:path>
              </a:pathLst>
            </a:custGeom>
            <a:solidFill>
              <a:srgbClr val="000000"/>
            </a:solidFill>
          </p:spPr>
        </p:sp>
        <p:sp>
          <p:nvSpPr>
            <p:cNvPr name="TextBox 14" id="14"/>
            <p:cNvSpPr txBox="true"/>
            <p:nvPr/>
          </p:nvSpPr>
          <p:spPr>
            <a:xfrm>
              <a:off x="0" y="-57150"/>
              <a:ext cx="509038" cy="225430"/>
            </a:xfrm>
            <a:prstGeom prst="rect">
              <a:avLst/>
            </a:prstGeom>
          </p:spPr>
          <p:txBody>
            <a:bodyPr anchor="ctr" rtlCol="false" tIns="50800" lIns="50800" bIns="50800" rIns="50800"/>
            <a:lstStyle/>
            <a:p>
              <a:pPr algn="ctr">
                <a:lnSpc>
                  <a:spcPts val="4199"/>
                </a:lnSpc>
              </a:pPr>
              <a:r>
                <a:rPr lang="en-US" sz="2999" spc="-101">
                  <a:solidFill>
                    <a:srgbClr val="FFFFFF"/>
                  </a:solidFill>
                  <a:latin typeface="DM Sans"/>
                  <a:ea typeface="DM Sans"/>
                  <a:cs typeface="DM Sans"/>
                  <a:sym typeface="DM Sans"/>
                </a:rPr>
                <a:t>Example </a:t>
              </a:r>
            </a:p>
          </p:txBody>
        </p:sp>
      </p:grpSp>
      <p:grpSp>
        <p:nvGrpSpPr>
          <p:cNvPr name="Group 15" id="15"/>
          <p:cNvGrpSpPr/>
          <p:nvPr/>
        </p:nvGrpSpPr>
        <p:grpSpPr>
          <a:xfrm rot="0">
            <a:off x="1927224" y="1982913"/>
            <a:ext cx="6065473" cy="6597323"/>
            <a:chOff x="0" y="0"/>
            <a:chExt cx="1597491" cy="1737566"/>
          </a:xfrm>
        </p:grpSpPr>
        <p:sp>
          <p:nvSpPr>
            <p:cNvPr name="Freeform 16" id="16"/>
            <p:cNvSpPr/>
            <p:nvPr/>
          </p:nvSpPr>
          <p:spPr>
            <a:xfrm flipH="false" flipV="false" rot="0">
              <a:off x="0" y="0"/>
              <a:ext cx="1597491" cy="1737566"/>
            </a:xfrm>
            <a:custGeom>
              <a:avLst/>
              <a:gdLst/>
              <a:ahLst/>
              <a:cxnLst/>
              <a:rect r="r" b="b" t="t" l="l"/>
              <a:pathLst>
                <a:path h="1737566" w="1597491">
                  <a:moveTo>
                    <a:pt x="65096" y="0"/>
                  </a:moveTo>
                  <a:lnTo>
                    <a:pt x="1532395" y="0"/>
                  </a:lnTo>
                  <a:cubicBezTo>
                    <a:pt x="1549659" y="0"/>
                    <a:pt x="1566217" y="6858"/>
                    <a:pt x="1578425" y="19066"/>
                  </a:cubicBezTo>
                  <a:cubicBezTo>
                    <a:pt x="1590633" y="31274"/>
                    <a:pt x="1597491" y="47831"/>
                    <a:pt x="1597491" y="65096"/>
                  </a:cubicBezTo>
                  <a:lnTo>
                    <a:pt x="1597491" y="1672470"/>
                  </a:lnTo>
                  <a:cubicBezTo>
                    <a:pt x="1597491" y="1689735"/>
                    <a:pt x="1590633" y="1706292"/>
                    <a:pt x="1578425" y="1718500"/>
                  </a:cubicBezTo>
                  <a:cubicBezTo>
                    <a:pt x="1566217" y="1730708"/>
                    <a:pt x="1549659" y="1737566"/>
                    <a:pt x="1532395" y="1737566"/>
                  </a:cubicBezTo>
                  <a:lnTo>
                    <a:pt x="65096" y="1737566"/>
                  </a:lnTo>
                  <a:cubicBezTo>
                    <a:pt x="47831" y="1737566"/>
                    <a:pt x="31274" y="1730708"/>
                    <a:pt x="19066" y="1718500"/>
                  </a:cubicBezTo>
                  <a:cubicBezTo>
                    <a:pt x="6858" y="1706292"/>
                    <a:pt x="0" y="1689735"/>
                    <a:pt x="0" y="1672470"/>
                  </a:cubicBezTo>
                  <a:lnTo>
                    <a:pt x="0" y="65096"/>
                  </a:lnTo>
                  <a:cubicBezTo>
                    <a:pt x="0" y="47831"/>
                    <a:pt x="6858" y="31274"/>
                    <a:pt x="19066" y="19066"/>
                  </a:cubicBezTo>
                  <a:cubicBezTo>
                    <a:pt x="31274" y="6858"/>
                    <a:pt x="47831" y="0"/>
                    <a:pt x="65096" y="0"/>
                  </a:cubicBezTo>
                  <a:close/>
                </a:path>
              </a:pathLst>
            </a:custGeom>
            <a:solidFill>
              <a:srgbClr val="000000">
                <a:alpha val="0"/>
              </a:srgbClr>
            </a:solidFill>
          </p:spPr>
        </p:sp>
        <p:sp>
          <p:nvSpPr>
            <p:cNvPr name="TextBox 17" id="17"/>
            <p:cNvSpPr txBox="true"/>
            <p:nvPr/>
          </p:nvSpPr>
          <p:spPr>
            <a:xfrm>
              <a:off x="0" y="-47625"/>
              <a:ext cx="1597491" cy="1785191"/>
            </a:xfrm>
            <a:prstGeom prst="rect">
              <a:avLst/>
            </a:prstGeom>
          </p:spPr>
          <p:txBody>
            <a:bodyPr anchor="ctr" rtlCol="false" tIns="50800" lIns="50800" bIns="50800" rIns="50800"/>
            <a:lstStyle/>
            <a:p>
              <a:pPr algn="l">
                <a:lnSpc>
                  <a:spcPts val="3359"/>
                </a:lnSpc>
              </a:pPr>
              <a:r>
                <a:rPr lang="en-US" sz="2399" spc="-81" b="true">
                  <a:solidFill>
                    <a:srgbClr val="000000"/>
                  </a:solidFill>
                  <a:latin typeface="DM Sans Bold"/>
                  <a:ea typeface="DM Sans Bold"/>
                  <a:cs typeface="DM Sans Bold"/>
                  <a:sym typeface="DM Sans Bold"/>
                </a:rPr>
                <a:t>Problem </a:t>
              </a:r>
              <a:r>
                <a:rPr lang="en-US" sz="2399" spc="-81">
                  <a:solidFill>
                    <a:srgbClr val="000000"/>
                  </a:solidFill>
                  <a:latin typeface="DM Sans"/>
                  <a:ea typeface="DM Sans"/>
                  <a:cs typeface="DM Sans"/>
                  <a:sym typeface="DM Sans"/>
                </a:rPr>
                <a:t>- Develop an algorithm to find the average of three number taken input from the user.</a:t>
              </a:r>
            </a:p>
            <a:p>
              <a:pPr algn="l">
                <a:lnSpc>
                  <a:spcPts val="3359"/>
                </a:lnSpc>
              </a:pPr>
            </a:p>
            <a:p>
              <a:pPr algn="l">
                <a:lnSpc>
                  <a:spcPts val="3359"/>
                </a:lnSpc>
              </a:pPr>
              <a:r>
                <a:rPr lang="en-US" sz="2399" spc="-81" b="true">
                  <a:solidFill>
                    <a:srgbClr val="000000"/>
                  </a:solidFill>
                  <a:latin typeface="DM Sans Bold"/>
                  <a:ea typeface="DM Sans Bold"/>
                  <a:cs typeface="DM Sans Bold"/>
                  <a:sym typeface="DM Sans Bold"/>
                </a:rPr>
                <a:t>Algorithm Average</a:t>
              </a:r>
            </a:p>
            <a:p>
              <a:pPr algn="l">
                <a:lnSpc>
                  <a:spcPts val="3359"/>
                </a:lnSpc>
              </a:pPr>
              <a:r>
                <a:rPr lang="en-US" sz="2399" spc="-81" b="true">
                  <a:solidFill>
                    <a:srgbClr val="000000"/>
                  </a:solidFill>
                  <a:latin typeface="DM Sans Bold"/>
                  <a:ea typeface="DM Sans Bold"/>
                  <a:cs typeface="DM Sans Bold"/>
                  <a:sym typeface="DM Sans Bold"/>
                </a:rPr>
                <a:t>Step 0 </a:t>
              </a:r>
              <a:r>
                <a:rPr lang="en-US" sz="2399" spc="-81">
                  <a:solidFill>
                    <a:srgbClr val="000000"/>
                  </a:solidFill>
                  <a:latin typeface="DM Sans"/>
                  <a:ea typeface="DM Sans"/>
                  <a:cs typeface="DM Sans"/>
                  <a:sym typeface="DM Sans"/>
                </a:rPr>
                <a:t>: Start</a:t>
              </a:r>
            </a:p>
            <a:p>
              <a:pPr algn="l">
                <a:lnSpc>
                  <a:spcPts val="3359"/>
                </a:lnSpc>
              </a:pPr>
              <a:r>
                <a:rPr lang="en-US" sz="2399" spc="-81" b="true">
                  <a:solidFill>
                    <a:srgbClr val="000000"/>
                  </a:solidFill>
                  <a:latin typeface="DM Sans Bold"/>
                  <a:ea typeface="DM Sans Bold"/>
                  <a:cs typeface="DM Sans Bold"/>
                  <a:sym typeface="DM Sans Bold"/>
                </a:rPr>
                <a:t>Step 1 </a:t>
              </a:r>
              <a:r>
                <a:rPr lang="en-US" sz="2399" spc="-81">
                  <a:solidFill>
                    <a:srgbClr val="000000"/>
                  </a:solidFill>
                  <a:latin typeface="DM Sans"/>
                  <a:ea typeface="DM Sans"/>
                  <a:cs typeface="DM Sans"/>
                  <a:sym typeface="DM Sans"/>
                </a:rPr>
                <a:t> : Input number in variable A</a:t>
              </a:r>
            </a:p>
            <a:p>
              <a:pPr algn="l">
                <a:lnSpc>
                  <a:spcPts val="3359"/>
                </a:lnSpc>
              </a:pPr>
              <a:r>
                <a:rPr lang="en-US" sz="2399" spc="-81" b="true">
                  <a:solidFill>
                    <a:srgbClr val="000000"/>
                  </a:solidFill>
                  <a:latin typeface="DM Sans Bold"/>
                  <a:ea typeface="DM Sans Bold"/>
                  <a:cs typeface="DM Sans Bold"/>
                  <a:sym typeface="DM Sans Bold"/>
                </a:rPr>
                <a:t>Step 2 </a:t>
              </a:r>
              <a:r>
                <a:rPr lang="en-US" sz="2399" spc="-81">
                  <a:solidFill>
                    <a:srgbClr val="000000"/>
                  </a:solidFill>
                  <a:latin typeface="DM Sans"/>
                  <a:ea typeface="DM Sans"/>
                  <a:cs typeface="DM Sans"/>
                  <a:sym typeface="DM Sans"/>
                </a:rPr>
                <a:t>: Input number in variable B</a:t>
              </a:r>
            </a:p>
            <a:p>
              <a:pPr algn="l">
                <a:lnSpc>
                  <a:spcPts val="3359"/>
                </a:lnSpc>
              </a:pPr>
              <a:r>
                <a:rPr lang="en-US" sz="2399" spc="-81" b="true">
                  <a:solidFill>
                    <a:srgbClr val="000000"/>
                  </a:solidFill>
                  <a:latin typeface="DM Sans Bold"/>
                  <a:ea typeface="DM Sans Bold"/>
                  <a:cs typeface="DM Sans Bold"/>
                  <a:sym typeface="DM Sans Bold"/>
                </a:rPr>
                <a:t>Step 3</a:t>
              </a:r>
              <a:r>
                <a:rPr lang="en-US" sz="2399" spc="-81">
                  <a:solidFill>
                    <a:srgbClr val="000000"/>
                  </a:solidFill>
                  <a:latin typeface="DM Sans"/>
                  <a:ea typeface="DM Sans"/>
                  <a:cs typeface="DM Sans"/>
                  <a:sym typeface="DM Sans"/>
                </a:rPr>
                <a:t> : Input number in variable C</a:t>
              </a:r>
            </a:p>
            <a:p>
              <a:pPr algn="l">
                <a:lnSpc>
                  <a:spcPts val="3359"/>
                </a:lnSpc>
              </a:pPr>
              <a:r>
                <a:rPr lang="en-US" sz="2399" spc="-81" b="true">
                  <a:solidFill>
                    <a:srgbClr val="000000"/>
                  </a:solidFill>
                  <a:latin typeface="DM Sans Bold"/>
                  <a:ea typeface="DM Sans Bold"/>
                  <a:cs typeface="DM Sans Bold"/>
                  <a:sym typeface="DM Sans Bold"/>
                </a:rPr>
                <a:t>Step 4 </a:t>
              </a:r>
              <a:r>
                <a:rPr lang="en-US" sz="2399" spc="-81">
                  <a:solidFill>
                    <a:srgbClr val="000000"/>
                  </a:solidFill>
                  <a:latin typeface="DM Sans"/>
                  <a:ea typeface="DM Sans"/>
                  <a:cs typeface="DM Sans"/>
                  <a:sym typeface="DM Sans"/>
                </a:rPr>
                <a:t>: Sum = A + B + C</a:t>
              </a:r>
            </a:p>
            <a:p>
              <a:pPr algn="l">
                <a:lnSpc>
                  <a:spcPts val="3359"/>
                </a:lnSpc>
              </a:pPr>
              <a:r>
                <a:rPr lang="en-US" sz="2399" spc="-81" b="true">
                  <a:solidFill>
                    <a:srgbClr val="000000"/>
                  </a:solidFill>
                  <a:latin typeface="DM Sans Bold"/>
                  <a:ea typeface="DM Sans Bold"/>
                  <a:cs typeface="DM Sans Bold"/>
                  <a:sym typeface="DM Sans Bold"/>
                </a:rPr>
                <a:t>Step 5 </a:t>
              </a:r>
              <a:r>
                <a:rPr lang="en-US" sz="2399" spc="-81">
                  <a:solidFill>
                    <a:srgbClr val="000000"/>
                  </a:solidFill>
                  <a:latin typeface="DM Sans"/>
                  <a:ea typeface="DM Sans"/>
                  <a:cs typeface="DM Sans"/>
                  <a:sym typeface="DM Sans"/>
                </a:rPr>
                <a:t>: Avg = Sum / 3</a:t>
              </a:r>
            </a:p>
            <a:p>
              <a:pPr algn="l">
                <a:lnSpc>
                  <a:spcPts val="3359"/>
                </a:lnSpc>
              </a:pPr>
              <a:r>
                <a:rPr lang="en-US" sz="2399" spc="-81" b="true">
                  <a:solidFill>
                    <a:srgbClr val="000000"/>
                  </a:solidFill>
                  <a:latin typeface="DM Sans Bold"/>
                  <a:ea typeface="DM Sans Bold"/>
                  <a:cs typeface="DM Sans Bold"/>
                  <a:sym typeface="DM Sans Bold"/>
                </a:rPr>
                <a:t>Step 6 </a:t>
              </a:r>
              <a:r>
                <a:rPr lang="en-US" sz="2399" spc="-81">
                  <a:solidFill>
                    <a:srgbClr val="000000"/>
                  </a:solidFill>
                  <a:latin typeface="DM Sans"/>
                  <a:ea typeface="DM Sans"/>
                  <a:cs typeface="DM Sans"/>
                  <a:sym typeface="DM Sans"/>
                </a:rPr>
                <a:t>: Print Avg</a:t>
              </a:r>
            </a:p>
            <a:p>
              <a:pPr algn="l">
                <a:lnSpc>
                  <a:spcPts val="3359"/>
                </a:lnSpc>
              </a:pPr>
              <a:r>
                <a:rPr lang="en-US" sz="2399" spc="-81" b="true">
                  <a:solidFill>
                    <a:srgbClr val="000000"/>
                  </a:solidFill>
                  <a:latin typeface="DM Sans Bold"/>
                  <a:ea typeface="DM Sans Bold"/>
                  <a:cs typeface="DM Sans Bold"/>
                  <a:sym typeface="DM Sans Bold"/>
                </a:rPr>
                <a:t>Step 7 </a:t>
              </a:r>
              <a:r>
                <a:rPr lang="en-US" sz="2399" spc="-81">
                  <a:solidFill>
                    <a:srgbClr val="000000"/>
                  </a:solidFill>
                  <a:latin typeface="DM Sans"/>
                  <a:ea typeface="DM Sans"/>
                  <a:cs typeface="DM Sans"/>
                  <a:sym typeface="DM Sans"/>
                </a:rPr>
                <a:t>: End</a:t>
              </a:r>
            </a:p>
          </p:txBody>
        </p:sp>
      </p:grpSp>
      <p:sp>
        <p:nvSpPr>
          <p:cNvPr name="Freeform 18" id="18"/>
          <p:cNvSpPr/>
          <p:nvPr/>
        </p:nvSpPr>
        <p:spPr>
          <a:xfrm flipH="false" flipV="false" rot="0">
            <a:off x="10698883" y="1028700"/>
            <a:ext cx="4195298" cy="7551536"/>
          </a:xfrm>
          <a:custGeom>
            <a:avLst/>
            <a:gdLst/>
            <a:ahLst/>
            <a:cxnLst/>
            <a:rect r="r" b="b" t="t" l="l"/>
            <a:pathLst>
              <a:path h="7551536" w="4195298">
                <a:moveTo>
                  <a:pt x="0" y="0"/>
                </a:moveTo>
                <a:lnTo>
                  <a:pt x="4195297" y="0"/>
                </a:lnTo>
                <a:lnTo>
                  <a:pt x="4195297" y="7551536"/>
                </a:lnTo>
                <a:lnTo>
                  <a:pt x="0" y="7551536"/>
                </a:lnTo>
                <a:lnTo>
                  <a:pt x="0" y="0"/>
                </a:lnTo>
                <a:close/>
              </a:path>
            </a:pathLst>
          </a:custGeom>
          <a:blipFill>
            <a:blip r:embed="rId8"/>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79316"/>
            <a:ext cx="8297704" cy="1358951"/>
          </a:xfrm>
          <a:prstGeom prst="rect">
            <a:avLst/>
          </a:prstGeom>
        </p:spPr>
        <p:txBody>
          <a:bodyPr anchor="t" rtlCol="false" tIns="0" lIns="0" bIns="0" rIns="0">
            <a:spAutoFit/>
          </a:bodyPr>
          <a:lstStyle/>
          <a:p>
            <a:pPr algn="ctr">
              <a:lnSpc>
                <a:spcPts val="7600"/>
              </a:lnSpc>
            </a:pPr>
            <a:r>
              <a:rPr lang="en-US" b="true" sz="9501" spc="-418">
                <a:solidFill>
                  <a:srgbClr val="000000"/>
                </a:solidFill>
                <a:latin typeface="Agrandir Bold"/>
                <a:ea typeface="Agrandir Bold"/>
                <a:cs typeface="Agrandir Bold"/>
                <a:sym typeface="Agrandir Bold"/>
              </a:rPr>
              <a:t>Reference</a:t>
            </a:r>
          </a:p>
        </p:txBody>
      </p:sp>
      <p:grpSp>
        <p:nvGrpSpPr>
          <p:cNvPr name="Group 13" id="13"/>
          <p:cNvGrpSpPr/>
          <p:nvPr/>
        </p:nvGrpSpPr>
        <p:grpSpPr>
          <a:xfrm rot="0">
            <a:off x="2350658" y="3560276"/>
            <a:ext cx="13586683" cy="1631767"/>
            <a:chOff x="0" y="0"/>
            <a:chExt cx="3578386" cy="429766"/>
          </a:xfrm>
        </p:grpSpPr>
        <p:sp>
          <p:nvSpPr>
            <p:cNvPr name="Freeform 14" id="14"/>
            <p:cNvSpPr/>
            <p:nvPr/>
          </p:nvSpPr>
          <p:spPr>
            <a:xfrm flipH="false" flipV="false" rot="0">
              <a:off x="0" y="0"/>
              <a:ext cx="3578386" cy="429766"/>
            </a:xfrm>
            <a:custGeom>
              <a:avLst/>
              <a:gdLst/>
              <a:ahLst/>
              <a:cxnLst/>
              <a:rect r="r" b="b" t="t" l="l"/>
              <a:pathLst>
                <a:path h="429766" w="3578386">
                  <a:moveTo>
                    <a:pt x="21083" y="0"/>
                  </a:moveTo>
                  <a:lnTo>
                    <a:pt x="3557303" y="0"/>
                  </a:lnTo>
                  <a:cubicBezTo>
                    <a:pt x="3568946" y="0"/>
                    <a:pt x="3578386" y="9439"/>
                    <a:pt x="3578386" y="21083"/>
                  </a:cubicBezTo>
                  <a:lnTo>
                    <a:pt x="3578386" y="408683"/>
                  </a:lnTo>
                  <a:cubicBezTo>
                    <a:pt x="3578386" y="420326"/>
                    <a:pt x="3568946" y="429766"/>
                    <a:pt x="3557303" y="429766"/>
                  </a:cubicBezTo>
                  <a:lnTo>
                    <a:pt x="21083" y="429766"/>
                  </a:lnTo>
                  <a:cubicBezTo>
                    <a:pt x="9439" y="429766"/>
                    <a:pt x="0" y="420326"/>
                    <a:pt x="0" y="408683"/>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15" id="15"/>
            <p:cNvSpPr txBox="true"/>
            <p:nvPr/>
          </p:nvSpPr>
          <p:spPr>
            <a:xfrm>
              <a:off x="0" y="-38100"/>
              <a:ext cx="3578386" cy="467866"/>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3447589" y="3767134"/>
            <a:ext cx="8691937" cy="1057275"/>
          </a:xfrm>
          <a:prstGeom prst="rect">
            <a:avLst/>
          </a:prstGeom>
        </p:spPr>
        <p:txBody>
          <a:bodyPr anchor="t" rtlCol="false" tIns="0" lIns="0" bIns="0" rIns="0">
            <a:spAutoFit/>
          </a:bodyPr>
          <a:lstStyle/>
          <a:p>
            <a:pPr algn="just">
              <a:lnSpc>
                <a:spcPts val="4200"/>
              </a:lnSpc>
            </a:pPr>
            <a:r>
              <a:rPr lang="en-US" sz="3000" spc="-102">
                <a:solidFill>
                  <a:srgbClr val="FFFFFF"/>
                </a:solidFill>
                <a:latin typeface="DM Sans"/>
                <a:ea typeface="DM Sans"/>
                <a:cs typeface="DM Sans"/>
                <a:sym typeface="DM Sans"/>
              </a:rPr>
              <a:t>Link Name: </a:t>
            </a:r>
            <a:r>
              <a:rPr lang="en-US" sz="3000" spc="-102">
                <a:solidFill>
                  <a:srgbClr val="FDD56F"/>
                </a:solidFill>
                <a:latin typeface="DM Sans"/>
                <a:ea typeface="DM Sans"/>
                <a:cs typeface="DM Sans"/>
                <a:sym typeface="DM Sans"/>
              </a:rPr>
              <a:t>Microsoft Power Point</a:t>
            </a:r>
          </a:p>
          <a:p>
            <a:pPr algn="just">
              <a:lnSpc>
                <a:spcPts val="4200"/>
              </a:lnSpc>
            </a:pPr>
            <a:r>
              <a:rPr lang="en-US" sz="3000" spc="-102">
                <a:solidFill>
                  <a:srgbClr val="FFFFFF"/>
                </a:solidFill>
                <a:latin typeface="DM Sans"/>
                <a:ea typeface="DM Sans"/>
                <a:cs typeface="DM Sans"/>
                <a:sym typeface="DM Sans"/>
              </a:rPr>
              <a:t>﻿Brief Description: </a:t>
            </a:r>
            <a:r>
              <a:rPr lang="en-US" sz="3000" spc="-102">
                <a:solidFill>
                  <a:srgbClr val="FDD56F"/>
                </a:solidFill>
                <a:latin typeface="DM Sans"/>
                <a:ea typeface="DM Sans"/>
                <a:cs typeface="DM Sans"/>
                <a:sym typeface="DM Sans"/>
              </a:rPr>
              <a:t>Used for making PPT</a:t>
            </a:r>
          </a:p>
        </p:txBody>
      </p:sp>
      <p:grpSp>
        <p:nvGrpSpPr>
          <p:cNvPr name="Group 17" id="17"/>
          <p:cNvGrpSpPr/>
          <p:nvPr/>
        </p:nvGrpSpPr>
        <p:grpSpPr>
          <a:xfrm rot="0">
            <a:off x="2350658" y="6682005"/>
            <a:ext cx="13586683" cy="1631767"/>
            <a:chOff x="0" y="0"/>
            <a:chExt cx="3578386" cy="429766"/>
          </a:xfrm>
        </p:grpSpPr>
        <p:sp>
          <p:nvSpPr>
            <p:cNvPr name="Freeform 18" id="18"/>
            <p:cNvSpPr/>
            <p:nvPr/>
          </p:nvSpPr>
          <p:spPr>
            <a:xfrm flipH="false" flipV="false" rot="0">
              <a:off x="0" y="0"/>
              <a:ext cx="3578386" cy="429766"/>
            </a:xfrm>
            <a:custGeom>
              <a:avLst/>
              <a:gdLst/>
              <a:ahLst/>
              <a:cxnLst/>
              <a:rect r="r" b="b" t="t" l="l"/>
              <a:pathLst>
                <a:path h="429766" w="3578386">
                  <a:moveTo>
                    <a:pt x="21083" y="0"/>
                  </a:moveTo>
                  <a:lnTo>
                    <a:pt x="3557303" y="0"/>
                  </a:lnTo>
                  <a:cubicBezTo>
                    <a:pt x="3568946" y="0"/>
                    <a:pt x="3578386" y="9439"/>
                    <a:pt x="3578386" y="21083"/>
                  </a:cubicBezTo>
                  <a:lnTo>
                    <a:pt x="3578386" y="408683"/>
                  </a:lnTo>
                  <a:cubicBezTo>
                    <a:pt x="3578386" y="420326"/>
                    <a:pt x="3568946" y="429766"/>
                    <a:pt x="3557303" y="429766"/>
                  </a:cubicBezTo>
                  <a:lnTo>
                    <a:pt x="21083" y="429766"/>
                  </a:lnTo>
                  <a:cubicBezTo>
                    <a:pt x="9439" y="429766"/>
                    <a:pt x="0" y="420326"/>
                    <a:pt x="0" y="408683"/>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19" id="19"/>
            <p:cNvSpPr txBox="true"/>
            <p:nvPr/>
          </p:nvSpPr>
          <p:spPr>
            <a:xfrm>
              <a:off x="0" y="-38100"/>
              <a:ext cx="3578386" cy="467866"/>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982530" y="6935913"/>
            <a:ext cx="8691937" cy="1057275"/>
          </a:xfrm>
          <a:prstGeom prst="rect">
            <a:avLst/>
          </a:prstGeom>
        </p:spPr>
        <p:txBody>
          <a:bodyPr anchor="t" rtlCol="false" tIns="0" lIns="0" bIns="0" rIns="0">
            <a:spAutoFit/>
          </a:bodyPr>
          <a:lstStyle/>
          <a:p>
            <a:pPr algn="just">
              <a:lnSpc>
                <a:spcPts val="4200"/>
              </a:lnSpc>
            </a:pPr>
            <a:r>
              <a:rPr lang="en-US" sz="3000" spc="-102">
                <a:solidFill>
                  <a:srgbClr val="FFFFFF"/>
                </a:solidFill>
                <a:latin typeface="DM Sans"/>
                <a:ea typeface="DM Sans"/>
                <a:cs typeface="DM Sans"/>
                <a:sym typeface="DM Sans"/>
              </a:rPr>
              <a:t>Link Name: </a:t>
            </a:r>
            <a:r>
              <a:rPr lang="en-US" sz="3000" spc="-102">
                <a:solidFill>
                  <a:srgbClr val="FF0000"/>
                </a:solidFill>
                <a:latin typeface="DM Sans"/>
                <a:ea typeface="DM Sans"/>
                <a:cs typeface="DM Sans"/>
                <a:sym typeface="DM Sans"/>
              </a:rPr>
              <a:t>E Balagurusamy</a:t>
            </a:r>
          </a:p>
          <a:p>
            <a:pPr algn="just">
              <a:lnSpc>
                <a:spcPts val="4200"/>
              </a:lnSpc>
            </a:pPr>
            <a:r>
              <a:rPr lang="en-US" sz="3000" spc="-102">
                <a:solidFill>
                  <a:srgbClr val="FFFFFF"/>
                </a:solidFill>
                <a:latin typeface="DM Sans"/>
                <a:ea typeface="DM Sans"/>
                <a:cs typeface="DM Sans"/>
                <a:sym typeface="DM Sans"/>
              </a:rPr>
              <a:t>﻿Brief Description: </a:t>
            </a:r>
            <a:r>
              <a:rPr lang="en-US" sz="3000" spc="-102">
                <a:solidFill>
                  <a:srgbClr val="FF0000"/>
                </a:solidFill>
                <a:latin typeface="DM Sans"/>
                <a:ea typeface="DM Sans"/>
                <a:cs typeface="DM Sans"/>
                <a:sym typeface="DM Sans"/>
              </a:rPr>
              <a:t>Content of the PPT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243205"/>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5400000">
            <a:off x="8471887" y="6200247"/>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754150" y="3680571"/>
            <a:ext cx="12779699" cy="2179960"/>
          </a:xfrm>
          <a:prstGeom prst="rect">
            <a:avLst/>
          </a:prstGeom>
        </p:spPr>
        <p:txBody>
          <a:bodyPr anchor="t" rtlCol="false" tIns="0" lIns="0" bIns="0" rIns="0">
            <a:spAutoFit/>
          </a:bodyPr>
          <a:lstStyle/>
          <a:p>
            <a:pPr algn="ctr">
              <a:lnSpc>
                <a:spcPts val="12280"/>
              </a:lnSpc>
            </a:pPr>
            <a:r>
              <a:rPr lang="en-US" b="true" sz="15350" spc="-675">
                <a:solidFill>
                  <a:srgbClr val="000000"/>
                </a:solidFill>
                <a:latin typeface="Agrandir Bold"/>
                <a:ea typeface="Agrandir Bold"/>
                <a:cs typeface="Agrandir Bold"/>
                <a:sym typeface="Agrandir Bold"/>
              </a:rPr>
              <a:t>Thank You</a:t>
            </a:r>
          </a:p>
        </p:txBody>
      </p:sp>
      <p:sp>
        <p:nvSpPr>
          <p:cNvPr name="TextBox 11" id="11"/>
          <p:cNvSpPr txBox="true"/>
          <p:nvPr/>
        </p:nvSpPr>
        <p:spPr>
          <a:xfrm rot="0">
            <a:off x="4243940" y="6013278"/>
            <a:ext cx="9800119" cy="767780"/>
          </a:xfrm>
          <a:prstGeom prst="rect">
            <a:avLst/>
          </a:prstGeom>
        </p:spPr>
        <p:txBody>
          <a:bodyPr anchor="t" rtlCol="false" tIns="0" lIns="0" bIns="0" rIns="0">
            <a:spAutoFit/>
          </a:bodyPr>
          <a:lstStyle/>
          <a:p>
            <a:pPr algn="ctr">
              <a:lnSpc>
                <a:spcPts val="5852"/>
              </a:lnSpc>
            </a:pPr>
            <a:r>
              <a:rPr lang="en-US" b="true" sz="5852" spc="-257">
                <a:solidFill>
                  <a:srgbClr val="000000"/>
                </a:solidFill>
                <a:latin typeface="DM Sans Bold"/>
                <a:ea typeface="DM Sans Bold"/>
                <a:cs typeface="DM Sans Bold"/>
                <a:sym typeface="DM Sans Bold"/>
              </a:rPr>
              <a:t>For your attention</a:t>
            </a:r>
          </a:p>
        </p:txBody>
      </p:sp>
      <p:sp>
        <p:nvSpPr>
          <p:cNvPr name="Freeform 12" id="12"/>
          <p:cNvSpPr/>
          <p:nvPr/>
        </p:nvSpPr>
        <p:spPr>
          <a:xfrm flipH="true" flipV="true" rot="0">
            <a:off x="17727341" y="3383088"/>
            <a:ext cx="2760657" cy="4114800"/>
          </a:xfrm>
          <a:custGeom>
            <a:avLst/>
            <a:gdLst/>
            <a:ahLst/>
            <a:cxnLst/>
            <a:rect r="r" b="b" t="t" l="l"/>
            <a:pathLst>
              <a:path h="4114800" w="2760657">
                <a:moveTo>
                  <a:pt x="2760657" y="4114800"/>
                </a:moveTo>
                <a:lnTo>
                  <a:pt x="0" y="4114800"/>
                </a:lnTo>
                <a:lnTo>
                  <a:pt x="0" y="0"/>
                </a:lnTo>
                <a:lnTo>
                  <a:pt x="2760657" y="0"/>
                </a:lnTo>
                <a:lnTo>
                  <a:pt x="2760657"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DAG12nJ4WXY</dc:identifier>
  <dcterms:modified xsi:type="dcterms:W3CDTF">2011-08-01T06:04:30Z</dcterms:modified>
  <cp:revision>1</cp:revision>
  <dc:title>Chapter 1</dc:title>
</cp:coreProperties>
</file>