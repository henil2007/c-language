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G Jory" charset="1" panose="02000000000000000000"/>
      <p:regular r:id="rId18"/>
    </p:embeddedFont>
    <p:embeddedFont>
      <p:font typeface="League Spartan" charset="1" panose="00000800000000000000"/>
      <p:regular r:id="rId19"/>
    </p:embeddedFont>
    <p:embeddedFont>
      <p:font typeface="Open Sans Bold" charset="1" panose="020B0806030504020204"/>
      <p:regular r:id="rId20"/>
    </p:embeddedFont>
    <p:embeddedFont>
      <p:font typeface="DG Jory Bold" charset="1" panose="02000000000000000000"/>
      <p:regular r:id="rId21"/>
    </p:embeddedFont>
    <p:embeddedFont>
      <p:font typeface="Arimo" charset="1" panose="020B0604020202020204"/>
      <p:regular r:id="rId22"/>
    </p:embeddedFont>
    <p:embeddedFont>
      <p:font typeface="Arimo Bold" charset="1" panose="020B07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07933" y="59261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680067" y="-251105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477567" y="7854435"/>
            <a:ext cx="5109638" cy="74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  :-  Henil Patel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48516" y="2997229"/>
            <a:ext cx="10590968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2"/>
              </a:lnSpc>
            </a:pPr>
            <a:r>
              <a:rPr lang="en-US" sz="83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MANAGING INPUT AND OUTPUT OPERATIONS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80067" y="696661"/>
            <a:ext cx="4749897" cy="1373717"/>
            <a:chOff x="0" y="0"/>
            <a:chExt cx="1251002" cy="3618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1002" cy="361802"/>
            </a:xfrm>
            <a:custGeom>
              <a:avLst/>
              <a:gdLst/>
              <a:ahLst/>
              <a:cxnLst/>
              <a:rect r="r" b="b" t="t" l="l"/>
              <a:pathLst>
                <a:path h="361802" w="1251002">
                  <a:moveTo>
                    <a:pt x="83126" y="0"/>
                  </a:moveTo>
                  <a:lnTo>
                    <a:pt x="1167876" y="0"/>
                  </a:lnTo>
                  <a:cubicBezTo>
                    <a:pt x="1189922" y="0"/>
                    <a:pt x="1211066" y="8758"/>
                    <a:pt x="1226655" y="24347"/>
                  </a:cubicBezTo>
                  <a:cubicBezTo>
                    <a:pt x="1242244" y="39936"/>
                    <a:pt x="1251002" y="61079"/>
                    <a:pt x="1251002" y="83126"/>
                  </a:cubicBezTo>
                  <a:lnTo>
                    <a:pt x="1251002" y="278677"/>
                  </a:lnTo>
                  <a:cubicBezTo>
                    <a:pt x="1251002" y="300723"/>
                    <a:pt x="1242244" y="321866"/>
                    <a:pt x="1226655" y="337455"/>
                  </a:cubicBezTo>
                  <a:cubicBezTo>
                    <a:pt x="1211066" y="353044"/>
                    <a:pt x="1189922" y="361802"/>
                    <a:pt x="1167876" y="361802"/>
                  </a:cubicBezTo>
                  <a:lnTo>
                    <a:pt x="83126" y="361802"/>
                  </a:lnTo>
                  <a:cubicBezTo>
                    <a:pt x="61079" y="361802"/>
                    <a:pt x="39936" y="353044"/>
                    <a:pt x="24347" y="337455"/>
                  </a:cubicBezTo>
                  <a:cubicBezTo>
                    <a:pt x="8758" y="321866"/>
                    <a:pt x="0" y="300723"/>
                    <a:pt x="0" y="278677"/>
                  </a:cubicBezTo>
                  <a:lnTo>
                    <a:pt x="0" y="83126"/>
                  </a:lnTo>
                  <a:cubicBezTo>
                    <a:pt x="0" y="61079"/>
                    <a:pt x="8758" y="39936"/>
                    <a:pt x="24347" y="24347"/>
                  </a:cubicBezTo>
                  <a:cubicBezTo>
                    <a:pt x="39936" y="8758"/>
                    <a:pt x="61079" y="0"/>
                    <a:pt x="83126" y="0"/>
                  </a:cubicBezTo>
                  <a:close/>
                </a:path>
              </a:pathLst>
            </a:custGeom>
            <a:solidFill>
              <a:srgbClr val="56C3D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251002" cy="447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579"/>
                </a:lnSpc>
              </a:pPr>
              <a:r>
                <a:rPr lang="en-US" b="true" sz="46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Chapter - 5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146938" y="671356"/>
            <a:ext cx="5994124" cy="1773322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46938" y="671356"/>
            <a:ext cx="5994124" cy="1773322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747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The Role of I/O in C Programming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29156" y="2704137"/>
            <a:ext cx="10927867" cy="5385613"/>
            <a:chOff x="0" y="0"/>
            <a:chExt cx="2878121" cy="14184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78121" cy="1418433"/>
            </a:xfrm>
            <a:custGeom>
              <a:avLst/>
              <a:gdLst/>
              <a:ahLst/>
              <a:cxnLst/>
              <a:rect r="r" b="b" t="t" l="l"/>
              <a:pathLst>
                <a:path h="1418433" w="2878121">
                  <a:moveTo>
                    <a:pt x="36131" y="0"/>
                  </a:moveTo>
                  <a:lnTo>
                    <a:pt x="2841990" y="0"/>
                  </a:lnTo>
                  <a:cubicBezTo>
                    <a:pt x="2861945" y="0"/>
                    <a:pt x="2878121" y="16177"/>
                    <a:pt x="2878121" y="36131"/>
                  </a:cubicBezTo>
                  <a:lnTo>
                    <a:pt x="2878121" y="1382302"/>
                  </a:lnTo>
                  <a:cubicBezTo>
                    <a:pt x="2878121" y="1391884"/>
                    <a:pt x="2874314" y="1401074"/>
                    <a:pt x="2867539" y="1407850"/>
                  </a:cubicBezTo>
                  <a:cubicBezTo>
                    <a:pt x="2860763" y="1414626"/>
                    <a:pt x="2851573" y="1418433"/>
                    <a:pt x="2841990" y="1418433"/>
                  </a:cubicBezTo>
                  <a:lnTo>
                    <a:pt x="36131" y="1418433"/>
                  </a:lnTo>
                  <a:cubicBezTo>
                    <a:pt x="16177" y="1418433"/>
                    <a:pt x="0" y="1402256"/>
                    <a:pt x="0" y="1382302"/>
                  </a:cubicBezTo>
                  <a:lnTo>
                    <a:pt x="0" y="36131"/>
                  </a:lnTo>
                  <a:cubicBezTo>
                    <a:pt x="0" y="16177"/>
                    <a:pt x="16177" y="0"/>
                    <a:pt x="361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878121" cy="1485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All computer programs are built around three essential functions: </a:t>
              </a: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Reading Data (Input)</a:t>
              </a: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, </a:t>
              </a: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Processing Data</a:t>
              </a: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, and </a:t>
              </a: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Writing Data (Output)</a:t>
              </a: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. </a:t>
              </a:r>
            </a:p>
            <a:p>
              <a:pPr algn="l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In C, unlike many other high-level languages, I/O operations are </a:t>
              </a: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not built into the language syntax</a:t>
              </a: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itself. Instead, they are handled entirely by </a:t>
              </a: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function calls</a:t>
              </a: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found in the </a:t>
              </a:r>
              <a:r>
                <a:rPr lang="en-US" b="true" sz="26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Standard I/O Library</a:t>
              </a: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  <a:p>
              <a:pPr algn="l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To use any of these I/O functions, every C program must include the Standard Input/Output Header File:</a:t>
              </a:r>
            </a:p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#include &lt;stdio.h&gt;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5994124" cy="1773322"/>
            <a:chOff x="0" y="0"/>
            <a:chExt cx="27474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5994124" cy="1773322"/>
            <a:chOff x="0" y="0"/>
            <a:chExt cx="27474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11888" y="4439849"/>
            <a:ext cx="5166890" cy="1225862"/>
            <a:chOff x="0" y="0"/>
            <a:chExt cx="1360827" cy="3228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0827" cy="322861"/>
            </a:xfrm>
            <a:custGeom>
              <a:avLst/>
              <a:gdLst/>
              <a:ahLst/>
              <a:cxnLst/>
              <a:rect r="r" b="b" t="t" l="l"/>
              <a:pathLst>
                <a:path h="322861" w="1360827">
                  <a:moveTo>
                    <a:pt x="76417" y="0"/>
                  </a:moveTo>
                  <a:lnTo>
                    <a:pt x="1284410" y="0"/>
                  </a:lnTo>
                  <a:cubicBezTo>
                    <a:pt x="1304677" y="0"/>
                    <a:pt x="1324114" y="8051"/>
                    <a:pt x="1338445" y="22382"/>
                  </a:cubicBezTo>
                  <a:cubicBezTo>
                    <a:pt x="1352776" y="36713"/>
                    <a:pt x="1360827" y="56150"/>
                    <a:pt x="1360827" y="76417"/>
                  </a:cubicBezTo>
                  <a:lnTo>
                    <a:pt x="1360827" y="246444"/>
                  </a:lnTo>
                  <a:cubicBezTo>
                    <a:pt x="1360827" y="288648"/>
                    <a:pt x="1326614" y="322861"/>
                    <a:pt x="1284410" y="322861"/>
                  </a:cubicBezTo>
                  <a:lnTo>
                    <a:pt x="76417" y="322861"/>
                  </a:lnTo>
                  <a:cubicBezTo>
                    <a:pt x="56150" y="322861"/>
                    <a:pt x="36713" y="314810"/>
                    <a:pt x="22382" y="300479"/>
                  </a:cubicBezTo>
                  <a:cubicBezTo>
                    <a:pt x="8051" y="286148"/>
                    <a:pt x="0" y="266711"/>
                    <a:pt x="0" y="246444"/>
                  </a:cubicBezTo>
                  <a:lnTo>
                    <a:pt x="0" y="76417"/>
                  </a:lnTo>
                  <a:cubicBezTo>
                    <a:pt x="0" y="56150"/>
                    <a:pt x="8051" y="36713"/>
                    <a:pt x="22382" y="22382"/>
                  </a:cubicBezTo>
                  <a:cubicBezTo>
                    <a:pt x="36713" y="8051"/>
                    <a:pt x="56150" y="0"/>
                    <a:pt x="76417" y="0"/>
                  </a:cubicBezTo>
                  <a:close/>
                </a:path>
              </a:pathLst>
            </a:custGeom>
            <a:solidFill>
              <a:srgbClr val="56C3D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60827" cy="380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1. Reading a Single Character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1413" y="5846686"/>
            <a:ext cx="13242999" cy="3532048"/>
            <a:chOff x="0" y="0"/>
            <a:chExt cx="3487868" cy="9302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87868" cy="930251"/>
            </a:xfrm>
            <a:custGeom>
              <a:avLst/>
              <a:gdLst/>
              <a:ahLst/>
              <a:cxnLst/>
              <a:rect r="r" b="b" t="t" l="l"/>
              <a:pathLst>
                <a:path h="930251" w="3487868">
                  <a:moveTo>
                    <a:pt x="29815" y="0"/>
                  </a:moveTo>
                  <a:lnTo>
                    <a:pt x="3458053" y="0"/>
                  </a:lnTo>
                  <a:cubicBezTo>
                    <a:pt x="3474520" y="0"/>
                    <a:pt x="3487868" y="13349"/>
                    <a:pt x="3487868" y="29815"/>
                  </a:cubicBezTo>
                  <a:lnTo>
                    <a:pt x="3487868" y="900437"/>
                  </a:lnTo>
                  <a:cubicBezTo>
                    <a:pt x="3487868" y="916903"/>
                    <a:pt x="3474520" y="930251"/>
                    <a:pt x="3458053" y="930251"/>
                  </a:cubicBezTo>
                  <a:lnTo>
                    <a:pt x="29815" y="930251"/>
                  </a:lnTo>
                  <a:cubicBezTo>
                    <a:pt x="13349" y="930251"/>
                    <a:pt x="0" y="916903"/>
                    <a:pt x="0" y="900437"/>
                  </a:cubicBezTo>
                  <a:lnTo>
                    <a:pt x="0" y="29815"/>
                  </a:lnTo>
                  <a:cubicBezTo>
                    <a:pt x="0" y="13349"/>
                    <a:pt x="13349" y="0"/>
                    <a:pt x="298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487868" cy="987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Function: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getchar()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Purpose: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Reads the next single character available from the </a:t>
              </a: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standard input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(usually the keyboard).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Syntax: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variable_name = getchar();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Requirement: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The receiving variable (variable_name) </a:t>
              </a: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must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be of type char.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Important Warning: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getchar() reads </a:t>
              </a:r>
              <a:r>
                <a:rPr lang="en-US" sz="2399" i="true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any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character, including invisible ones like </a:t>
              </a: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RETURN (\n)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and </a:t>
              </a: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TAB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. In loops, the residual newline character can cause unexpected behavior, often requiring a dummy getchar() call to consume the unwanted character.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11888" y="2923417"/>
            <a:ext cx="11728872" cy="90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59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Unf</a:t>
            </a:r>
            <a:r>
              <a:rPr lang="en-US" sz="259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ormatted I/O deals with reading or writing single, raw characters without attempting to interpret them as numbers, strings, or other structured data.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1888" y="1224821"/>
            <a:ext cx="602774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UNFORMATTED CHARACTER I/O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560555" y="415769"/>
            <a:ext cx="5166890" cy="1225862"/>
            <a:chOff x="0" y="0"/>
            <a:chExt cx="1360827" cy="3228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827" cy="322861"/>
            </a:xfrm>
            <a:custGeom>
              <a:avLst/>
              <a:gdLst/>
              <a:ahLst/>
              <a:cxnLst/>
              <a:rect r="r" b="b" t="t" l="l"/>
              <a:pathLst>
                <a:path h="322861" w="1360827">
                  <a:moveTo>
                    <a:pt x="76417" y="0"/>
                  </a:moveTo>
                  <a:lnTo>
                    <a:pt x="1284410" y="0"/>
                  </a:lnTo>
                  <a:cubicBezTo>
                    <a:pt x="1304677" y="0"/>
                    <a:pt x="1324114" y="8051"/>
                    <a:pt x="1338445" y="22382"/>
                  </a:cubicBezTo>
                  <a:cubicBezTo>
                    <a:pt x="1352776" y="36713"/>
                    <a:pt x="1360827" y="56150"/>
                    <a:pt x="1360827" y="76417"/>
                  </a:cubicBezTo>
                  <a:lnTo>
                    <a:pt x="1360827" y="246444"/>
                  </a:lnTo>
                  <a:cubicBezTo>
                    <a:pt x="1360827" y="288648"/>
                    <a:pt x="1326614" y="322861"/>
                    <a:pt x="1284410" y="322861"/>
                  </a:cubicBezTo>
                  <a:lnTo>
                    <a:pt x="76417" y="322861"/>
                  </a:lnTo>
                  <a:cubicBezTo>
                    <a:pt x="56150" y="322861"/>
                    <a:pt x="36713" y="314810"/>
                    <a:pt x="22382" y="300479"/>
                  </a:cubicBezTo>
                  <a:cubicBezTo>
                    <a:pt x="8051" y="286148"/>
                    <a:pt x="0" y="266711"/>
                    <a:pt x="0" y="246444"/>
                  </a:cubicBezTo>
                  <a:lnTo>
                    <a:pt x="0" y="76417"/>
                  </a:lnTo>
                  <a:cubicBezTo>
                    <a:pt x="0" y="56150"/>
                    <a:pt x="8051" y="36713"/>
                    <a:pt x="22382" y="22382"/>
                  </a:cubicBezTo>
                  <a:cubicBezTo>
                    <a:pt x="36713" y="8051"/>
                    <a:pt x="56150" y="0"/>
                    <a:pt x="76417" y="0"/>
                  </a:cubicBezTo>
                  <a:close/>
                </a:path>
              </a:pathLst>
            </a:custGeom>
            <a:solidFill>
              <a:srgbClr val="56C3D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60827" cy="380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2. Writing a Single Character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22354" y="2266432"/>
            <a:ext cx="10843292" cy="5262069"/>
            <a:chOff x="0" y="0"/>
            <a:chExt cx="2855847" cy="13858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55847" cy="1385895"/>
            </a:xfrm>
            <a:custGeom>
              <a:avLst/>
              <a:gdLst/>
              <a:ahLst/>
              <a:cxnLst/>
              <a:rect r="r" b="b" t="t" l="l"/>
              <a:pathLst>
                <a:path h="1385895" w="2855847">
                  <a:moveTo>
                    <a:pt x="36413" y="0"/>
                  </a:moveTo>
                  <a:lnTo>
                    <a:pt x="2819434" y="0"/>
                  </a:lnTo>
                  <a:cubicBezTo>
                    <a:pt x="2839544" y="0"/>
                    <a:pt x="2855847" y="16303"/>
                    <a:pt x="2855847" y="36413"/>
                  </a:cubicBezTo>
                  <a:lnTo>
                    <a:pt x="2855847" y="1349482"/>
                  </a:lnTo>
                  <a:cubicBezTo>
                    <a:pt x="2855847" y="1369592"/>
                    <a:pt x="2839544" y="1385895"/>
                    <a:pt x="2819434" y="1385895"/>
                  </a:cubicBezTo>
                  <a:lnTo>
                    <a:pt x="36413" y="1385895"/>
                  </a:lnTo>
                  <a:cubicBezTo>
                    <a:pt x="16303" y="1385895"/>
                    <a:pt x="0" y="1369592"/>
                    <a:pt x="0" y="1349482"/>
                  </a:cubicBezTo>
                  <a:lnTo>
                    <a:pt x="0" y="36413"/>
                  </a:lnTo>
                  <a:cubicBezTo>
                    <a:pt x="0" y="16303"/>
                    <a:pt x="16303" y="0"/>
                    <a:pt x="364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855847" cy="1452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26104" indent="-313052" lvl="1">
                <a:lnSpc>
                  <a:spcPts val="4059"/>
                </a:lnSpc>
                <a:buFont typeface="Arial"/>
                <a:buChar char="•"/>
              </a:pPr>
              <a:r>
                <a:rPr lang="en-US" b="true" sz="28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Function:</a:t>
              </a:r>
              <a:r>
                <a:rPr lang="en-US" sz="28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putchar()</a:t>
              </a:r>
            </a:p>
            <a:p>
              <a:pPr algn="l" marL="626104" indent="-313052" lvl="1">
                <a:lnSpc>
                  <a:spcPts val="4059"/>
                </a:lnSpc>
                <a:buFont typeface="Arial"/>
                <a:buChar char="•"/>
              </a:pPr>
              <a:r>
                <a:rPr lang="en-US" b="true" sz="28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Purpose:</a:t>
              </a:r>
              <a:r>
                <a:rPr lang="en-US" sz="28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Writes a single character to the </a:t>
              </a:r>
              <a:r>
                <a:rPr lang="en-US" b="true" sz="28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standard output</a:t>
              </a:r>
              <a:r>
                <a:rPr lang="en-US" sz="28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(usually the terminal screen).</a:t>
              </a:r>
            </a:p>
            <a:p>
              <a:pPr algn="l" marL="626104" indent="-313052" lvl="1">
                <a:lnSpc>
                  <a:spcPts val="4059"/>
                </a:lnSpc>
                <a:buFont typeface="Arial"/>
                <a:buChar char="•"/>
              </a:pPr>
              <a:r>
                <a:rPr lang="en-US" b="true" sz="28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Syntax:</a:t>
              </a:r>
              <a:r>
                <a:rPr lang="en-US" sz="28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putchar(variable_name); or putchar('constant');</a:t>
              </a:r>
            </a:p>
            <a:p>
              <a:pPr algn="l">
                <a:lnSpc>
                  <a:spcPts val="4059"/>
                </a:lnSpc>
              </a:pPr>
              <a:r>
                <a:rPr lang="en-US" sz="28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Usage:</a:t>
              </a:r>
              <a:r>
                <a:rPr lang="en-US" sz="28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It's used for displaying variable characters, constant characters (e.g., putchar('A');), or for cursor control (e.g., putchar('\n'); for a newline).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055189" y="497681"/>
            <a:ext cx="5994124" cy="1773322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55189" y="497681"/>
            <a:ext cx="5994124" cy="1773322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939867" y="2563734"/>
            <a:ext cx="10668066" cy="6154653"/>
          </a:xfrm>
          <a:custGeom>
            <a:avLst/>
            <a:gdLst/>
            <a:ahLst/>
            <a:cxnLst/>
            <a:rect r="r" b="b" t="t" l="l"/>
            <a:pathLst>
              <a:path h="6154653" w="10668066">
                <a:moveTo>
                  <a:pt x="0" y="0"/>
                </a:moveTo>
                <a:lnTo>
                  <a:pt x="10668066" y="0"/>
                </a:lnTo>
                <a:lnTo>
                  <a:pt x="10668066" y="6154653"/>
                </a:lnTo>
                <a:lnTo>
                  <a:pt x="0" y="615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021566" y="756528"/>
            <a:ext cx="6027748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7"/>
              </a:lnSpc>
            </a:pPr>
            <a:r>
              <a:rPr lang="en-US" sz="3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CHARACTER TESTING AND CONVERSION</a:t>
            </a:r>
          </a:p>
          <a:p>
            <a:pPr algn="ctr">
              <a:lnSpc>
                <a:spcPts val="356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344991" y="876944"/>
            <a:ext cx="5994124" cy="1773322"/>
            <a:chOff x="0" y="0"/>
            <a:chExt cx="2747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4991" y="876944"/>
            <a:ext cx="5994124" cy="1773322"/>
            <a:chOff x="0" y="0"/>
            <a:chExt cx="2747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4991" y="2868752"/>
            <a:ext cx="10638345" cy="2274748"/>
            <a:chOff x="0" y="0"/>
            <a:chExt cx="2801869" cy="599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01869" cy="599111"/>
            </a:xfrm>
            <a:custGeom>
              <a:avLst/>
              <a:gdLst/>
              <a:ahLst/>
              <a:cxnLst/>
              <a:rect r="r" b="b" t="t" l="l"/>
              <a:pathLst>
                <a:path h="599111" w="2801869">
                  <a:moveTo>
                    <a:pt x="37115" y="0"/>
                  </a:moveTo>
                  <a:lnTo>
                    <a:pt x="2764754" y="0"/>
                  </a:lnTo>
                  <a:cubicBezTo>
                    <a:pt x="2785252" y="0"/>
                    <a:pt x="2801869" y="16617"/>
                    <a:pt x="2801869" y="37115"/>
                  </a:cubicBezTo>
                  <a:lnTo>
                    <a:pt x="2801869" y="561996"/>
                  </a:lnTo>
                  <a:cubicBezTo>
                    <a:pt x="2801869" y="582494"/>
                    <a:pt x="2785252" y="599111"/>
                    <a:pt x="2764754" y="599111"/>
                  </a:cubicBezTo>
                  <a:lnTo>
                    <a:pt x="37115" y="599111"/>
                  </a:lnTo>
                  <a:cubicBezTo>
                    <a:pt x="16617" y="599111"/>
                    <a:pt x="0" y="582494"/>
                    <a:pt x="0" y="561996"/>
                  </a:cubicBezTo>
                  <a:lnTo>
                    <a:pt x="0" y="37115"/>
                  </a:lnTo>
                  <a:cubicBezTo>
                    <a:pt x="0" y="16617"/>
                    <a:pt x="16617" y="0"/>
                    <a:pt x="371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801869" cy="656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Formatted Input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refers to reading data that is expected to be arranged in a specific, structured format (like reading a number followed by a name).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Function: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scanf (Scan Formatted)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General Form: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scanf ("control string", &amp;arg1, &amp;arg2, ...);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4991" y="5143500"/>
            <a:ext cx="5166890" cy="1252759"/>
            <a:chOff x="0" y="0"/>
            <a:chExt cx="1360827" cy="3299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60827" cy="329945"/>
            </a:xfrm>
            <a:custGeom>
              <a:avLst/>
              <a:gdLst/>
              <a:ahLst/>
              <a:cxnLst/>
              <a:rect r="r" b="b" t="t" l="l"/>
              <a:pathLst>
                <a:path h="329945" w="1360827">
                  <a:moveTo>
                    <a:pt x="76417" y="0"/>
                  </a:moveTo>
                  <a:lnTo>
                    <a:pt x="1284410" y="0"/>
                  </a:lnTo>
                  <a:cubicBezTo>
                    <a:pt x="1304677" y="0"/>
                    <a:pt x="1324114" y="8051"/>
                    <a:pt x="1338445" y="22382"/>
                  </a:cubicBezTo>
                  <a:cubicBezTo>
                    <a:pt x="1352776" y="36713"/>
                    <a:pt x="1360827" y="56150"/>
                    <a:pt x="1360827" y="76417"/>
                  </a:cubicBezTo>
                  <a:lnTo>
                    <a:pt x="1360827" y="253528"/>
                  </a:lnTo>
                  <a:cubicBezTo>
                    <a:pt x="1360827" y="295732"/>
                    <a:pt x="1326614" y="329945"/>
                    <a:pt x="1284410" y="329945"/>
                  </a:cubicBezTo>
                  <a:lnTo>
                    <a:pt x="76417" y="329945"/>
                  </a:lnTo>
                  <a:cubicBezTo>
                    <a:pt x="56150" y="329945"/>
                    <a:pt x="36713" y="321894"/>
                    <a:pt x="22382" y="307563"/>
                  </a:cubicBezTo>
                  <a:cubicBezTo>
                    <a:pt x="8051" y="293232"/>
                    <a:pt x="0" y="273795"/>
                    <a:pt x="0" y="253528"/>
                  </a:cubicBezTo>
                  <a:lnTo>
                    <a:pt x="0" y="76417"/>
                  </a:lnTo>
                  <a:cubicBezTo>
                    <a:pt x="0" y="56150"/>
                    <a:pt x="8051" y="36713"/>
                    <a:pt x="22382" y="22382"/>
                  </a:cubicBezTo>
                  <a:cubicBezTo>
                    <a:pt x="36713" y="8051"/>
                    <a:pt x="56150" y="0"/>
                    <a:pt x="76417" y="0"/>
                  </a:cubicBezTo>
                  <a:close/>
                </a:path>
              </a:pathLst>
            </a:custGeom>
            <a:solidFill>
              <a:srgbClr val="56C3D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60827" cy="387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Crucial Rule: The Address Operator (&amp;)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44991" y="6837264"/>
            <a:ext cx="10954907" cy="2274748"/>
            <a:chOff x="0" y="0"/>
            <a:chExt cx="2885243" cy="599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85243" cy="599111"/>
            </a:xfrm>
            <a:custGeom>
              <a:avLst/>
              <a:gdLst/>
              <a:ahLst/>
              <a:cxnLst/>
              <a:rect r="r" b="b" t="t" l="l"/>
              <a:pathLst>
                <a:path h="599111" w="2885243">
                  <a:moveTo>
                    <a:pt x="36042" y="0"/>
                  </a:moveTo>
                  <a:lnTo>
                    <a:pt x="2849201" y="0"/>
                  </a:lnTo>
                  <a:cubicBezTo>
                    <a:pt x="2869106" y="0"/>
                    <a:pt x="2885243" y="16137"/>
                    <a:pt x="2885243" y="36042"/>
                  </a:cubicBezTo>
                  <a:lnTo>
                    <a:pt x="2885243" y="563068"/>
                  </a:lnTo>
                  <a:cubicBezTo>
                    <a:pt x="2885243" y="582974"/>
                    <a:pt x="2869106" y="599111"/>
                    <a:pt x="2849201" y="599111"/>
                  </a:cubicBezTo>
                  <a:lnTo>
                    <a:pt x="36042" y="599111"/>
                  </a:lnTo>
                  <a:cubicBezTo>
                    <a:pt x="16137" y="599111"/>
                    <a:pt x="0" y="582974"/>
                    <a:pt x="0" y="563068"/>
                  </a:cubicBezTo>
                  <a:lnTo>
                    <a:pt x="0" y="36042"/>
                  </a:lnTo>
                  <a:cubicBezTo>
                    <a:pt x="0" y="16137"/>
                    <a:pt x="16137" y="0"/>
                    <a:pt x="360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885243" cy="656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Every argument in a scanf call (except for string arrays, which are already addresses/pointers) </a:t>
              </a: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must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be preceded by the </a:t>
              </a: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address operator (&amp;)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(e.g., &amp;num). This operator provides the function with the variable's memory location where the scanned value should be stored.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44991" y="1259472"/>
            <a:ext cx="6027748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FORMATTED INPUT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5726628" y="297057"/>
            <a:ext cx="5994124" cy="1773322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26628" y="297057"/>
            <a:ext cx="5994124" cy="1773322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829156" y="2274461"/>
            <a:ext cx="10415897" cy="6983839"/>
          </a:xfrm>
          <a:custGeom>
            <a:avLst/>
            <a:gdLst/>
            <a:ahLst/>
            <a:cxnLst/>
            <a:rect r="r" b="b" t="t" l="l"/>
            <a:pathLst>
              <a:path h="6983839" w="10415897">
                <a:moveTo>
                  <a:pt x="0" y="0"/>
                </a:moveTo>
                <a:lnTo>
                  <a:pt x="10415897" y="0"/>
                </a:lnTo>
                <a:lnTo>
                  <a:pt x="10415897" y="6983839"/>
                </a:lnTo>
                <a:lnTo>
                  <a:pt x="0" y="69838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93004" y="514350"/>
            <a:ext cx="602774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INPUT SPECIFICATIONS (FORMAT CODES)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130126" y="581056"/>
            <a:ext cx="5994124" cy="1773322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30126" y="581056"/>
            <a:ext cx="5994124" cy="1773322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747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Reading Strings with Spaces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87076" y="2713971"/>
            <a:ext cx="10169946" cy="2693848"/>
            <a:chOff x="0" y="0"/>
            <a:chExt cx="2678504" cy="7094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78504" cy="709491"/>
            </a:xfrm>
            <a:custGeom>
              <a:avLst/>
              <a:gdLst/>
              <a:ahLst/>
              <a:cxnLst/>
              <a:rect r="r" b="b" t="t" l="l"/>
              <a:pathLst>
                <a:path h="709491" w="2678504">
                  <a:moveTo>
                    <a:pt x="38824" y="0"/>
                  </a:moveTo>
                  <a:lnTo>
                    <a:pt x="2639680" y="0"/>
                  </a:lnTo>
                  <a:cubicBezTo>
                    <a:pt x="2661122" y="0"/>
                    <a:pt x="2678504" y="17382"/>
                    <a:pt x="2678504" y="38824"/>
                  </a:cubicBezTo>
                  <a:lnTo>
                    <a:pt x="2678504" y="670667"/>
                  </a:lnTo>
                  <a:cubicBezTo>
                    <a:pt x="2678504" y="680964"/>
                    <a:pt x="2674414" y="690839"/>
                    <a:pt x="2667133" y="698119"/>
                  </a:cubicBezTo>
                  <a:cubicBezTo>
                    <a:pt x="2659852" y="705400"/>
                    <a:pt x="2649977" y="709491"/>
                    <a:pt x="2639680" y="709491"/>
                  </a:cubicBezTo>
                  <a:lnTo>
                    <a:pt x="38824" y="709491"/>
                  </a:lnTo>
                  <a:cubicBezTo>
                    <a:pt x="28527" y="709491"/>
                    <a:pt x="18652" y="705400"/>
                    <a:pt x="11371" y="698119"/>
                  </a:cubicBezTo>
                  <a:cubicBezTo>
                    <a:pt x="4090" y="690839"/>
                    <a:pt x="0" y="680964"/>
                    <a:pt x="0" y="670667"/>
                  </a:cubicBezTo>
                  <a:lnTo>
                    <a:pt x="0" y="38824"/>
                  </a:lnTo>
                  <a:cubicBezTo>
                    <a:pt x="0" y="28527"/>
                    <a:pt x="4090" y="18652"/>
                    <a:pt x="11371" y="11371"/>
                  </a:cubicBezTo>
                  <a:cubicBezTo>
                    <a:pt x="18652" y="4090"/>
                    <a:pt x="28527" y="0"/>
                    <a:pt x="388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678504" cy="766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Since %s terminates reading at a space, you must use </a:t>
              </a: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Scan Sets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to read strings containing internal white space (like an address or a full name):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Form: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scanf("%[^characters]", address);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Example: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scanf("%[^\n]", my_address);</a:t>
              </a:r>
            </a:p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This instructs scanf to read </a:t>
              </a: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all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characters (%[...]) </a:t>
              </a: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except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(^) the newline character (\n), allowing it to capture the entire line.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79348" y="5645764"/>
            <a:ext cx="3399664" cy="1039838"/>
            <a:chOff x="0" y="0"/>
            <a:chExt cx="895385" cy="2738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5385" cy="273867"/>
            </a:xfrm>
            <a:custGeom>
              <a:avLst/>
              <a:gdLst/>
              <a:ahLst/>
              <a:cxnLst/>
              <a:rect r="r" b="b" t="t" l="l"/>
              <a:pathLst>
                <a:path h="273867" w="895385">
                  <a:moveTo>
                    <a:pt x="116140" y="0"/>
                  </a:moveTo>
                  <a:lnTo>
                    <a:pt x="779244" y="0"/>
                  </a:lnTo>
                  <a:cubicBezTo>
                    <a:pt x="843387" y="0"/>
                    <a:pt x="895385" y="51998"/>
                    <a:pt x="895385" y="116140"/>
                  </a:cubicBezTo>
                  <a:lnTo>
                    <a:pt x="895385" y="157727"/>
                  </a:lnTo>
                  <a:cubicBezTo>
                    <a:pt x="895385" y="188529"/>
                    <a:pt x="883149" y="218070"/>
                    <a:pt x="861368" y="239850"/>
                  </a:cubicBezTo>
                  <a:cubicBezTo>
                    <a:pt x="839587" y="261631"/>
                    <a:pt x="810047" y="273867"/>
                    <a:pt x="779244" y="273867"/>
                  </a:cubicBezTo>
                  <a:lnTo>
                    <a:pt x="116140" y="273867"/>
                  </a:lnTo>
                  <a:cubicBezTo>
                    <a:pt x="85338" y="273867"/>
                    <a:pt x="55797" y="261631"/>
                    <a:pt x="34017" y="239850"/>
                  </a:cubicBezTo>
                  <a:cubicBezTo>
                    <a:pt x="12236" y="218070"/>
                    <a:pt x="0" y="188529"/>
                    <a:pt x="0" y="157727"/>
                  </a:cubicBezTo>
                  <a:lnTo>
                    <a:pt x="0" y="116140"/>
                  </a:lnTo>
                  <a:cubicBezTo>
                    <a:pt x="0" y="85338"/>
                    <a:pt x="12236" y="55797"/>
                    <a:pt x="34017" y="34017"/>
                  </a:cubicBezTo>
                  <a:cubicBezTo>
                    <a:pt x="55797" y="12236"/>
                    <a:pt x="85338" y="0"/>
                    <a:pt x="116140" y="0"/>
                  </a:cubicBezTo>
                  <a:close/>
                </a:path>
              </a:pathLst>
            </a:custGeom>
            <a:solidFill>
              <a:srgbClr val="56C3D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95385" cy="331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Error Detection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29156" y="7301776"/>
            <a:ext cx="10169946" cy="1855648"/>
            <a:chOff x="0" y="0"/>
            <a:chExt cx="2678504" cy="4887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78504" cy="488730"/>
            </a:xfrm>
            <a:custGeom>
              <a:avLst/>
              <a:gdLst/>
              <a:ahLst/>
              <a:cxnLst/>
              <a:rect r="r" b="b" t="t" l="l"/>
              <a:pathLst>
                <a:path h="488730" w="2678504">
                  <a:moveTo>
                    <a:pt x="38824" y="0"/>
                  </a:moveTo>
                  <a:lnTo>
                    <a:pt x="2639680" y="0"/>
                  </a:lnTo>
                  <a:cubicBezTo>
                    <a:pt x="2661122" y="0"/>
                    <a:pt x="2678504" y="17382"/>
                    <a:pt x="2678504" y="38824"/>
                  </a:cubicBezTo>
                  <a:lnTo>
                    <a:pt x="2678504" y="449906"/>
                  </a:lnTo>
                  <a:cubicBezTo>
                    <a:pt x="2678504" y="460203"/>
                    <a:pt x="2674414" y="470078"/>
                    <a:pt x="2667133" y="477359"/>
                  </a:cubicBezTo>
                  <a:cubicBezTo>
                    <a:pt x="2659852" y="484640"/>
                    <a:pt x="2649977" y="488730"/>
                    <a:pt x="2639680" y="488730"/>
                  </a:cubicBezTo>
                  <a:lnTo>
                    <a:pt x="38824" y="488730"/>
                  </a:lnTo>
                  <a:cubicBezTo>
                    <a:pt x="28527" y="488730"/>
                    <a:pt x="18652" y="484640"/>
                    <a:pt x="11371" y="477359"/>
                  </a:cubicBezTo>
                  <a:cubicBezTo>
                    <a:pt x="4090" y="470078"/>
                    <a:pt x="0" y="460203"/>
                    <a:pt x="0" y="449906"/>
                  </a:cubicBezTo>
                  <a:lnTo>
                    <a:pt x="0" y="38824"/>
                  </a:lnTo>
                  <a:cubicBezTo>
                    <a:pt x="0" y="28527"/>
                    <a:pt x="4090" y="18652"/>
                    <a:pt x="11371" y="11371"/>
                  </a:cubicBezTo>
                  <a:cubicBezTo>
                    <a:pt x="18652" y="4090"/>
                    <a:pt x="28527" y="0"/>
                    <a:pt x="388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678504" cy="54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The scanf() function returns an integer value representing the </a:t>
              </a: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number of items successfully read and assigned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. If a data type mismatch occurs (e.g., reading a letter when expecting %d), scanf stops immediately, and the return value will be less than the number of arguments provided.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5887768" y="1700201"/>
            <a:ext cx="5994124" cy="1773322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70956" y="1700201"/>
            <a:ext cx="5994124" cy="1773322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30144" y="3762922"/>
            <a:ext cx="10296839" cy="5123330"/>
            <a:chOff x="0" y="0"/>
            <a:chExt cx="2711925" cy="13493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11925" cy="1349354"/>
            </a:xfrm>
            <a:custGeom>
              <a:avLst/>
              <a:gdLst/>
              <a:ahLst/>
              <a:cxnLst/>
              <a:rect r="r" b="b" t="t" l="l"/>
              <a:pathLst>
                <a:path h="1349354" w="2711925">
                  <a:moveTo>
                    <a:pt x="38346" y="0"/>
                  </a:moveTo>
                  <a:lnTo>
                    <a:pt x="2673579" y="0"/>
                  </a:lnTo>
                  <a:cubicBezTo>
                    <a:pt x="2694757" y="0"/>
                    <a:pt x="2711925" y="17168"/>
                    <a:pt x="2711925" y="38346"/>
                  </a:cubicBezTo>
                  <a:lnTo>
                    <a:pt x="2711925" y="1311009"/>
                  </a:lnTo>
                  <a:cubicBezTo>
                    <a:pt x="2711925" y="1321179"/>
                    <a:pt x="2707885" y="1330932"/>
                    <a:pt x="2700693" y="1338123"/>
                  </a:cubicBezTo>
                  <a:cubicBezTo>
                    <a:pt x="2693502" y="1345314"/>
                    <a:pt x="2683749" y="1349354"/>
                    <a:pt x="2673579" y="1349354"/>
                  </a:cubicBezTo>
                  <a:lnTo>
                    <a:pt x="38346" y="1349354"/>
                  </a:lnTo>
                  <a:cubicBezTo>
                    <a:pt x="28176" y="1349354"/>
                    <a:pt x="18422" y="1345314"/>
                    <a:pt x="11231" y="1338123"/>
                  </a:cubicBezTo>
                  <a:cubicBezTo>
                    <a:pt x="4040" y="1330932"/>
                    <a:pt x="0" y="1321179"/>
                    <a:pt x="0" y="1311009"/>
                  </a:cubicBezTo>
                  <a:lnTo>
                    <a:pt x="0" y="38346"/>
                  </a:lnTo>
                  <a:cubicBezTo>
                    <a:pt x="0" y="28176"/>
                    <a:pt x="4040" y="18422"/>
                    <a:pt x="11231" y="11231"/>
                  </a:cubicBezTo>
                  <a:cubicBezTo>
                    <a:pt x="18422" y="4040"/>
                    <a:pt x="28176" y="0"/>
                    <a:pt x="3834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711925" cy="1406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Formatted Output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allows you to display data on the standard output (screen) with precise control over its appearance, alignment, and precision.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Function: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printf (Print Formatted)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General Form: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printf("control string", arg1, arg2, ...);</a:t>
              </a:r>
            </a:p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The </a:t>
              </a: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control string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is a powerful combination of three things:</a:t>
              </a:r>
            </a:p>
            <a:p>
              <a:pPr algn="l" marL="518157" indent="-259078" lvl="1">
                <a:lnSpc>
                  <a:spcPts val="3359"/>
                </a:lnSpc>
                <a:buAutoNum type="arabicPeriod" startAt="1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Characters: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Printed directly as they appear (e.g., "Result: ").</a:t>
              </a:r>
            </a:p>
            <a:p>
              <a:pPr algn="l" marL="518157" indent="-259078" lvl="1">
                <a:lnSpc>
                  <a:spcPts val="3359"/>
                </a:lnSpc>
                <a:buAutoNum type="arabicPeriod" startAt="1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Escape Sequences: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Special characters like \n (newline) and \t (tab).</a:t>
              </a:r>
            </a:p>
            <a:p>
              <a:pPr algn="l" marL="518157" indent="-259078" lvl="1">
                <a:lnSpc>
                  <a:spcPts val="3359"/>
                </a:lnSpc>
                <a:buAutoNum type="arabicPeriod" startAt="1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Format Specifications:</a:t>
              </a:r>
              <a:r>
                <a:rPr lang="en-US" sz="2399">
                  <a:solidFill>
                    <a:srgbClr val="000000"/>
                  </a:solidFill>
                  <a:latin typeface="DG Jory"/>
                  <a:ea typeface="DG Jory"/>
                  <a:cs typeface="DG Jory"/>
                  <a:sym typeface="DG Jory"/>
                </a:rPr>
                <a:t> Placeholders (starting with %) for displaying the argument values.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887768" y="1897836"/>
            <a:ext cx="602774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7"/>
              </a:lnSpc>
            </a:pPr>
            <a:r>
              <a:rPr lang="en-US" sz="33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FORMATTED OUTPUT (PRINTF())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5921392" y="543052"/>
            <a:ext cx="5994124" cy="1773322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87768" y="543052"/>
            <a:ext cx="5994124" cy="1773322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367805" y="2658547"/>
            <a:ext cx="9552390" cy="6742864"/>
          </a:xfrm>
          <a:custGeom>
            <a:avLst/>
            <a:gdLst/>
            <a:ahLst/>
            <a:cxnLst/>
            <a:rect r="r" b="b" t="t" l="l"/>
            <a:pathLst>
              <a:path h="6742864" w="9552390">
                <a:moveTo>
                  <a:pt x="0" y="0"/>
                </a:moveTo>
                <a:lnTo>
                  <a:pt x="9552390" y="0"/>
                </a:lnTo>
                <a:lnTo>
                  <a:pt x="9552390" y="6742864"/>
                </a:lnTo>
                <a:lnTo>
                  <a:pt x="0" y="674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87768" y="794671"/>
            <a:ext cx="602774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OUTPUT SPECIFICATION STRUCTURE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5921392" y="543052"/>
            <a:ext cx="5994124" cy="1773322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87768" y="543052"/>
            <a:ext cx="5994124" cy="1773322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887768" y="794671"/>
            <a:ext cx="602774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 OF REAL NUMBERS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829156" y="2555612"/>
            <a:ext cx="10296839" cy="1855648"/>
            <a:chOff x="0" y="0"/>
            <a:chExt cx="2711925" cy="4887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11925" cy="488730"/>
            </a:xfrm>
            <a:custGeom>
              <a:avLst/>
              <a:gdLst/>
              <a:ahLst/>
              <a:cxnLst/>
              <a:rect r="r" b="b" t="t" l="l"/>
              <a:pathLst>
                <a:path h="488730" w="2711925">
                  <a:moveTo>
                    <a:pt x="38346" y="0"/>
                  </a:moveTo>
                  <a:lnTo>
                    <a:pt x="2673579" y="0"/>
                  </a:lnTo>
                  <a:cubicBezTo>
                    <a:pt x="2694757" y="0"/>
                    <a:pt x="2711925" y="17168"/>
                    <a:pt x="2711925" y="38346"/>
                  </a:cubicBezTo>
                  <a:lnTo>
                    <a:pt x="2711925" y="450385"/>
                  </a:lnTo>
                  <a:cubicBezTo>
                    <a:pt x="2711925" y="460555"/>
                    <a:pt x="2707885" y="470308"/>
                    <a:pt x="2700693" y="477499"/>
                  </a:cubicBezTo>
                  <a:cubicBezTo>
                    <a:pt x="2693502" y="484690"/>
                    <a:pt x="2683749" y="488730"/>
                    <a:pt x="2673579" y="488730"/>
                  </a:cubicBezTo>
                  <a:lnTo>
                    <a:pt x="38346" y="488730"/>
                  </a:lnTo>
                  <a:cubicBezTo>
                    <a:pt x="28176" y="488730"/>
                    <a:pt x="18422" y="484690"/>
                    <a:pt x="11231" y="477499"/>
                  </a:cubicBezTo>
                  <a:cubicBezTo>
                    <a:pt x="4040" y="470308"/>
                    <a:pt x="0" y="460555"/>
                    <a:pt x="0" y="450385"/>
                  </a:cubicBezTo>
                  <a:lnTo>
                    <a:pt x="0" y="38346"/>
                  </a:lnTo>
                  <a:cubicBezTo>
                    <a:pt x="0" y="28176"/>
                    <a:pt x="4040" y="18422"/>
                    <a:pt x="11231" y="11231"/>
                  </a:cubicBezTo>
                  <a:cubicBezTo>
                    <a:pt x="18422" y="4040"/>
                    <a:pt x="28176" y="0"/>
                    <a:pt x="3834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711925" cy="545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Decimal Format: %w.p</a:t>
              </a: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 f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Example: printf("%10.2f", 98.7654); would output the number right-justified in 10 columns, rounded to two decimal places (e.g., 98.77).</a:t>
              </a:r>
            </a:p>
            <a:p>
              <a:pPr algn="l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Exponential Format: %w.p 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829156" y="5143500"/>
            <a:ext cx="3399664" cy="1059842"/>
            <a:chOff x="0" y="0"/>
            <a:chExt cx="895385" cy="2791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5385" cy="279135"/>
            </a:xfrm>
            <a:custGeom>
              <a:avLst/>
              <a:gdLst/>
              <a:ahLst/>
              <a:cxnLst/>
              <a:rect r="r" b="b" t="t" l="l"/>
              <a:pathLst>
                <a:path h="279135" w="895385">
                  <a:moveTo>
                    <a:pt x="116140" y="0"/>
                  </a:moveTo>
                  <a:lnTo>
                    <a:pt x="779244" y="0"/>
                  </a:lnTo>
                  <a:cubicBezTo>
                    <a:pt x="843387" y="0"/>
                    <a:pt x="895385" y="51998"/>
                    <a:pt x="895385" y="116140"/>
                  </a:cubicBezTo>
                  <a:lnTo>
                    <a:pt x="895385" y="162995"/>
                  </a:lnTo>
                  <a:cubicBezTo>
                    <a:pt x="895385" y="193797"/>
                    <a:pt x="883149" y="223338"/>
                    <a:pt x="861368" y="245119"/>
                  </a:cubicBezTo>
                  <a:cubicBezTo>
                    <a:pt x="839587" y="266899"/>
                    <a:pt x="810047" y="279135"/>
                    <a:pt x="779244" y="279135"/>
                  </a:cubicBezTo>
                  <a:lnTo>
                    <a:pt x="116140" y="279135"/>
                  </a:lnTo>
                  <a:cubicBezTo>
                    <a:pt x="85338" y="279135"/>
                    <a:pt x="55797" y="266899"/>
                    <a:pt x="34017" y="245119"/>
                  </a:cubicBezTo>
                  <a:cubicBezTo>
                    <a:pt x="12236" y="223338"/>
                    <a:pt x="0" y="193797"/>
                    <a:pt x="0" y="162995"/>
                  </a:cubicBezTo>
                  <a:lnTo>
                    <a:pt x="0" y="116140"/>
                  </a:lnTo>
                  <a:cubicBezTo>
                    <a:pt x="0" y="85338"/>
                    <a:pt x="12236" y="55797"/>
                    <a:pt x="34017" y="34017"/>
                  </a:cubicBezTo>
                  <a:cubicBezTo>
                    <a:pt x="55797" y="12236"/>
                    <a:pt x="85338" y="0"/>
                    <a:pt x="116140" y="0"/>
                  </a:cubicBezTo>
                  <a:close/>
                </a:path>
              </a:pathLst>
            </a:custGeom>
            <a:solidFill>
              <a:srgbClr val="56C3D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95385" cy="326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Output of Characters and Strings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829156" y="6836919"/>
            <a:ext cx="10296839" cy="2097479"/>
            <a:chOff x="0" y="0"/>
            <a:chExt cx="2711925" cy="5524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11925" cy="552422"/>
            </a:xfrm>
            <a:custGeom>
              <a:avLst/>
              <a:gdLst/>
              <a:ahLst/>
              <a:cxnLst/>
              <a:rect r="r" b="b" t="t" l="l"/>
              <a:pathLst>
                <a:path h="552422" w="2711925">
                  <a:moveTo>
                    <a:pt x="38346" y="0"/>
                  </a:moveTo>
                  <a:lnTo>
                    <a:pt x="2673579" y="0"/>
                  </a:lnTo>
                  <a:cubicBezTo>
                    <a:pt x="2694757" y="0"/>
                    <a:pt x="2711925" y="17168"/>
                    <a:pt x="2711925" y="38346"/>
                  </a:cubicBezTo>
                  <a:lnTo>
                    <a:pt x="2711925" y="514077"/>
                  </a:lnTo>
                  <a:cubicBezTo>
                    <a:pt x="2711925" y="524247"/>
                    <a:pt x="2707885" y="534000"/>
                    <a:pt x="2700693" y="541191"/>
                  </a:cubicBezTo>
                  <a:cubicBezTo>
                    <a:pt x="2693502" y="548382"/>
                    <a:pt x="2683749" y="552422"/>
                    <a:pt x="2673579" y="552422"/>
                  </a:cubicBezTo>
                  <a:lnTo>
                    <a:pt x="38346" y="552422"/>
                  </a:lnTo>
                  <a:cubicBezTo>
                    <a:pt x="28176" y="552422"/>
                    <a:pt x="18422" y="548382"/>
                    <a:pt x="11231" y="541191"/>
                  </a:cubicBezTo>
                  <a:cubicBezTo>
                    <a:pt x="4040" y="534000"/>
                    <a:pt x="0" y="524247"/>
                    <a:pt x="0" y="514077"/>
                  </a:cubicBezTo>
                  <a:lnTo>
                    <a:pt x="0" y="38346"/>
                  </a:lnTo>
                  <a:cubicBezTo>
                    <a:pt x="0" y="28176"/>
                    <a:pt x="4040" y="18422"/>
                    <a:pt x="11231" y="11231"/>
                  </a:cubicBezTo>
                  <a:cubicBezTo>
                    <a:pt x="18422" y="4040"/>
                    <a:pt x="28176" y="0"/>
                    <a:pt x="3834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711925" cy="609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String Truncation: For strings, the precision .p</a:t>
              </a: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 acts as a maximum number of characters to display.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DG Jory Bold"/>
                  <a:ea typeface="DG Jory Bold"/>
                  <a:cs typeface="DG Jory Bold"/>
                  <a:sym typeface="DG Jory Bold"/>
                </a:rPr>
                <a:t>Example: printf("%.5s", "Programming"); would output only Progr.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751838" y="4153209"/>
            <a:ext cx="8784324" cy="126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12"/>
              </a:lnSpc>
              <a:spcBef>
                <a:spcPct val="0"/>
              </a:spcBef>
            </a:pPr>
            <a:r>
              <a:rPr lang="en-US" b="true" sz="8344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DAG3qDG4Vh8</dc:identifier>
  <dcterms:modified xsi:type="dcterms:W3CDTF">2011-08-01T06:04:30Z</dcterms:modified>
  <cp:revision>1</cp:revision>
  <dc:title>Project Presentation</dc:title>
</cp:coreProperties>
</file>