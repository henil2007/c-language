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Open Sans Bold" charset="1" panose="020B0806030504020204"/>
      <p:regular r:id="rId21"/>
    </p:embeddedFont>
    <p:embeddedFont>
      <p:font typeface="Century Gothic Paneuropean" charset="1" panose="020B0502020202020204"/>
      <p:regular r:id="rId22"/>
    </p:embeddedFont>
    <p:embeddedFont>
      <p:font typeface="DM Sans Bold" charset="1" panose="00000000000000000000"/>
      <p:regular r:id="rId23"/>
    </p:embeddedFont>
    <p:embeddedFont>
      <p:font typeface="DM Sans" charset="1" panose="00000000000000000000"/>
      <p:regular r:id="rId24"/>
    </p:embeddedFont>
    <p:embeddedFont>
      <p:font typeface="Agrandir Bold" charset="1" panose="00000800000000000000"/>
      <p:regular r:id="rId25"/>
    </p:embeddedFont>
    <p:embeddedFont>
      <p:font typeface="Century Gothic Paneuropean Bold" charset="1" panose="020B0702020202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2541103" y="423965"/>
            <a:ext cx="4444074" cy="1002633"/>
            <a:chOff x="0" y="0"/>
            <a:chExt cx="1170456" cy="264068"/>
          </a:xfrm>
        </p:grpSpPr>
        <p:sp>
          <p:nvSpPr>
            <p:cNvPr name="Freeform 14" id="14"/>
            <p:cNvSpPr/>
            <p:nvPr/>
          </p:nvSpPr>
          <p:spPr>
            <a:xfrm flipH="false" flipV="false" rot="0">
              <a:off x="0" y="0"/>
              <a:ext cx="1170456" cy="264068"/>
            </a:xfrm>
            <a:custGeom>
              <a:avLst/>
              <a:gdLst/>
              <a:ahLst/>
              <a:cxnLst/>
              <a:rect r="r" b="b" t="t" l="l"/>
              <a:pathLst>
                <a:path h="264068" w="1170456">
                  <a:moveTo>
                    <a:pt x="88846" y="0"/>
                  </a:moveTo>
                  <a:lnTo>
                    <a:pt x="1081610" y="0"/>
                  </a:lnTo>
                  <a:cubicBezTo>
                    <a:pt x="1130678" y="0"/>
                    <a:pt x="1170456" y="39778"/>
                    <a:pt x="1170456" y="88846"/>
                  </a:cubicBezTo>
                  <a:lnTo>
                    <a:pt x="1170456" y="175222"/>
                  </a:lnTo>
                  <a:cubicBezTo>
                    <a:pt x="1170456" y="224290"/>
                    <a:pt x="1130678" y="264068"/>
                    <a:pt x="1081610" y="264068"/>
                  </a:cubicBezTo>
                  <a:lnTo>
                    <a:pt x="88846" y="264068"/>
                  </a:lnTo>
                  <a:cubicBezTo>
                    <a:pt x="39778" y="264068"/>
                    <a:pt x="0" y="224290"/>
                    <a:pt x="0" y="175222"/>
                  </a:cubicBezTo>
                  <a:lnTo>
                    <a:pt x="0" y="88846"/>
                  </a:lnTo>
                  <a:cubicBezTo>
                    <a:pt x="0" y="39778"/>
                    <a:pt x="39778" y="0"/>
                    <a:pt x="88846" y="0"/>
                  </a:cubicBezTo>
                  <a:close/>
                </a:path>
              </a:pathLst>
            </a:custGeom>
            <a:solidFill>
              <a:srgbClr val="FAE7BC"/>
            </a:solidFill>
          </p:spPr>
        </p:sp>
        <p:sp>
          <p:nvSpPr>
            <p:cNvPr name="TextBox 15" id="15"/>
            <p:cNvSpPr txBox="true"/>
            <p:nvPr/>
          </p:nvSpPr>
          <p:spPr>
            <a:xfrm>
              <a:off x="0" y="-85725"/>
              <a:ext cx="1170456" cy="349793"/>
            </a:xfrm>
            <a:prstGeom prst="rect">
              <a:avLst/>
            </a:prstGeom>
          </p:spPr>
          <p:txBody>
            <a:bodyPr anchor="ctr" rtlCol="false" tIns="50800" lIns="50800" bIns="50800" rIns="50800"/>
            <a:lstStyle/>
            <a:p>
              <a:pPr algn="ctr">
                <a:lnSpc>
                  <a:spcPts val="6159"/>
                </a:lnSpc>
              </a:pPr>
              <a:r>
                <a:rPr lang="en-US" b="true" sz="4399">
                  <a:solidFill>
                    <a:srgbClr val="000000"/>
                  </a:solidFill>
                  <a:latin typeface="Open Sans Bold"/>
                  <a:ea typeface="Open Sans Bold"/>
                  <a:cs typeface="Open Sans Bold"/>
                  <a:sym typeface="Open Sans Bold"/>
                </a:rPr>
                <a:t>Chapter - 2</a:t>
              </a:r>
            </a:p>
          </p:txBody>
        </p:sp>
      </p:grpSp>
      <p:grpSp>
        <p:nvGrpSpPr>
          <p:cNvPr name="Group 16" id="16"/>
          <p:cNvGrpSpPr/>
          <p:nvPr/>
        </p:nvGrpSpPr>
        <p:grpSpPr>
          <a:xfrm rot="0">
            <a:off x="5634222" y="2841070"/>
            <a:ext cx="7019556" cy="1428174"/>
            <a:chOff x="0" y="0"/>
            <a:chExt cx="1848772" cy="376145"/>
          </a:xfrm>
        </p:grpSpPr>
        <p:sp>
          <p:nvSpPr>
            <p:cNvPr name="Freeform 17" id="17"/>
            <p:cNvSpPr/>
            <p:nvPr/>
          </p:nvSpPr>
          <p:spPr>
            <a:xfrm flipH="false" flipV="false" rot="0">
              <a:off x="0" y="0"/>
              <a:ext cx="1848772" cy="376145"/>
            </a:xfrm>
            <a:custGeom>
              <a:avLst/>
              <a:gdLst/>
              <a:ahLst/>
              <a:cxnLst/>
              <a:rect r="r" b="b" t="t" l="l"/>
              <a:pathLst>
                <a:path h="376145" w="1848772">
                  <a:moveTo>
                    <a:pt x="56248" y="0"/>
                  </a:moveTo>
                  <a:lnTo>
                    <a:pt x="1792524" y="0"/>
                  </a:lnTo>
                  <a:cubicBezTo>
                    <a:pt x="1823589" y="0"/>
                    <a:pt x="1848772" y="25183"/>
                    <a:pt x="1848772" y="56248"/>
                  </a:cubicBezTo>
                  <a:lnTo>
                    <a:pt x="1848772" y="319896"/>
                  </a:lnTo>
                  <a:cubicBezTo>
                    <a:pt x="1848772" y="350961"/>
                    <a:pt x="1823589" y="376145"/>
                    <a:pt x="1792524" y="376145"/>
                  </a:cubicBezTo>
                  <a:lnTo>
                    <a:pt x="56248" y="376145"/>
                  </a:lnTo>
                  <a:cubicBezTo>
                    <a:pt x="25183" y="376145"/>
                    <a:pt x="0" y="350961"/>
                    <a:pt x="0" y="319896"/>
                  </a:cubicBezTo>
                  <a:lnTo>
                    <a:pt x="0" y="56248"/>
                  </a:lnTo>
                  <a:cubicBezTo>
                    <a:pt x="0" y="25183"/>
                    <a:pt x="25183" y="0"/>
                    <a:pt x="56248" y="0"/>
                  </a:cubicBezTo>
                  <a:close/>
                </a:path>
              </a:pathLst>
            </a:custGeom>
            <a:solidFill>
              <a:srgbClr val="FAE7BC"/>
            </a:solidFill>
          </p:spPr>
        </p:sp>
        <p:sp>
          <p:nvSpPr>
            <p:cNvPr name="TextBox 18" id="18"/>
            <p:cNvSpPr txBox="true"/>
            <p:nvPr/>
          </p:nvSpPr>
          <p:spPr>
            <a:xfrm>
              <a:off x="0" y="-104775"/>
              <a:ext cx="1848772" cy="480920"/>
            </a:xfrm>
            <a:prstGeom prst="rect">
              <a:avLst/>
            </a:prstGeom>
          </p:spPr>
          <p:txBody>
            <a:bodyPr anchor="ctr" rtlCol="false" tIns="50800" lIns="50800" bIns="50800" rIns="50800"/>
            <a:lstStyle/>
            <a:p>
              <a:pPr algn="ctr">
                <a:lnSpc>
                  <a:spcPts val="8399"/>
                </a:lnSpc>
              </a:pPr>
              <a:r>
                <a:rPr lang="en-US" b="true" sz="5999">
                  <a:solidFill>
                    <a:srgbClr val="000000"/>
                  </a:solidFill>
                  <a:latin typeface="Open Sans Bold"/>
                  <a:ea typeface="Open Sans Bold"/>
                  <a:cs typeface="Open Sans Bold"/>
                  <a:sym typeface="Open Sans Bold"/>
                </a:rPr>
                <a:t>Overview of C</a:t>
              </a:r>
            </a:p>
          </p:txBody>
        </p:sp>
      </p:grpSp>
      <p:sp>
        <p:nvSpPr>
          <p:cNvPr name="TextBox 19" id="19"/>
          <p:cNvSpPr txBox="true"/>
          <p:nvPr/>
        </p:nvSpPr>
        <p:spPr>
          <a:xfrm rot="0">
            <a:off x="4882925" y="5198586"/>
            <a:ext cx="7770853" cy="747544"/>
          </a:xfrm>
          <a:prstGeom prst="rect">
            <a:avLst/>
          </a:prstGeom>
        </p:spPr>
        <p:txBody>
          <a:bodyPr anchor="t" rtlCol="false" tIns="0" lIns="0" bIns="0" rIns="0">
            <a:spAutoFit/>
          </a:bodyPr>
          <a:lstStyle/>
          <a:p>
            <a:pPr algn="ctr">
              <a:lnSpc>
                <a:spcPts val="6127"/>
              </a:lnSpc>
            </a:pPr>
            <a:r>
              <a:rPr lang="en-US" sz="4376">
                <a:solidFill>
                  <a:srgbClr val="000000"/>
                </a:solidFill>
                <a:latin typeface="Century Gothic Paneuropean"/>
                <a:ea typeface="Century Gothic Paneuropean"/>
                <a:cs typeface="Century Gothic Paneuropean"/>
                <a:sym typeface="Century Gothic Paneuropean"/>
              </a:rPr>
              <a:t>By Henil Patel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3023268" y="480507"/>
            <a:ext cx="12241463" cy="1486508"/>
            <a:chOff x="0" y="0"/>
            <a:chExt cx="3224089" cy="391508"/>
          </a:xfrm>
        </p:grpSpPr>
        <p:sp>
          <p:nvSpPr>
            <p:cNvPr name="Freeform 14" id="14"/>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5" id="15"/>
            <p:cNvSpPr txBox="true"/>
            <p:nvPr/>
          </p:nvSpPr>
          <p:spPr>
            <a:xfrm>
              <a:off x="0" y="-142875"/>
              <a:ext cx="3224089" cy="534383"/>
            </a:xfrm>
            <a:prstGeom prst="rect">
              <a:avLst/>
            </a:prstGeom>
          </p:spPr>
          <p:txBody>
            <a:bodyPr anchor="ctr" rtlCol="false" tIns="50800" lIns="50800" bIns="50800" rIns="50800"/>
            <a:lstStyle/>
            <a:p>
              <a:pPr algn="l">
                <a:lnSpc>
                  <a:spcPts val="10359"/>
                </a:lnSpc>
              </a:pPr>
              <a:r>
                <a:rPr lang="en-US" sz="7399" spc="-251" b="true">
                  <a:solidFill>
                    <a:srgbClr val="FF751F"/>
                  </a:solidFill>
                  <a:latin typeface="DM Sans Bold"/>
                  <a:ea typeface="DM Sans Bold"/>
                  <a:cs typeface="DM Sans Bold"/>
                  <a:sym typeface="DM Sans Bold"/>
                </a:rPr>
                <a:t>2.1  :  History of C</a:t>
              </a:r>
            </a:p>
          </p:txBody>
        </p:sp>
      </p:grpSp>
      <p:grpSp>
        <p:nvGrpSpPr>
          <p:cNvPr name="Group 16" id="16"/>
          <p:cNvGrpSpPr/>
          <p:nvPr/>
        </p:nvGrpSpPr>
        <p:grpSpPr>
          <a:xfrm rot="0">
            <a:off x="3023268" y="2618813"/>
            <a:ext cx="12241463" cy="5049374"/>
            <a:chOff x="0" y="0"/>
            <a:chExt cx="3224089" cy="1329876"/>
          </a:xfrm>
        </p:grpSpPr>
        <p:sp>
          <p:nvSpPr>
            <p:cNvPr name="Freeform 17" id="17"/>
            <p:cNvSpPr/>
            <p:nvPr/>
          </p:nvSpPr>
          <p:spPr>
            <a:xfrm flipH="false" flipV="false" rot="0">
              <a:off x="0" y="0"/>
              <a:ext cx="3224089" cy="1329876"/>
            </a:xfrm>
            <a:custGeom>
              <a:avLst/>
              <a:gdLst/>
              <a:ahLst/>
              <a:cxnLst/>
              <a:rect r="r" b="b" t="t" l="l"/>
              <a:pathLst>
                <a:path h="1329876" w="3224089">
                  <a:moveTo>
                    <a:pt x="0" y="0"/>
                  </a:moveTo>
                  <a:lnTo>
                    <a:pt x="3224089" y="0"/>
                  </a:lnTo>
                  <a:lnTo>
                    <a:pt x="3224089" y="1329876"/>
                  </a:lnTo>
                  <a:lnTo>
                    <a:pt x="0" y="1329876"/>
                  </a:lnTo>
                  <a:close/>
                </a:path>
              </a:pathLst>
            </a:custGeom>
            <a:solidFill>
              <a:srgbClr val="FFFFFF"/>
            </a:solidFill>
          </p:spPr>
        </p:sp>
        <p:sp>
          <p:nvSpPr>
            <p:cNvPr name="TextBox 18" id="18"/>
            <p:cNvSpPr txBox="true"/>
            <p:nvPr/>
          </p:nvSpPr>
          <p:spPr>
            <a:xfrm>
              <a:off x="0" y="-47625"/>
              <a:ext cx="3224089" cy="1377501"/>
            </a:xfrm>
            <a:prstGeom prst="rect">
              <a:avLst/>
            </a:prstGeom>
          </p:spPr>
          <p:txBody>
            <a:bodyPr anchor="ctr" rtlCol="false" tIns="50800" lIns="50800" bIns="50800" rIns="50800"/>
            <a:lstStyle/>
            <a:p>
              <a:pPr algn="just" marL="518157" indent="-259078" lvl="1">
                <a:lnSpc>
                  <a:spcPts val="3359"/>
                </a:lnSpc>
                <a:buFont typeface="Arial"/>
                <a:buChar char="•"/>
              </a:pPr>
              <a:r>
                <a:rPr lang="en-US" b="true" sz="2399" spc="-81">
                  <a:solidFill>
                    <a:srgbClr val="000000"/>
                  </a:solidFill>
                  <a:latin typeface="DM Sans Bold"/>
                  <a:ea typeface="DM Sans Bold"/>
                  <a:cs typeface="DM Sans Bold"/>
                  <a:sym typeface="DM Sans Bold"/>
                </a:rPr>
                <a:t>C</a:t>
              </a:r>
              <a:r>
                <a:rPr lang="en-US" sz="2399" spc="-81">
                  <a:solidFill>
                    <a:srgbClr val="000000"/>
                  </a:solidFill>
                  <a:latin typeface="DM Sans"/>
                  <a:ea typeface="DM Sans"/>
                  <a:cs typeface="DM Sans"/>
                  <a:sym typeface="DM Sans"/>
                </a:rPr>
                <a:t> seems a strange name for a programming language. But this strange sounding language is one of the most popular computer languages today because it is a structured, high-level, machine independent language. allows software developers to develop programs without worrying about the hardware platforms where they will be implemented.</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C was evolved from ALGOL, BCPL and B by Dennis Ritchie at the Bell Laboratories in 1972. C uses many concepts from these languages and added the concept of data types and other powerful features. Since it was developed along with the UNIX operating system, it is strongly associated with UNIX. This operating system which was also developed at Bell Laboratories, was coded almost entirely in C.</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86644">
            <a:off x="5331011" y="680847"/>
            <a:ext cx="7089044" cy="8285896"/>
          </a:xfrm>
          <a:custGeom>
            <a:avLst/>
            <a:gdLst/>
            <a:ahLst/>
            <a:cxnLst/>
            <a:rect r="r" b="b" t="t" l="l"/>
            <a:pathLst>
              <a:path h="8285896" w="7089044">
                <a:moveTo>
                  <a:pt x="0" y="0"/>
                </a:moveTo>
                <a:lnTo>
                  <a:pt x="7089045" y="0"/>
                </a:lnTo>
                <a:lnTo>
                  <a:pt x="7089045" y="8285896"/>
                </a:lnTo>
                <a:lnTo>
                  <a:pt x="0" y="8285896"/>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3023268" y="488672"/>
            <a:ext cx="12241463" cy="1486508"/>
            <a:chOff x="0" y="0"/>
            <a:chExt cx="3224089" cy="391508"/>
          </a:xfrm>
        </p:grpSpPr>
        <p:sp>
          <p:nvSpPr>
            <p:cNvPr name="Freeform 14" id="14"/>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5" id="15"/>
            <p:cNvSpPr txBox="true"/>
            <p:nvPr/>
          </p:nvSpPr>
          <p:spPr>
            <a:xfrm>
              <a:off x="0" y="-142875"/>
              <a:ext cx="3224089" cy="534383"/>
            </a:xfrm>
            <a:prstGeom prst="rect">
              <a:avLst/>
            </a:prstGeom>
          </p:spPr>
          <p:txBody>
            <a:bodyPr anchor="ctr" rtlCol="false" tIns="50800" lIns="50800" bIns="50800" rIns="50800"/>
            <a:lstStyle/>
            <a:p>
              <a:pPr algn="l">
                <a:lnSpc>
                  <a:spcPts val="10359"/>
                </a:lnSpc>
              </a:pPr>
              <a:r>
                <a:rPr lang="en-US" sz="7399" spc="-251" b="true">
                  <a:solidFill>
                    <a:srgbClr val="FF751F"/>
                  </a:solidFill>
                  <a:latin typeface="DM Sans Bold"/>
                  <a:ea typeface="DM Sans Bold"/>
                  <a:cs typeface="DM Sans Bold"/>
                  <a:sym typeface="DM Sans Bold"/>
                </a:rPr>
                <a:t>2.2  :  Importance of C</a:t>
              </a:r>
            </a:p>
          </p:txBody>
        </p:sp>
      </p:grpSp>
      <p:grpSp>
        <p:nvGrpSpPr>
          <p:cNvPr name="Group 16" id="16"/>
          <p:cNvGrpSpPr/>
          <p:nvPr/>
        </p:nvGrpSpPr>
        <p:grpSpPr>
          <a:xfrm rot="0">
            <a:off x="3042318" y="2618813"/>
            <a:ext cx="12241463" cy="5750368"/>
            <a:chOff x="0" y="0"/>
            <a:chExt cx="3224089" cy="1514500"/>
          </a:xfrm>
        </p:grpSpPr>
        <p:sp>
          <p:nvSpPr>
            <p:cNvPr name="Freeform 17" id="17"/>
            <p:cNvSpPr/>
            <p:nvPr/>
          </p:nvSpPr>
          <p:spPr>
            <a:xfrm flipH="false" flipV="false" rot="0">
              <a:off x="0" y="0"/>
              <a:ext cx="3224089" cy="1514500"/>
            </a:xfrm>
            <a:custGeom>
              <a:avLst/>
              <a:gdLst/>
              <a:ahLst/>
              <a:cxnLst/>
              <a:rect r="r" b="b" t="t" l="l"/>
              <a:pathLst>
                <a:path h="1514500" w="3224089">
                  <a:moveTo>
                    <a:pt x="0" y="0"/>
                  </a:moveTo>
                  <a:lnTo>
                    <a:pt x="3224089" y="0"/>
                  </a:lnTo>
                  <a:lnTo>
                    <a:pt x="3224089" y="1514500"/>
                  </a:lnTo>
                  <a:lnTo>
                    <a:pt x="0" y="1514500"/>
                  </a:lnTo>
                  <a:close/>
                </a:path>
              </a:pathLst>
            </a:custGeom>
            <a:solidFill>
              <a:srgbClr val="FFFFFF"/>
            </a:solidFill>
          </p:spPr>
        </p:sp>
        <p:sp>
          <p:nvSpPr>
            <p:cNvPr name="TextBox 18" id="18"/>
            <p:cNvSpPr txBox="true"/>
            <p:nvPr/>
          </p:nvSpPr>
          <p:spPr>
            <a:xfrm>
              <a:off x="0" y="-47625"/>
              <a:ext cx="3224089" cy="1562125"/>
            </a:xfrm>
            <a:prstGeom prst="rect">
              <a:avLst/>
            </a:prstGeom>
          </p:spPr>
          <p:txBody>
            <a:bodyPr anchor="ctr" rtlCol="false" tIns="50800" lIns="50800" bIns="50800" rIns="50800"/>
            <a:lstStyle/>
            <a:p>
              <a:pPr algn="just" marL="518157" indent="-259078" lvl="1">
                <a:lnSpc>
                  <a:spcPts val="3359"/>
                </a:lnSpc>
                <a:buFont typeface="Arial"/>
                <a:buChar char="•"/>
              </a:pPr>
              <a:r>
                <a:rPr lang="en-US" sz="2399" spc="-81">
                  <a:solidFill>
                    <a:srgbClr val="000000"/>
                  </a:solidFill>
                  <a:latin typeface="DM Sans"/>
                  <a:ea typeface="DM Sans"/>
                  <a:cs typeface="DM Sans"/>
                  <a:sym typeface="DM Sans"/>
                </a:rPr>
                <a:t> The C compiler combines the capabilities of an assembly language with the features of a high-level language and therefore it is well suited for writing both system software and business packages. In fact, many of the C compilers available in the market are written in C.</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Programs written in C are efficient and fast. This is due to its variety of data types and powerful operators.</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C is highly portable. This means that a C program written from one computer can be run on another computer with little or no modification.</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C language is well suited for structured programming.</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This modular structure makes program debugging, testing and maintenance easier.</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Before discussing specific features of c, we shall look at dome sample c programs, and analyze and understand how they work.</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3023268" y="488672"/>
            <a:ext cx="12241463" cy="1486508"/>
            <a:chOff x="0" y="0"/>
            <a:chExt cx="3224089" cy="391508"/>
          </a:xfrm>
        </p:grpSpPr>
        <p:sp>
          <p:nvSpPr>
            <p:cNvPr name="Freeform 14" id="14"/>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5" id="15"/>
            <p:cNvSpPr txBox="true"/>
            <p:nvPr/>
          </p:nvSpPr>
          <p:spPr>
            <a:xfrm>
              <a:off x="0" y="-142875"/>
              <a:ext cx="3224089" cy="534383"/>
            </a:xfrm>
            <a:prstGeom prst="rect">
              <a:avLst/>
            </a:prstGeom>
          </p:spPr>
          <p:txBody>
            <a:bodyPr anchor="ctr" rtlCol="false" tIns="50800" lIns="50800" bIns="50800" rIns="50800"/>
            <a:lstStyle/>
            <a:p>
              <a:pPr algn="l">
                <a:lnSpc>
                  <a:spcPts val="10359"/>
                </a:lnSpc>
              </a:pPr>
              <a:r>
                <a:rPr lang="en-US" sz="7399" spc="-251" b="true">
                  <a:solidFill>
                    <a:srgbClr val="FF751F"/>
                  </a:solidFill>
                  <a:latin typeface="DM Sans Bold"/>
                  <a:ea typeface="DM Sans Bold"/>
                  <a:cs typeface="DM Sans Bold"/>
                  <a:sym typeface="DM Sans Bold"/>
                </a:rPr>
                <a:t>2.3  :  Sample Program 1 </a:t>
              </a:r>
            </a:p>
          </p:txBody>
        </p:sp>
      </p:grpSp>
      <p:grpSp>
        <p:nvGrpSpPr>
          <p:cNvPr name="Group 16" id="16"/>
          <p:cNvGrpSpPr/>
          <p:nvPr/>
        </p:nvGrpSpPr>
        <p:grpSpPr>
          <a:xfrm rot="0">
            <a:off x="1717876" y="2307648"/>
            <a:ext cx="4261043" cy="4717389"/>
            <a:chOff x="0" y="0"/>
            <a:chExt cx="1122250" cy="1242440"/>
          </a:xfrm>
        </p:grpSpPr>
        <p:sp>
          <p:nvSpPr>
            <p:cNvPr name="Freeform 17" id="17"/>
            <p:cNvSpPr/>
            <p:nvPr/>
          </p:nvSpPr>
          <p:spPr>
            <a:xfrm flipH="false" flipV="false" rot="0">
              <a:off x="0" y="0"/>
              <a:ext cx="1122250" cy="1242440"/>
            </a:xfrm>
            <a:custGeom>
              <a:avLst/>
              <a:gdLst/>
              <a:ahLst/>
              <a:cxnLst/>
              <a:rect r="r" b="b" t="t" l="l"/>
              <a:pathLst>
                <a:path h="1242440" w="1122250">
                  <a:moveTo>
                    <a:pt x="0" y="0"/>
                  </a:moveTo>
                  <a:lnTo>
                    <a:pt x="1122250" y="0"/>
                  </a:lnTo>
                  <a:lnTo>
                    <a:pt x="1122250" y="1242440"/>
                  </a:lnTo>
                  <a:lnTo>
                    <a:pt x="0" y="1242440"/>
                  </a:lnTo>
                  <a:close/>
                </a:path>
              </a:pathLst>
            </a:custGeom>
            <a:solidFill>
              <a:srgbClr val="FFFFFF"/>
            </a:solidFill>
          </p:spPr>
        </p:sp>
        <p:sp>
          <p:nvSpPr>
            <p:cNvPr name="TextBox 18" id="18"/>
            <p:cNvSpPr txBox="true"/>
            <p:nvPr/>
          </p:nvSpPr>
          <p:spPr>
            <a:xfrm>
              <a:off x="0" y="-47625"/>
              <a:ext cx="1122250" cy="1290065"/>
            </a:xfrm>
            <a:prstGeom prst="rect">
              <a:avLst/>
            </a:prstGeom>
          </p:spPr>
          <p:txBody>
            <a:bodyPr anchor="ctr" rtlCol="false" tIns="50800" lIns="50800" bIns="50800" rIns="50800"/>
            <a:lstStyle/>
            <a:p>
              <a:pPr algn="just">
                <a:lnSpc>
                  <a:spcPts val="3359"/>
                </a:lnSpc>
              </a:pPr>
              <a:r>
                <a:rPr lang="en-US" b="true" sz="2399" spc="-81">
                  <a:solidFill>
                    <a:srgbClr val="000000"/>
                  </a:solidFill>
                  <a:latin typeface="DM Sans Bold"/>
                  <a:ea typeface="DM Sans Bold"/>
                  <a:cs typeface="DM Sans Bold"/>
                  <a:sym typeface="DM Sans Bold"/>
                </a:rPr>
                <a:t>Program :</a:t>
              </a:r>
              <a:r>
                <a:rPr lang="en-US" sz="2399" spc="-81">
                  <a:solidFill>
                    <a:srgbClr val="000000"/>
                  </a:solidFill>
                  <a:latin typeface="DM Sans"/>
                  <a:ea typeface="DM Sans"/>
                  <a:cs typeface="DM Sans"/>
                  <a:sym typeface="DM Sans"/>
                </a:rPr>
                <a:t> Printing a Message</a:t>
              </a:r>
            </a:p>
            <a:p>
              <a:pPr algn="just">
                <a:lnSpc>
                  <a:spcPts val="3359"/>
                </a:lnSpc>
              </a:pPr>
            </a:p>
            <a:p>
              <a:pPr algn="just">
                <a:lnSpc>
                  <a:spcPts val="3359"/>
                </a:lnSpc>
              </a:pPr>
              <a:r>
                <a:rPr lang="en-US" sz="2399" spc="-81">
                  <a:solidFill>
                    <a:srgbClr val="000000"/>
                  </a:solidFill>
                  <a:latin typeface="DM Sans"/>
                  <a:ea typeface="DM Sans"/>
                  <a:cs typeface="DM Sans"/>
                  <a:sym typeface="DM Sans"/>
                </a:rPr>
                <a:t>#include&lt;stdio.h&gt;</a:t>
              </a:r>
            </a:p>
            <a:p>
              <a:pPr algn="just">
                <a:lnSpc>
                  <a:spcPts val="3359"/>
                </a:lnSpc>
              </a:pPr>
              <a:r>
                <a:rPr lang="en-US" sz="2399" spc="-81">
                  <a:solidFill>
                    <a:srgbClr val="000000"/>
                  </a:solidFill>
                  <a:latin typeface="DM Sans"/>
                  <a:ea typeface="DM Sans"/>
                  <a:cs typeface="DM Sans"/>
                  <a:sym typeface="DM Sans"/>
                </a:rPr>
                <a:t>void main()</a:t>
              </a:r>
            </a:p>
            <a:p>
              <a:pPr algn="just">
                <a:lnSpc>
                  <a:spcPts val="3359"/>
                </a:lnSpc>
              </a:pPr>
              <a:r>
                <a:rPr lang="en-US" sz="2399" spc="-81">
                  <a:solidFill>
                    <a:srgbClr val="000000"/>
                  </a:solidFill>
                  <a:latin typeface="DM Sans"/>
                  <a:ea typeface="DM Sans"/>
                  <a:cs typeface="DM Sans"/>
                  <a:sym typeface="DM Sans"/>
                </a:rPr>
                <a:t>{</a:t>
              </a:r>
            </a:p>
            <a:p>
              <a:pPr algn="just">
                <a:lnSpc>
                  <a:spcPts val="3359"/>
                </a:lnSpc>
              </a:pPr>
              <a:r>
                <a:rPr lang="en-US" sz="2399" spc="-81">
                  <a:solidFill>
                    <a:srgbClr val="000000"/>
                  </a:solidFill>
                  <a:latin typeface="DM Sans"/>
                  <a:ea typeface="DM Sans"/>
                  <a:cs typeface="DM Sans"/>
                  <a:sym typeface="DM Sans"/>
                </a:rPr>
                <a:t>      printf(“Hello World !”);</a:t>
              </a:r>
            </a:p>
            <a:p>
              <a:pPr algn="just">
                <a:lnSpc>
                  <a:spcPts val="3359"/>
                </a:lnSpc>
              </a:pPr>
              <a:r>
                <a:rPr lang="en-US" sz="2399" spc="-81">
                  <a:solidFill>
                    <a:srgbClr val="000000"/>
                  </a:solidFill>
                  <a:latin typeface="DM Sans"/>
                  <a:ea typeface="DM Sans"/>
                  <a:cs typeface="DM Sans"/>
                  <a:sym typeface="DM Sans"/>
                </a:rPr>
                <a:t>}</a:t>
              </a:r>
            </a:p>
            <a:p>
              <a:pPr algn="just">
                <a:lnSpc>
                  <a:spcPts val="3359"/>
                </a:lnSpc>
              </a:pPr>
              <a:r>
                <a:rPr lang="en-US" b="true" sz="2399" spc="-81">
                  <a:solidFill>
                    <a:srgbClr val="000000"/>
                  </a:solidFill>
                  <a:latin typeface="DM Sans Bold"/>
                  <a:ea typeface="DM Sans Bold"/>
                  <a:cs typeface="DM Sans Bold"/>
                  <a:sym typeface="DM Sans Bold"/>
                </a:rPr>
                <a:t>Output :</a:t>
              </a:r>
              <a:r>
                <a:rPr lang="en-US" sz="2399" spc="-81">
                  <a:solidFill>
                    <a:srgbClr val="000000"/>
                  </a:solidFill>
                  <a:latin typeface="DM Sans"/>
                  <a:ea typeface="DM Sans"/>
                  <a:cs typeface="DM Sans"/>
                  <a:sym typeface="DM Sans"/>
                </a:rPr>
                <a:t> </a:t>
              </a:r>
            </a:p>
            <a:p>
              <a:pPr algn="just">
                <a:lnSpc>
                  <a:spcPts val="3359"/>
                </a:lnSpc>
              </a:pPr>
              <a:r>
                <a:rPr lang="en-US" sz="2399" spc="-81">
                  <a:solidFill>
                    <a:srgbClr val="000000"/>
                  </a:solidFill>
                  <a:latin typeface="DM Sans"/>
                  <a:ea typeface="DM Sans"/>
                  <a:cs typeface="DM Sans"/>
                  <a:sym typeface="DM Sans"/>
                </a:rPr>
                <a:t>Hello World !</a:t>
              </a:r>
            </a:p>
          </p:txBody>
        </p:sp>
      </p:grpSp>
      <p:grpSp>
        <p:nvGrpSpPr>
          <p:cNvPr name="Group 19" id="19"/>
          <p:cNvGrpSpPr/>
          <p:nvPr/>
        </p:nvGrpSpPr>
        <p:grpSpPr>
          <a:xfrm rot="0">
            <a:off x="6363500" y="2544403"/>
            <a:ext cx="10185243" cy="6393789"/>
            <a:chOff x="0" y="0"/>
            <a:chExt cx="2682533" cy="1683961"/>
          </a:xfrm>
        </p:grpSpPr>
        <p:sp>
          <p:nvSpPr>
            <p:cNvPr name="Freeform 20" id="20"/>
            <p:cNvSpPr/>
            <p:nvPr/>
          </p:nvSpPr>
          <p:spPr>
            <a:xfrm flipH="false" flipV="false" rot="0">
              <a:off x="0" y="0"/>
              <a:ext cx="2682533" cy="1683961"/>
            </a:xfrm>
            <a:custGeom>
              <a:avLst/>
              <a:gdLst/>
              <a:ahLst/>
              <a:cxnLst/>
              <a:rect r="r" b="b" t="t" l="l"/>
              <a:pathLst>
                <a:path h="1683961" w="2682533">
                  <a:moveTo>
                    <a:pt x="0" y="0"/>
                  </a:moveTo>
                  <a:lnTo>
                    <a:pt x="2682533" y="0"/>
                  </a:lnTo>
                  <a:lnTo>
                    <a:pt x="2682533" y="1683961"/>
                  </a:lnTo>
                  <a:lnTo>
                    <a:pt x="0" y="1683961"/>
                  </a:lnTo>
                  <a:close/>
                </a:path>
              </a:pathLst>
            </a:custGeom>
            <a:solidFill>
              <a:srgbClr val="000000">
                <a:alpha val="0"/>
              </a:srgbClr>
            </a:solidFill>
          </p:spPr>
        </p:sp>
        <p:sp>
          <p:nvSpPr>
            <p:cNvPr name="TextBox 21" id="21"/>
            <p:cNvSpPr txBox="true"/>
            <p:nvPr/>
          </p:nvSpPr>
          <p:spPr>
            <a:xfrm>
              <a:off x="0" y="-47625"/>
              <a:ext cx="2682533" cy="1731586"/>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The main() is a special function used by the C system to tell the computer where the program starts. Every program must have exactly one main function. If we use more than one main function, the compiler cannot understand which one marks the beginning of the program.</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In this case, the function body contains three statements out of which only the </a:t>
              </a:r>
              <a:r>
                <a:rPr lang="en-US" b="true" sz="2399" spc="-81">
                  <a:solidFill>
                    <a:srgbClr val="000000"/>
                  </a:solidFill>
                  <a:latin typeface="DM Sans Bold"/>
                  <a:ea typeface="DM Sans Bold"/>
                  <a:cs typeface="DM Sans Bold"/>
                  <a:sym typeface="DM Sans Bold"/>
                </a:rPr>
                <a:t>printf</a:t>
              </a:r>
              <a:r>
                <a:rPr lang="en-US" sz="2399" spc="-81">
                  <a:solidFill>
                    <a:srgbClr val="000000"/>
                  </a:solidFill>
                  <a:latin typeface="DM Sans"/>
                  <a:ea typeface="DM Sans"/>
                  <a:cs typeface="DM Sans"/>
                  <a:sym typeface="DM Sans"/>
                </a:rPr>
                <a:t> line is an executable statement. The lines beginning with /* and ending with */ are known as comment lines. These are used in a program to enhance its readability and understanding. Comment lines are not executable statements.</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Let us now look at the printf() function, the only executable statement of the program.</a:t>
              </a:r>
            </a:p>
            <a:p>
              <a:pPr algn="ctr">
                <a:lnSpc>
                  <a:spcPts val="3359"/>
                </a:lnSpc>
              </a:pPr>
              <a:r>
                <a:rPr lang="en-US" sz="2399" spc="-81">
                  <a:solidFill>
                    <a:srgbClr val="000000"/>
                  </a:solidFill>
                  <a:latin typeface="DM Sans"/>
                  <a:ea typeface="DM Sans"/>
                  <a:cs typeface="DM Sans"/>
                  <a:sym typeface="DM Sans"/>
                </a:rPr>
                <a:t>printf("I see, I remember");</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p</a:t>
              </a:r>
              <a:r>
                <a:rPr lang="en-US" sz="2399" spc="-81">
                  <a:solidFill>
                    <a:srgbClr val="000000"/>
                  </a:solidFill>
                  <a:latin typeface="DM Sans"/>
                  <a:ea typeface="DM Sans"/>
                  <a:cs typeface="DM Sans"/>
                  <a:sym typeface="DM Sans"/>
                </a:rPr>
                <a:t>rintf is a predefined standard C function for printing output. Predefined means that it is a function that has already been written and compiled, and linked together with our program at the time of linking.</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3023268" y="488672"/>
            <a:ext cx="12241463" cy="1211198"/>
            <a:chOff x="0" y="0"/>
            <a:chExt cx="3224089" cy="318999"/>
          </a:xfrm>
        </p:grpSpPr>
        <p:sp>
          <p:nvSpPr>
            <p:cNvPr name="Freeform 14" id="14"/>
            <p:cNvSpPr/>
            <p:nvPr/>
          </p:nvSpPr>
          <p:spPr>
            <a:xfrm flipH="false" flipV="false" rot="0">
              <a:off x="0" y="0"/>
              <a:ext cx="3224089" cy="318999"/>
            </a:xfrm>
            <a:custGeom>
              <a:avLst/>
              <a:gdLst/>
              <a:ahLst/>
              <a:cxnLst/>
              <a:rect r="r" b="b" t="t" l="l"/>
              <a:pathLst>
                <a:path h="318999" w="3224089">
                  <a:moveTo>
                    <a:pt x="32254" y="0"/>
                  </a:moveTo>
                  <a:lnTo>
                    <a:pt x="3191835" y="0"/>
                  </a:lnTo>
                  <a:cubicBezTo>
                    <a:pt x="3209648" y="0"/>
                    <a:pt x="3224089" y="14441"/>
                    <a:pt x="3224089" y="32254"/>
                  </a:cubicBezTo>
                  <a:lnTo>
                    <a:pt x="3224089" y="286744"/>
                  </a:lnTo>
                  <a:cubicBezTo>
                    <a:pt x="3224089" y="295299"/>
                    <a:pt x="3220691" y="303503"/>
                    <a:pt x="3214642" y="309552"/>
                  </a:cubicBezTo>
                  <a:cubicBezTo>
                    <a:pt x="3208593" y="315600"/>
                    <a:pt x="3200389" y="318999"/>
                    <a:pt x="3191835" y="318999"/>
                  </a:cubicBezTo>
                  <a:lnTo>
                    <a:pt x="32254" y="318999"/>
                  </a:lnTo>
                  <a:cubicBezTo>
                    <a:pt x="14441" y="318999"/>
                    <a:pt x="0" y="304558"/>
                    <a:pt x="0" y="286744"/>
                  </a:cubicBezTo>
                  <a:lnTo>
                    <a:pt x="0" y="32254"/>
                  </a:lnTo>
                  <a:cubicBezTo>
                    <a:pt x="0" y="14441"/>
                    <a:pt x="14441" y="0"/>
                    <a:pt x="32254" y="0"/>
                  </a:cubicBezTo>
                  <a:close/>
                </a:path>
              </a:pathLst>
            </a:custGeom>
            <a:solidFill>
              <a:srgbClr val="C8DDFD"/>
            </a:solidFill>
          </p:spPr>
        </p:sp>
        <p:sp>
          <p:nvSpPr>
            <p:cNvPr name="TextBox 15" id="15"/>
            <p:cNvSpPr txBox="true"/>
            <p:nvPr/>
          </p:nvSpPr>
          <p:spPr>
            <a:xfrm>
              <a:off x="0" y="-114300"/>
              <a:ext cx="3224089" cy="433299"/>
            </a:xfrm>
            <a:prstGeom prst="rect">
              <a:avLst/>
            </a:prstGeom>
          </p:spPr>
          <p:txBody>
            <a:bodyPr anchor="ctr" rtlCol="false" tIns="50800" lIns="50800" bIns="50800" rIns="50800"/>
            <a:lstStyle/>
            <a:p>
              <a:pPr algn="l">
                <a:lnSpc>
                  <a:spcPts val="8399"/>
                </a:lnSpc>
              </a:pPr>
              <a:r>
                <a:rPr lang="en-US" sz="5999" spc="-203" b="true">
                  <a:solidFill>
                    <a:srgbClr val="FF751F"/>
                  </a:solidFill>
                  <a:latin typeface="DM Sans Bold"/>
                  <a:ea typeface="DM Sans Bold"/>
                  <a:cs typeface="DM Sans Bold"/>
                  <a:sym typeface="DM Sans Bold"/>
                </a:rPr>
                <a:t>2.3.1 :  The main function </a:t>
              </a:r>
            </a:p>
          </p:txBody>
        </p:sp>
      </p:grpSp>
      <p:grpSp>
        <p:nvGrpSpPr>
          <p:cNvPr name="Group 16" id="16"/>
          <p:cNvGrpSpPr/>
          <p:nvPr/>
        </p:nvGrpSpPr>
        <p:grpSpPr>
          <a:xfrm rot="0">
            <a:off x="3042318" y="1967015"/>
            <a:ext cx="12241463" cy="6402166"/>
            <a:chOff x="0" y="0"/>
            <a:chExt cx="3224089" cy="1686167"/>
          </a:xfrm>
        </p:grpSpPr>
        <p:sp>
          <p:nvSpPr>
            <p:cNvPr name="Freeform 17" id="17"/>
            <p:cNvSpPr/>
            <p:nvPr/>
          </p:nvSpPr>
          <p:spPr>
            <a:xfrm flipH="false" flipV="false" rot="0">
              <a:off x="0" y="0"/>
              <a:ext cx="3224089" cy="1686167"/>
            </a:xfrm>
            <a:custGeom>
              <a:avLst/>
              <a:gdLst/>
              <a:ahLst/>
              <a:cxnLst/>
              <a:rect r="r" b="b" t="t" l="l"/>
              <a:pathLst>
                <a:path h="1686167" w="3224089">
                  <a:moveTo>
                    <a:pt x="0" y="0"/>
                  </a:moveTo>
                  <a:lnTo>
                    <a:pt x="3224089" y="0"/>
                  </a:lnTo>
                  <a:lnTo>
                    <a:pt x="3224089" y="1686167"/>
                  </a:lnTo>
                  <a:lnTo>
                    <a:pt x="0" y="1686167"/>
                  </a:lnTo>
                  <a:close/>
                </a:path>
              </a:pathLst>
            </a:custGeom>
            <a:solidFill>
              <a:srgbClr val="FFFFFF"/>
            </a:solidFill>
          </p:spPr>
        </p:sp>
        <p:sp>
          <p:nvSpPr>
            <p:cNvPr name="TextBox 18" id="18"/>
            <p:cNvSpPr txBox="true"/>
            <p:nvPr/>
          </p:nvSpPr>
          <p:spPr>
            <a:xfrm>
              <a:off x="0" y="-47625"/>
              <a:ext cx="3224089" cy="1733792"/>
            </a:xfrm>
            <a:prstGeom prst="rect">
              <a:avLst/>
            </a:prstGeom>
          </p:spPr>
          <p:txBody>
            <a:bodyPr anchor="ctr" rtlCol="false" tIns="50800" lIns="50800" bIns="50800" rIns="50800"/>
            <a:lstStyle/>
            <a:p>
              <a:pPr algn="just">
                <a:lnSpc>
                  <a:spcPts val="3359"/>
                </a:lnSpc>
              </a:pPr>
              <a:r>
                <a:rPr lang="en-US" sz="2399" spc="-81">
                  <a:solidFill>
                    <a:srgbClr val="000000"/>
                  </a:solidFill>
                  <a:latin typeface="DM Sans"/>
                  <a:ea typeface="DM Sans"/>
                  <a:cs typeface="DM Sans"/>
                  <a:sym typeface="DM Sans"/>
                </a:rPr>
                <a:t>The main is a part of every c program. C permits different forms of main statement. Following forms are allowed.</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main()</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int main()</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void main()</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main (void)</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void main(void)</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int main(void)</a:t>
              </a:r>
            </a:p>
            <a:p>
              <a:pPr algn="just">
                <a:lnSpc>
                  <a:spcPts val="3359"/>
                </a:lnSpc>
              </a:pPr>
              <a:r>
                <a:rPr lang="en-US" sz="2399" spc="-81">
                  <a:solidFill>
                    <a:srgbClr val="000000"/>
                  </a:solidFill>
                  <a:latin typeface="DM Sans"/>
                  <a:ea typeface="DM Sans"/>
                  <a:cs typeface="DM Sans"/>
                  <a:sym typeface="DM Sans"/>
                </a:rPr>
                <a:t>The empty pair of parentheses indicates that the function has no arguments. This may be explicitly indicated by using the keyword </a:t>
              </a:r>
              <a:r>
                <a:rPr lang="en-US" b="true" sz="2399" spc="-81">
                  <a:solidFill>
                    <a:srgbClr val="000000"/>
                  </a:solidFill>
                  <a:latin typeface="DM Sans Bold"/>
                  <a:ea typeface="DM Sans Bold"/>
                  <a:cs typeface="DM Sans Bold"/>
                  <a:sym typeface="DM Sans Bold"/>
                </a:rPr>
                <a:t>void </a:t>
              </a:r>
              <a:r>
                <a:rPr lang="en-US" sz="2399" spc="-81">
                  <a:solidFill>
                    <a:srgbClr val="000000"/>
                  </a:solidFill>
                  <a:latin typeface="DM Sans"/>
                  <a:ea typeface="DM Sans"/>
                  <a:cs typeface="DM Sans"/>
                  <a:sym typeface="DM Sans"/>
                </a:rPr>
                <a:t>inside the parentheses. We may also specify the keyword </a:t>
              </a:r>
              <a:r>
                <a:rPr lang="en-US" b="true" sz="2399" spc="-81">
                  <a:solidFill>
                    <a:srgbClr val="000000"/>
                  </a:solidFill>
                  <a:latin typeface="DM Sans Bold"/>
                  <a:ea typeface="DM Sans Bold"/>
                  <a:cs typeface="DM Sans Bold"/>
                  <a:sym typeface="DM Sans Bold"/>
                </a:rPr>
                <a:t>int </a:t>
              </a:r>
              <a:r>
                <a:rPr lang="en-US" sz="2399" spc="-81">
                  <a:solidFill>
                    <a:srgbClr val="000000"/>
                  </a:solidFill>
                  <a:latin typeface="DM Sans"/>
                  <a:ea typeface="DM Sans"/>
                  <a:cs typeface="DM Sans"/>
                  <a:sym typeface="DM Sans"/>
                </a:rPr>
                <a:t>or </a:t>
              </a:r>
              <a:r>
                <a:rPr lang="en-US" b="true" sz="2399" spc="-81">
                  <a:solidFill>
                    <a:srgbClr val="000000"/>
                  </a:solidFill>
                  <a:latin typeface="DM Sans Bold"/>
                  <a:ea typeface="DM Sans Bold"/>
                  <a:cs typeface="DM Sans Bold"/>
                  <a:sym typeface="DM Sans Bold"/>
                </a:rPr>
                <a:t>void </a:t>
              </a:r>
              <a:r>
                <a:rPr lang="en-US" sz="2399" spc="-81">
                  <a:solidFill>
                    <a:srgbClr val="000000"/>
                  </a:solidFill>
                  <a:latin typeface="DM Sans"/>
                  <a:ea typeface="DM Sans"/>
                  <a:cs typeface="DM Sans"/>
                  <a:sym typeface="DM Sans"/>
                </a:rPr>
                <a:t>before the word </a:t>
              </a:r>
              <a:r>
                <a:rPr lang="en-US" b="true" sz="2399" spc="-81">
                  <a:solidFill>
                    <a:srgbClr val="000000"/>
                  </a:solidFill>
                  <a:latin typeface="DM Sans Bold"/>
                  <a:ea typeface="DM Sans Bold"/>
                  <a:cs typeface="DM Sans Bold"/>
                  <a:sym typeface="DM Sans Bold"/>
                </a:rPr>
                <a:t>main</a:t>
              </a:r>
              <a:r>
                <a:rPr lang="en-US" sz="2399" spc="-81">
                  <a:solidFill>
                    <a:srgbClr val="000000"/>
                  </a:solidFill>
                  <a:latin typeface="DM Sans"/>
                  <a:ea typeface="DM Sans"/>
                  <a:cs typeface="DM Sans"/>
                  <a:sym typeface="DM Sans"/>
                </a:rPr>
                <a:t>. The keyword void means that the function does not return any information to the operating system and </a:t>
              </a:r>
              <a:r>
                <a:rPr lang="en-US" b="true" sz="2399" spc="-81">
                  <a:solidFill>
                    <a:srgbClr val="000000"/>
                  </a:solidFill>
                  <a:latin typeface="DM Sans Bold"/>
                  <a:ea typeface="DM Sans Bold"/>
                  <a:cs typeface="DM Sans Bold"/>
                  <a:sym typeface="DM Sans Bold"/>
                </a:rPr>
                <a:t>int </a:t>
              </a:r>
              <a:r>
                <a:rPr lang="en-US" sz="2399" spc="-81">
                  <a:solidFill>
                    <a:srgbClr val="000000"/>
                  </a:solidFill>
                  <a:latin typeface="DM Sans"/>
                  <a:ea typeface="DM Sans"/>
                  <a:cs typeface="DM Sans"/>
                  <a:sym typeface="DM Sans"/>
                </a:rPr>
                <a:t>means that the function returns an integer value to the operating system.</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3023268" y="488672"/>
            <a:ext cx="12241463" cy="1486508"/>
            <a:chOff x="0" y="0"/>
            <a:chExt cx="3224089" cy="391508"/>
          </a:xfrm>
        </p:grpSpPr>
        <p:sp>
          <p:nvSpPr>
            <p:cNvPr name="Freeform 14" id="14"/>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5" id="15"/>
            <p:cNvSpPr txBox="true"/>
            <p:nvPr/>
          </p:nvSpPr>
          <p:spPr>
            <a:xfrm>
              <a:off x="0" y="-142875"/>
              <a:ext cx="3224089" cy="534383"/>
            </a:xfrm>
            <a:prstGeom prst="rect">
              <a:avLst/>
            </a:prstGeom>
          </p:spPr>
          <p:txBody>
            <a:bodyPr anchor="ctr" rtlCol="false" tIns="50800" lIns="50800" bIns="50800" rIns="50800"/>
            <a:lstStyle/>
            <a:p>
              <a:pPr algn="l">
                <a:lnSpc>
                  <a:spcPts val="10359"/>
                </a:lnSpc>
              </a:pPr>
              <a:r>
                <a:rPr lang="en-US" sz="7399" spc="-251" b="true">
                  <a:solidFill>
                    <a:srgbClr val="FF751F"/>
                  </a:solidFill>
                  <a:latin typeface="DM Sans Bold"/>
                  <a:ea typeface="DM Sans Bold"/>
                  <a:cs typeface="DM Sans Bold"/>
                  <a:sym typeface="DM Sans Bold"/>
                </a:rPr>
                <a:t>2.4  :  Sample Program 2</a:t>
              </a:r>
            </a:p>
          </p:txBody>
        </p:sp>
      </p:grpSp>
      <p:grpSp>
        <p:nvGrpSpPr>
          <p:cNvPr name="Group 16" id="16"/>
          <p:cNvGrpSpPr/>
          <p:nvPr/>
        </p:nvGrpSpPr>
        <p:grpSpPr>
          <a:xfrm rot="0">
            <a:off x="3023268" y="2409393"/>
            <a:ext cx="4706951" cy="6402166"/>
            <a:chOff x="0" y="0"/>
            <a:chExt cx="1239691" cy="1686167"/>
          </a:xfrm>
        </p:grpSpPr>
        <p:sp>
          <p:nvSpPr>
            <p:cNvPr name="Freeform 17" id="17"/>
            <p:cNvSpPr/>
            <p:nvPr/>
          </p:nvSpPr>
          <p:spPr>
            <a:xfrm flipH="false" flipV="false" rot="0">
              <a:off x="0" y="0"/>
              <a:ext cx="1239691" cy="1686167"/>
            </a:xfrm>
            <a:custGeom>
              <a:avLst/>
              <a:gdLst/>
              <a:ahLst/>
              <a:cxnLst/>
              <a:rect r="r" b="b" t="t" l="l"/>
              <a:pathLst>
                <a:path h="1686167" w="1239691">
                  <a:moveTo>
                    <a:pt x="0" y="0"/>
                  </a:moveTo>
                  <a:lnTo>
                    <a:pt x="1239691" y="0"/>
                  </a:lnTo>
                  <a:lnTo>
                    <a:pt x="1239691" y="1686167"/>
                  </a:lnTo>
                  <a:lnTo>
                    <a:pt x="0" y="1686167"/>
                  </a:lnTo>
                  <a:close/>
                </a:path>
              </a:pathLst>
            </a:custGeom>
            <a:solidFill>
              <a:srgbClr val="FFFFFF"/>
            </a:solidFill>
          </p:spPr>
        </p:sp>
        <p:sp>
          <p:nvSpPr>
            <p:cNvPr name="TextBox 18" id="18"/>
            <p:cNvSpPr txBox="true"/>
            <p:nvPr/>
          </p:nvSpPr>
          <p:spPr>
            <a:xfrm>
              <a:off x="0" y="-47625"/>
              <a:ext cx="1239691" cy="1733792"/>
            </a:xfrm>
            <a:prstGeom prst="rect">
              <a:avLst/>
            </a:prstGeom>
          </p:spPr>
          <p:txBody>
            <a:bodyPr anchor="ctr" rtlCol="false" tIns="50800" lIns="50800" bIns="50800" rIns="50800"/>
            <a:lstStyle/>
            <a:p>
              <a:pPr algn="just">
                <a:lnSpc>
                  <a:spcPts val="3359"/>
                </a:lnSpc>
              </a:pPr>
              <a:r>
                <a:rPr lang="en-US" b="true" sz="2399" spc="-81">
                  <a:solidFill>
                    <a:srgbClr val="000000"/>
                  </a:solidFill>
                  <a:latin typeface="DM Sans Bold"/>
                  <a:ea typeface="DM Sans Bold"/>
                  <a:cs typeface="DM Sans Bold"/>
                  <a:sym typeface="DM Sans Bold"/>
                </a:rPr>
                <a:t>// Program Addition</a:t>
              </a:r>
            </a:p>
            <a:p>
              <a:pPr algn="just">
                <a:lnSpc>
                  <a:spcPts val="3359"/>
                </a:lnSpc>
              </a:pPr>
              <a:r>
                <a:rPr lang="en-US" b="true" sz="2399" spc="-81">
                  <a:solidFill>
                    <a:srgbClr val="000000"/>
                  </a:solidFill>
                  <a:latin typeface="DM Sans Bold"/>
                  <a:ea typeface="DM Sans Bold"/>
                  <a:cs typeface="DM Sans Bold"/>
                  <a:sym typeface="DM Sans Bold"/>
                </a:rPr>
                <a:t>// Written by programmer</a:t>
              </a:r>
            </a:p>
            <a:p>
              <a:pPr algn="just">
                <a:lnSpc>
                  <a:spcPts val="3359"/>
                </a:lnSpc>
              </a:pPr>
              <a:r>
                <a:rPr lang="en-US" b="true" sz="2399" spc="-81">
                  <a:solidFill>
                    <a:srgbClr val="000000"/>
                  </a:solidFill>
                  <a:latin typeface="DM Sans Bold"/>
                  <a:ea typeface="DM Sans Bold"/>
                  <a:cs typeface="DM Sans Bold"/>
                  <a:sym typeface="DM Sans Bold"/>
                </a:rPr>
                <a:t>#include&lt;stdio.h&gt;</a:t>
              </a:r>
            </a:p>
            <a:p>
              <a:pPr algn="just">
                <a:lnSpc>
                  <a:spcPts val="3359"/>
                </a:lnSpc>
              </a:pPr>
              <a:r>
                <a:rPr lang="en-US" b="true" sz="2399" spc="-81">
                  <a:solidFill>
                    <a:srgbClr val="000000"/>
                  </a:solidFill>
                  <a:latin typeface="DM Sans Bold"/>
                  <a:ea typeface="DM Sans Bold"/>
                  <a:cs typeface="DM Sans Bold"/>
                  <a:sym typeface="DM Sans Bold"/>
                </a:rPr>
                <a:t>void main()</a:t>
              </a:r>
            </a:p>
            <a:p>
              <a:pPr algn="just">
                <a:lnSpc>
                  <a:spcPts val="3359"/>
                </a:lnSpc>
              </a:pPr>
              <a:r>
                <a:rPr lang="en-US" b="true" sz="2399" spc="-81">
                  <a:solidFill>
                    <a:srgbClr val="000000"/>
                  </a:solidFill>
                  <a:latin typeface="DM Sans Bold"/>
                  <a:ea typeface="DM Sans Bold"/>
                  <a:cs typeface="DM Sans Bold"/>
                  <a:sym typeface="DM Sans Bold"/>
                </a:rPr>
                <a:t>{</a:t>
              </a:r>
            </a:p>
            <a:p>
              <a:pPr algn="just">
                <a:lnSpc>
                  <a:spcPts val="3359"/>
                </a:lnSpc>
              </a:pPr>
              <a:r>
                <a:rPr lang="en-US" b="true" sz="2399" spc="-81">
                  <a:solidFill>
                    <a:srgbClr val="000000"/>
                  </a:solidFill>
                  <a:latin typeface="DM Sans Bold"/>
                  <a:ea typeface="DM Sans Bold"/>
                  <a:cs typeface="DM Sans Bold"/>
                  <a:sym typeface="DM Sans Bold"/>
                </a:rPr>
                <a:t>      int number;</a:t>
              </a:r>
            </a:p>
            <a:p>
              <a:pPr algn="just">
                <a:lnSpc>
                  <a:spcPts val="3359"/>
                </a:lnSpc>
              </a:pPr>
              <a:r>
                <a:rPr lang="en-US" b="true" sz="2399" spc="-81">
                  <a:solidFill>
                    <a:srgbClr val="000000"/>
                  </a:solidFill>
                  <a:latin typeface="DM Sans Bold"/>
                  <a:ea typeface="DM Sans Bold"/>
                  <a:cs typeface="DM Sans Bold"/>
                  <a:sym typeface="DM Sans Bold"/>
                </a:rPr>
                <a:t>      float amount;</a:t>
              </a:r>
            </a:p>
            <a:p>
              <a:pPr algn="just">
                <a:lnSpc>
                  <a:spcPts val="3359"/>
                </a:lnSpc>
              </a:pPr>
            </a:p>
            <a:p>
              <a:pPr algn="just">
                <a:lnSpc>
                  <a:spcPts val="3359"/>
                </a:lnSpc>
              </a:pPr>
              <a:r>
                <a:rPr lang="en-US" b="true" sz="2399" spc="-81">
                  <a:solidFill>
                    <a:srgbClr val="000000"/>
                  </a:solidFill>
                  <a:latin typeface="DM Sans Bold"/>
                  <a:ea typeface="DM Sans Bold"/>
                  <a:cs typeface="DM Sans Bold"/>
                  <a:sym typeface="DM Sans Bold"/>
                </a:rPr>
                <a:t>      number = 100;</a:t>
              </a:r>
            </a:p>
            <a:p>
              <a:pPr algn="just">
                <a:lnSpc>
                  <a:spcPts val="3359"/>
                </a:lnSpc>
              </a:pPr>
            </a:p>
            <a:p>
              <a:pPr algn="just">
                <a:lnSpc>
                  <a:spcPts val="3359"/>
                </a:lnSpc>
              </a:pPr>
              <a:r>
                <a:rPr lang="en-US" b="true" sz="2399" spc="-81">
                  <a:solidFill>
                    <a:srgbClr val="000000"/>
                  </a:solidFill>
                  <a:latin typeface="DM Sans Bold"/>
                  <a:ea typeface="DM Sans Bold"/>
                  <a:cs typeface="DM Sans Bold"/>
                  <a:sym typeface="DM Sans Bold"/>
                </a:rPr>
                <a:t>      amount = 30.75 + 75.35;</a:t>
              </a:r>
            </a:p>
            <a:p>
              <a:pPr algn="just">
                <a:lnSpc>
                  <a:spcPts val="3359"/>
                </a:lnSpc>
              </a:pPr>
              <a:r>
                <a:rPr lang="en-US" b="true" sz="2399" spc="-81">
                  <a:solidFill>
                    <a:srgbClr val="000000"/>
                  </a:solidFill>
                  <a:latin typeface="DM Sans Bold"/>
                  <a:ea typeface="DM Sans Bold"/>
                  <a:cs typeface="DM Sans Bold"/>
                  <a:sym typeface="DM Sans Bold"/>
                </a:rPr>
                <a:t>      printf(“%d\n”,number);</a:t>
              </a:r>
            </a:p>
            <a:p>
              <a:pPr algn="just">
                <a:lnSpc>
                  <a:spcPts val="3359"/>
                </a:lnSpc>
              </a:pPr>
              <a:r>
                <a:rPr lang="en-US" b="true" sz="2399" spc="-81">
                  <a:solidFill>
                    <a:srgbClr val="000000"/>
                  </a:solidFill>
                  <a:latin typeface="DM Sans Bold"/>
                  <a:ea typeface="DM Sans Bold"/>
                  <a:cs typeface="DM Sans Bold"/>
                  <a:sym typeface="DM Sans Bold"/>
                </a:rPr>
                <a:t>      printf(“%5.f2”,amount);</a:t>
              </a:r>
            </a:p>
            <a:p>
              <a:pPr algn="just">
                <a:lnSpc>
                  <a:spcPts val="3359"/>
                </a:lnSpc>
              </a:pPr>
              <a:r>
                <a:rPr lang="en-US" b="true" sz="2399" spc="-81">
                  <a:solidFill>
                    <a:srgbClr val="000000"/>
                  </a:solidFill>
                  <a:latin typeface="DM Sans Bold"/>
                  <a:ea typeface="DM Sans Bold"/>
                  <a:cs typeface="DM Sans Bold"/>
                  <a:sym typeface="DM Sans Bold"/>
                </a:rPr>
                <a:t>}</a:t>
              </a:r>
            </a:p>
          </p:txBody>
        </p:sp>
      </p:grpSp>
      <p:grpSp>
        <p:nvGrpSpPr>
          <p:cNvPr name="Group 19" id="19"/>
          <p:cNvGrpSpPr/>
          <p:nvPr/>
        </p:nvGrpSpPr>
        <p:grpSpPr>
          <a:xfrm rot="0">
            <a:off x="7730219" y="2544403"/>
            <a:ext cx="7534513" cy="5750368"/>
            <a:chOff x="0" y="0"/>
            <a:chExt cx="1984398" cy="1514500"/>
          </a:xfrm>
        </p:grpSpPr>
        <p:sp>
          <p:nvSpPr>
            <p:cNvPr name="Freeform 20" id="20"/>
            <p:cNvSpPr/>
            <p:nvPr/>
          </p:nvSpPr>
          <p:spPr>
            <a:xfrm flipH="false" flipV="false" rot="0">
              <a:off x="0" y="0"/>
              <a:ext cx="1984398" cy="1514500"/>
            </a:xfrm>
            <a:custGeom>
              <a:avLst/>
              <a:gdLst/>
              <a:ahLst/>
              <a:cxnLst/>
              <a:rect r="r" b="b" t="t" l="l"/>
              <a:pathLst>
                <a:path h="1514500" w="1984398">
                  <a:moveTo>
                    <a:pt x="0" y="0"/>
                  </a:moveTo>
                  <a:lnTo>
                    <a:pt x="1984398" y="0"/>
                  </a:lnTo>
                  <a:lnTo>
                    <a:pt x="1984398" y="1514500"/>
                  </a:lnTo>
                  <a:lnTo>
                    <a:pt x="0" y="1514500"/>
                  </a:lnTo>
                  <a:close/>
                </a:path>
              </a:pathLst>
            </a:custGeom>
            <a:solidFill>
              <a:srgbClr val="000000">
                <a:alpha val="0"/>
              </a:srgbClr>
            </a:solidFill>
          </p:spPr>
        </p:sp>
        <p:sp>
          <p:nvSpPr>
            <p:cNvPr name="TextBox 21" id="21"/>
            <p:cNvSpPr txBox="true"/>
            <p:nvPr/>
          </p:nvSpPr>
          <p:spPr>
            <a:xfrm>
              <a:off x="0" y="-47625"/>
              <a:ext cx="1984398" cy="1562125"/>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The words number and amount are valiable names that are used to store numeric data. In C, all variables should be declared to tell the compiler what the </a:t>
              </a:r>
              <a:r>
                <a:rPr lang="en-US" b="true" sz="2399" spc="-81">
                  <a:solidFill>
                    <a:srgbClr val="000000"/>
                  </a:solidFill>
                  <a:latin typeface="DM Sans Bold"/>
                  <a:ea typeface="DM Sans Bold"/>
                  <a:cs typeface="DM Sans Bold"/>
                  <a:sym typeface="DM Sans Bold"/>
                </a:rPr>
                <a:t>variable name</a:t>
              </a:r>
              <a:r>
                <a:rPr lang="en-US" sz="2399" spc="-81">
                  <a:solidFill>
                    <a:srgbClr val="000000"/>
                  </a:solidFill>
                  <a:latin typeface="DM Sans"/>
                  <a:ea typeface="DM Sans"/>
                  <a:cs typeface="DM Sans"/>
                  <a:sym typeface="DM Sans"/>
                </a:rPr>
                <a:t> are and what </a:t>
              </a:r>
              <a:r>
                <a:rPr lang="en-US" b="true" sz="2399" spc="-81">
                  <a:solidFill>
                    <a:srgbClr val="000000"/>
                  </a:solidFill>
                  <a:latin typeface="DM Sans Bold"/>
                  <a:ea typeface="DM Sans Bold"/>
                  <a:cs typeface="DM Sans Bold"/>
                  <a:sym typeface="DM Sans Bold"/>
                </a:rPr>
                <a:t>type of data</a:t>
              </a:r>
              <a:r>
                <a:rPr lang="en-US" sz="2399" spc="-81">
                  <a:solidFill>
                    <a:srgbClr val="000000"/>
                  </a:solidFill>
                  <a:latin typeface="DM Sans"/>
                  <a:ea typeface="DM Sans"/>
                  <a:cs typeface="DM Sans"/>
                  <a:sym typeface="DM Sans"/>
                </a:rPr>
                <a:t> they hold.</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The first argument </a:t>
              </a:r>
              <a:r>
                <a:rPr lang="en-US" b="true" sz="2399" spc="-81">
                  <a:solidFill>
                    <a:srgbClr val="000000"/>
                  </a:solidFill>
                  <a:latin typeface="DM Sans Bold"/>
                  <a:ea typeface="DM Sans Bold"/>
                  <a:cs typeface="DM Sans Bold"/>
                  <a:sym typeface="DM Sans Bold"/>
                </a:rPr>
                <a:t>“%d” </a:t>
              </a:r>
              <a:r>
                <a:rPr lang="en-US" sz="2399" spc="-81">
                  <a:solidFill>
                    <a:srgbClr val="000000"/>
                  </a:solidFill>
                  <a:latin typeface="DM Sans"/>
                  <a:ea typeface="DM Sans"/>
                  <a:cs typeface="DM Sans"/>
                  <a:sym typeface="DM Sans"/>
                </a:rPr>
                <a:t>tells the compiler that the value of the second argument </a:t>
              </a:r>
              <a:r>
                <a:rPr lang="en-US" b="true" sz="2399" spc="-81">
                  <a:solidFill>
                    <a:srgbClr val="000000"/>
                  </a:solidFill>
                  <a:latin typeface="DM Sans Bold"/>
                  <a:ea typeface="DM Sans Bold"/>
                  <a:cs typeface="DM Sans Bold"/>
                  <a:sym typeface="DM Sans Bold"/>
                </a:rPr>
                <a:t>number </a:t>
              </a:r>
              <a:r>
                <a:rPr lang="en-US" sz="2399" spc="-81">
                  <a:solidFill>
                    <a:srgbClr val="000000"/>
                  </a:solidFill>
                  <a:latin typeface="DM Sans"/>
                  <a:ea typeface="DM Sans"/>
                  <a:cs typeface="DM Sans"/>
                  <a:sym typeface="DM Sans"/>
                </a:rPr>
                <a:t>should be printed as a decimal integer.</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The format specification </a:t>
              </a:r>
              <a:r>
                <a:rPr lang="en-US" b="true" sz="2399" spc="-81">
                  <a:solidFill>
                    <a:srgbClr val="000000"/>
                  </a:solidFill>
                  <a:latin typeface="DM Sans Bold"/>
                  <a:ea typeface="DM Sans Bold"/>
                  <a:cs typeface="DM Sans Bold"/>
                  <a:sym typeface="DM Sans Bold"/>
                </a:rPr>
                <a:t>%5.2f</a:t>
              </a:r>
              <a:r>
                <a:rPr lang="en-US" sz="2399" spc="-81">
                  <a:solidFill>
                    <a:srgbClr val="000000"/>
                  </a:solidFill>
                  <a:latin typeface="DM Sans"/>
                  <a:ea typeface="DM Sans"/>
                  <a:cs typeface="DM Sans"/>
                  <a:sym typeface="DM Sans"/>
                </a:rPr>
                <a:t> tells the compiler that the output must be in floating point, with five place in all the two places in all and two places to the right of the decimal point.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3023268" y="488672"/>
            <a:ext cx="12241463" cy="1486508"/>
            <a:chOff x="0" y="0"/>
            <a:chExt cx="3224089" cy="391508"/>
          </a:xfrm>
        </p:grpSpPr>
        <p:sp>
          <p:nvSpPr>
            <p:cNvPr name="Freeform 14" id="14"/>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5" id="15"/>
            <p:cNvSpPr txBox="true"/>
            <p:nvPr/>
          </p:nvSpPr>
          <p:spPr>
            <a:xfrm>
              <a:off x="0" y="-123825"/>
              <a:ext cx="3224089" cy="515333"/>
            </a:xfrm>
            <a:prstGeom prst="rect">
              <a:avLst/>
            </a:prstGeom>
          </p:spPr>
          <p:txBody>
            <a:bodyPr anchor="ctr" rtlCol="false" tIns="50800" lIns="50800" bIns="50800" rIns="50800"/>
            <a:lstStyle/>
            <a:p>
              <a:pPr algn="l">
                <a:lnSpc>
                  <a:spcPts val="9379"/>
                </a:lnSpc>
              </a:pPr>
              <a:r>
                <a:rPr lang="en-US" sz="6699" spc="-227" b="true">
                  <a:solidFill>
                    <a:srgbClr val="FF751F"/>
                  </a:solidFill>
                  <a:latin typeface="DM Sans Bold"/>
                  <a:ea typeface="DM Sans Bold"/>
                  <a:cs typeface="DM Sans Bold"/>
                  <a:sym typeface="DM Sans Bold"/>
                </a:rPr>
                <a:t>2.5  :  The #define Directive</a:t>
              </a:r>
            </a:p>
          </p:txBody>
        </p:sp>
      </p:grpSp>
      <p:grpSp>
        <p:nvGrpSpPr>
          <p:cNvPr name="Group 16" id="16"/>
          <p:cNvGrpSpPr/>
          <p:nvPr/>
        </p:nvGrpSpPr>
        <p:grpSpPr>
          <a:xfrm rot="0">
            <a:off x="3023268" y="2351669"/>
            <a:ext cx="12241463" cy="5583661"/>
            <a:chOff x="0" y="0"/>
            <a:chExt cx="3224089" cy="1470594"/>
          </a:xfrm>
        </p:grpSpPr>
        <p:sp>
          <p:nvSpPr>
            <p:cNvPr name="Freeform 17" id="17"/>
            <p:cNvSpPr/>
            <p:nvPr/>
          </p:nvSpPr>
          <p:spPr>
            <a:xfrm flipH="false" flipV="false" rot="0">
              <a:off x="0" y="0"/>
              <a:ext cx="3224089" cy="1470594"/>
            </a:xfrm>
            <a:custGeom>
              <a:avLst/>
              <a:gdLst/>
              <a:ahLst/>
              <a:cxnLst/>
              <a:rect r="r" b="b" t="t" l="l"/>
              <a:pathLst>
                <a:path h="1470594" w="3224089">
                  <a:moveTo>
                    <a:pt x="0" y="0"/>
                  </a:moveTo>
                  <a:lnTo>
                    <a:pt x="3224089" y="0"/>
                  </a:lnTo>
                  <a:lnTo>
                    <a:pt x="3224089" y="1470594"/>
                  </a:lnTo>
                  <a:lnTo>
                    <a:pt x="0" y="1470594"/>
                  </a:lnTo>
                  <a:close/>
                </a:path>
              </a:pathLst>
            </a:custGeom>
            <a:solidFill>
              <a:srgbClr val="FFFFFF"/>
            </a:solidFill>
          </p:spPr>
        </p:sp>
        <p:sp>
          <p:nvSpPr>
            <p:cNvPr name="TextBox 18" id="18"/>
            <p:cNvSpPr txBox="true"/>
            <p:nvPr/>
          </p:nvSpPr>
          <p:spPr>
            <a:xfrm>
              <a:off x="0" y="-47625"/>
              <a:ext cx="3224089" cy="1518219"/>
            </a:xfrm>
            <a:prstGeom prst="rect">
              <a:avLst/>
            </a:prstGeom>
          </p:spPr>
          <p:txBody>
            <a:bodyPr anchor="ctr" rtlCol="false" tIns="50800" lIns="50800" bIns="50800" rIns="50800"/>
            <a:lstStyle/>
            <a:p>
              <a:pPr algn="just" marL="582925" indent="-291463" lvl="1">
                <a:lnSpc>
                  <a:spcPts val="3779"/>
                </a:lnSpc>
                <a:buFont typeface="Arial"/>
                <a:buChar char="•"/>
              </a:pPr>
              <a:r>
                <a:rPr lang="en-US" sz="2699" spc="-91">
                  <a:solidFill>
                    <a:srgbClr val="000000"/>
                  </a:solidFill>
                  <a:latin typeface="DM Sans"/>
                  <a:ea typeface="DM Sans"/>
                  <a:cs typeface="DM Sans"/>
                  <a:sym typeface="DM Sans"/>
                </a:rPr>
                <a:t>A #define is a preprocessor compiler directive and not a statement. Therefore #define lines should not end with a semicolon. </a:t>
              </a:r>
            </a:p>
            <a:p>
              <a:pPr algn="just" marL="582925" indent="-291463" lvl="1">
                <a:lnSpc>
                  <a:spcPts val="3779"/>
                </a:lnSpc>
                <a:buFont typeface="Arial"/>
                <a:buChar char="•"/>
              </a:pPr>
              <a:r>
                <a:rPr lang="en-US" sz="2699" spc="-91">
                  <a:solidFill>
                    <a:srgbClr val="000000"/>
                  </a:solidFill>
                  <a:latin typeface="DM Sans"/>
                  <a:ea typeface="DM Sans"/>
                  <a:cs typeface="DM Sans"/>
                  <a:sym typeface="DM Sans"/>
                </a:rPr>
                <a:t>Symbolic constants are generally written in uppercase so that they are easily distinguished from lowercase variable names. </a:t>
              </a:r>
            </a:p>
            <a:p>
              <a:pPr algn="just" marL="582925" indent="-291463" lvl="1">
                <a:lnSpc>
                  <a:spcPts val="3779"/>
                </a:lnSpc>
                <a:buFont typeface="Arial"/>
                <a:buChar char="•"/>
              </a:pPr>
              <a:r>
                <a:rPr lang="en-US" sz="2699" spc="-91">
                  <a:solidFill>
                    <a:srgbClr val="000000"/>
                  </a:solidFill>
                  <a:latin typeface="DM Sans"/>
                  <a:ea typeface="DM Sans"/>
                  <a:cs typeface="DM Sans"/>
                  <a:sym typeface="DM Sans"/>
                </a:rPr>
                <a:t>#define directives are usually placed at the beginning before the main() function. </a:t>
              </a:r>
            </a:p>
            <a:p>
              <a:pPr algn="just" marL="582925" indent="-291463" lvl="1">
                <a:lnSpc>
                  <a:spcPts val="3779"/>
                </a:lnSpc>
                <a:buFont typeface="Arial"/>
                <a:buChar char="•"/>
              </a:pPr>
              <a:r>
                <a:rPr lang="en-US" sz="2699" spc="-91">
                  <a:solidFill>
                    <a:srgbClr val="000000"/>
                  </a:solidFill>
                  <a:latin typeface="DM Sans"/>
                  <a:ea typeface="DM Sans"/>
                  <a:cs typeface="DM Sans"/>
                  <a:sym typeface="DM Sans"/>
                </a:rPr>
                <a:t>We must note that the defined constants are not variables. We may not change their values within the program by using any assignment statement.</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3023268" y="488672"/>
            <a:ext cx="12241463" cy="1486508"/>
            <a:chOff x="0" y="0"/>
            <a:chExt cx="3224089" cy="391508"/>
          </a:xfrm>
        </p:grpSpPr>
        <p:sp>
          <p:nvSpPr>
            <p:cNvPr name="Freeform 14" id="14"/>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5" id="15"/>
            <p:cNvSpPr txBox="true"/>
            <p:nvPr/>
          </p:nvSpPr>
          <p:spPr>
            <a:xfrm>
              <a:off x="0" y="-104775"/>
              <a:ext cx="3224089" cy="496283"/>
            </a:xfrm>
            <a:prstGeom prst="rect">
              <a:avLst/>
            </a:prstGeom>
          </p:spPr>
          <p:txBody>
            <a:bodyPr anchor="ctr" rtlCol="false" tIns="50800" lIns="50800" bIns="50800" rIns="50800"/>
            <a:lstStyle/>
            <a:p>
              <a:pPr algn="l">
                <a:lnSpc>
                  <a:spcPts val="8259"/>
                </a:lnSpc>
              </a:pPr>
              <a:r>
                <a:rPr lang="en-US" sz="5899" spc="-200" b="true">
                  <a:solidFill>
                    <a:srgbClr val="FF751F"/>
                  </a:solidFill>
                  <a:latin typeface="DM Sans Bold"/>
                  <a:ea typeface="DM Sans Bold"/>
                  <a:cs typeface="DM Sans Bold"/>
                  <a:sym typeface="DM Sans Bold"/>
                </a:rPr>
                <a:t>2.6  :  Use of Math Functions</a:t>
              </a:r>
            </a:p>
          </p:txBody>
        </p:sp>
      </p:grpSp>
      <p:grpSp>
        <p:nvGrpSpPr>
          <p:cNvPr name="Group 16" id="16"/>
          <p:cNvGrpSpPr/>
          <p:nvPr/>
        </p:nvGrpSpPr>
        <p:grpSpPr>
          <a:xfrm rot="0">
            <a:off x="3023268" y="2351669"/>
            <a:ext cx="12241463" cy="5583661"/>
            <a:chOff x="0" y="0"/>
            <a:chExt cx="3224089" cy="1470594"/>
          </a:xfrm>
        </p:grpSpPr>
        <p:sp>
          <p:nvSpPr>
            <p:cNvPr name="Freeform 17" id="17"/>
            <p:cNvSpPr/>
            <p:nvPr/>
          </p:nvSpPr>
          <p:spPr>
            <a:xfrm flipH="false" flipV="false" rot="0">
              <a:off x="0" y="0"/>
              <a:ext cx="3224089" cy="1470594"/>
            </a:xfrm>
            <a:custGeom>
              <a:avLst/>
              <a:gdLst/>
              <a:ahLst/>
              <a:cxnLst/>
              <a:rect r="r" b="b" t="t" l="l"/>
              <a:pathLst>
                <a:path h="1470594" w="3224089">
                  <a:moveTo>
                    <a:pt x="0" y="0"/>
                  </a:moveTo>
                  <a:lnTo>
                    <a:pt x="3224089" y="0"/>
                  </a:lnTo>
                  <a:lnTo>
                    <a:pt x="3224089" y="1470594"/>
                  </a:lnTo>
                  <a:lnTo>
                    <a:pt x="0" y="1470594"/>
                  </a:lnTo>
                  <a:close/>
                </a:path>
              </a:pathLst>
            </a:custGeom>
            <a:solidFill>
              <a:srgbClr val="FFFFFF"/>
            </a:solidFill>
          </p:spPr>
        </p:sp>
        <p:sp>
          <p:nvSpPr>
            <p:cNvPr name="TextBox 18" id="18"/>
            <p:cNvSpPr txBox="true"/>
            <p:nvPr/>
          </p:nvSpPr>
          <p:spPr>
            <a:xfrm>
              <a:off x="0" y="-47625"/>
              <a:ext cx="3224089" cy="1518219"/>
            </a:xfrm>
            <a:prstGeom prst="rect">
              <a:avLst/>
            </a:prstGeom>
          </p:spPr>
          <p:txBody>
            <a:bodyPr anchor="ctr" rtlCol="false" tIns="50800" lIns="50800" bIns="50800" rIns="50800"/>
            <a:lstStyle/>
            <a:p>
              <a:pPr algn="just" marL="518157" indent="-259078" lvl="1">
                <a:lnSpc>
                  <a:spcPts val="3359"/>
                </a:lnSpc>
                <a:buFont typeface="Arial"/>
                <a:buChar char="•"/>
              </a:pPr>
              <a:r>
                <a:rPr lang="en-US" sz="2399" spc="-81">
                  <a:solidFill>
                    <a:srgbClr val="000000"/>
                  </a:solidFill>
                  <a:latin typeface="DM Sans"/>
                  <a:ea typeface="DM Sans"/>
                  <a:cs typeface="DM Sans"/>
                  <a:sym typeface="DM Sans"/>
                </a:rPr>
                <a:t>We often use standard mathematical functions such as cos, sin, exp, etc. We shall see now the use of a mathematical function in a program. </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The standard mathematical functions are defined and kept as a part of </a:t>
              </a:r>
              <a:r>
                <a:rPr lang="en-US" b="true" sz="2399" spc="-81">
                  <a:solidFill>
                    <a:srgbClr val="000000"/>
                  </a:solidFill>
                  <a:latin typeface="DM Sans Bold"/>
                  <a:ea typeface="DM Sans Bold"/>
                  <a:cs typeface="DM Sans Bold"/>
                  <a:sym typeface="DM Sans Bold"/>
                </a:rPr>
                <a:t>C math library</a:t>
              </a:r>
              <a:r>
                <a:rPr lang="en-US" sz="2399" spc="-81">
                  <a:solidFill>
                    <a:srgbClr val="000000"/>
                  </a:solidFill>
                  <a:latin typeface="DM Sans"/>
                  <a:ea typeface="DM Sans"/>
                  <a:cs typeface="DM Sans"/>
                  <a:sym typeface="DM Sans"/>
                </a:rPr>
                <a:t>. </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If we want to use any of these mathematical functions, we must add an </a:t>
              </a:r>
              <a:r>
                <a:rPr lang="en-US" b="true" sz="2399" spc="-81">
                  <a:solidFill>
                    <a:srgbClr val="000000"/>
                  </a:solidFill>
                  <a:latin typeface="DM Sans Bold"/>
                  <a:ea typeface="DM Sans Bold"/>
                  <a:cs typeface="DM Sans Bold"/>
                  <a:sym typeface="DM Sans Bold"/>
                </a:rPr>
                <a:t>#include </a:t>
              </a:r>
              <a:r>
                <a:rPr lang="en-US" sz="2399" spc="-81">
                  <a:solidFill>
                    <a:srgbClr val="000000"/>
                  </a:solidFill>
                  <a:latin typeface="DM Sans"/>
                  <a:ea typeface="DM Sans"/>
                  <a:cs typeface="DM Sans"/>
                  <a:sym typeface="DM Sans"/>
                </a:rPr>
                <a:t>instruction in the program. </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Like </a:t>
              </a:r>
              <a:r>
                <a:rPr lang="en-US" b="true" sz="2399" spc="-81">
                  <a:solidFill>
                    <a:srgbClr val="000000"/>
                  </a:solidFill>
                  <a:latin typeface="DM Sans Bold"/>
                  <a:ea typeface="DM Sans Bold"/>
                  <a:cs typeface="DM Sans Bold"/>
                  <a:sym typeface="DM Sans Bold"/>
                </a:rPr>
                <a:t>#define</a:t>
              </a:r>
              <a:r>
                <a:rPr lang="en-US" sz="2399" spc="-81">
                  <a:solidFill>
                    <a:srgbClr val="000000"/>
                  </a:solidFill>
                  <a:latin typeface="DM Sans"/>
                  <a:ea typeface="DM Sans"/>
                  <a:cs typeface="DM Sans"/>
                  <a:sym typeface="DM Sans"/>
                </a:rPr>
                <a:t>, it is also a compiler directive that instructs the compiler to link the specified mathematical functions from the library.</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The instruction is of the form </a:t>
              </a:r>
              <a:r>
                <a:rPr lang="en-US" b="true" sz="2399" spc="-81">
                  <a:solidFill>
                    <a:srgbClr val="000000"/>
                  </a:solidFill>
                  <a:latin typeface="DM Sans Bold"/>
                  <a:ea typeface="DM Sans Bold"/>
                  <a:cs typeface="DM Sans Bold"/>
                  <a:sym typeface="DM Sans Bold"/>
                </a:rPr>
                <a:t>#include&lt;math.h&gt;</a:t>
              </a:r>
              <a:r>
                <a:rPr lang="en-US" sz="2399" spc="-81">
                  <a:solidFill>
                    <a:srgbClr val="000000"/>
                  </a:solidFill>
                  <a:latin typeface="DM Sans"/>
                  <a:ea typeface="DM Sans"/>
                  <a:cs typeface="DM Sans"/>
                  <a:sym typeface="DM Sans"/>
                </a:rPr>
                <a:t> is the filename containing the required function.</a:t>
              </a:r>
            </a:p>
            <a:p>
              <a:pPr algn="just">
                <a:lnSpc>
                  <a:spcPts val="3359"/>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3023268" y="488672"/>
            <a:ext cx="12241463" cy="1486508"/>
            <a:chOff x="0" y="0"/>
            <a:chExt cx="3224089" cy="391508"/>
          </a:xfrm>
        </p:grpSpPr>
        <p:sp>
          <p:nvSpPr>
            <p:cNvPr name="Freeform 14" id="14"/>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5" id="15"/>
            <p:cNvSpPr txBox="true"/>
            <p:nvPr/>
          </p:nvSpPr>
          <p:spPr>
            <a:xfrm>
              <a:off x="0" y="-104775"/>
              <a:ext cx="3224089" cy="496283"/>
            </a:xfrm>
            <a:prstGeom prst="rect">
              <a:avLst/>
            </a:prstGeom>
          </p:spPr>
          <p:txBody>
            <a:bodyPr anchor="ctr" rtlCol="false" tIns="50800" lIns="50800" bIns="50800" rIns="50800"/>
            <a:lstStyle/>
            <a:p>
              <a:pPr algn="l">
                <a:lnSpc>
                  <a:spcPts val="7559"/>
                </a:lnSpc>
              </a:pPr>
              <a:r>
                <a:rPr lang="en-US" sz="5399" spc="-183" b="true">
                  <a:solidFill>
                    <a:srgbClr val="FF751F"/>
                  </a:solidFill>
                  <a:latin typeface="DM Sans Bold"/>
                  <a:ea typeface="DM Sans Bold"/>
                  <a:cs typeface="DM Sans Bold"/>
                  <a:sym typeface="DM Sans Bold"/>
                </a:rPr>
                <a:t>2.6.1  :  The #include Directive</a:t>
              </a:r>
            </a:p>
          </p:txBody>
        </p:sp>
      </p:grpSp>
      <p:grpSp>
        <p:nvGrpSpPr>
          <p:cNvPr name="Group 16" id="16"/>
          <p:cNvGrpSpPr/>
          <p:nvPr/>
        </p:nvGrpSpPr>
        <p:grpSpPr>
          <a:xfrm rot="0">
            <a:off x="3023268" y="2351669"/>
            <a:ext cx="12241463" cy="5583661"/>
            <a:chOff x="0" y="0"/>
            <a:chExt cx="3224089" cy="1470594"/>
          </a:xfrm>
        </p:grpSpPr>
        <p:sp>
          <p:nvSpPr>
            <p:cNvPr name="Freeform 17" id="17"/>
            <p:cNvSpPr/>
            <p:nvPr/>
          </p:nvSpPr>
          <p:spPr>
            <a:xfrm flipH="false" flipV="false" rot="0">
              <a:off x="0" y="0"/>
              <a:ext cx="3224089" cy="1470594"/>
            </a:xfrm>
            <a:custGeom>
              <a:avLst/>
              <a:gdLst/>
              <a:ahLst/>
              <a:cxnLst/>
              <a:rect r="r" b="b" t="t" l="l"/>
              <a:pathLst>
                <a:path h="1470594" w="3224089">
                  <a:moveTo>
                    <a:pt x="0" y="0"/>
                  </a:moveTo>
                  <a:lnTo>
                    <a:pt x="3224089" y="0"/>
                  </a:lnTo>
                  <a:lnTo>
                    <a:pt x="3224089" y="1470594"/>
                  </a:lnTo>
                  <a:lnTo>
                    <a:pt x="0" y="1470594"/>
                  </a:lnTo>
                  <a:close/>
                </a:path>
              </a:pathLst>
            </a:custGeom>
            <a:solidFill>
              <a:srgbClr val="FFFFFF"/>
            </a:solidFill>
          </p:spPr>
        </p:sp>
        <p:sp>
          <p:nvSpPr>
            <p:cNvPr name="TextBox 18" id="18"/>
            <p:cNvSpPr txBox="true"/>
            <p:nvPr/>
          </p:nvSpPr>
          <p:spPr>
            <a:xfrm>
              <a:off x="0" y="-47625"/>
              <a:ext cx="3224089" cy="1518219"/>
            </a:xfrm>
            <a:prstGeom prst="rect">
              <a:avLst/>
            </a:prstGeom>
          </p:spPr>
          <p:txBody>
            <a:bodyPr anchor="ctr" rtlCol="false" tIns="50800" lIns="50800" bIns="50800" rIns="50800"/>
            <a:lstStyle/>
            <a:p>
              <a:pPr algn="just" marL="518157" indent="-259078" lvl="1">
                <a:lnSpc>
                  <a:spcPts val="3359"/>
                </a:lnSpc>
                <a:buFont typeface="Arial"/>
                <a:buChar char="•"/>
              </a:pPr>
              <a:r>
                <a:rPr lang="en-US" sz="2399" spc="-81">
                  <a:solidFill>
                    <a:srgbClr val="000000"/>
                  </a:solidFill>
                  <a:latin typeface="DM Sans"/>
                  <a:ea typeface="DM Sans"/>
                  <a:cs typeface="DM Sans"/>
                  <a:sym typeface="DM Sans"/>
                </a:rPr>
                <a:t>Library functions are grouped category-wise and stored in different files known as header files. If we want to access the functions stored in the library, it is necessary to tell the compiler about the files to be accessed.</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This is achieved by using the preprocessor directive #include as follows:</a:t>
              </a:r>
            </a:p>
            <a:p>
              <a:pPr algn="just">
                <a:lnSpc>
                  <a:spcPts val="3359"/>
                </a:lnSpc>
              </a:pPr>
              <a:r>
                <a:rPr lang="en-US" sz="2399" spc="-81">
                  <a:solidFill>
                    <a:srgbClr val="000000"/>
                  </a:solidFill>
                  <a:latin typeface="DM Sans"/>
                  <a:ea typeface="DM Sans"/>
                  <a:cs typeface="DM Sans"/>
                  <a:sym typeface="DM Sans"/>
                </a:rPr>
                <a:t>                                                                 </a:t>
              </a:r>
              <a:r>
                <a:rPr lang="en-US" b="true" sz="2399" spc="-81">
                  <a:solidFill>
                    <a:srgbClr val="000000"/>
                  </a:solidFill>
                  <a:latin typeface="DM Sans Bold"/>
                  <a:ea typeface="DM Sans Bold"/>
                  <a:cs typeface="DM Sans Bold"/>
                  <a:sym typeface="DM Sans Bold"/>
                </a:rPr>
                <a:t>#include&lt;filename&gt;</a:t>
              </a:r>
            </a:p>
            <a:p>
              <a:pPr algn="just" marL="518157" indent="-259078" lvl="1">
                <a:lnSpc>
                  <a:spcPts val="3359"/>
                </a:lnSpc>
                <a:buFont typeface="Arial"/>
                <a:buChar char="•"/>
              </a:pPr>
              <a:r>
                <a:rPr lang="en-US" sz="2399" spc="-81">
                  <a:solidFill>
                    <a:srgbClr val="000000"/>
                  </a:solidFill>
                  <a:latin typeface="DM Sans"/>
                  <a:ea typeface="DM Sans"/>
                  <a:cs typeface="DM Sans"/>
                  <a:sym typeface="DM Sans"/>
                </a:rPr>
                <a:t>filename is the name of the library file that contains the required function definition. Preprocessor directives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3023268" y="488672"/>
            <a:ext cx="12241463" cy="1486508"/>
            <a:chOff x="0" y="0"/>
            <a:chExt cx="3224089" cy="391508"/>
          </a:xfrm>
        </p:grpSpPr>
        <p:sp>
          <p:nvSpPr>
            <p:cNvPr name="Freeform 14" id="14"/>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5" id="15"/>
            <p:cNvSpPr txBox="true"/>
            <p:nvPr/>
          </p:nvSpPr>
          <p:spPr>
            <a:xfrm>
              <a:off x="0" y="-104775"/>
              <a:ext cx="3224089" cy="496283"/>
            </a:xfrm>
            <a:prstGeom prst="rect">
              <a:avLst/>
            </a:prstGeom>
          </p:spPr>
          <p:txBody>
            <a:bodyPr anchor="ctr" rtlCol="false" tIns="50800" lIns="50800" bIns="50800" rIns="50800"/>
            <a:lstStyle/>
            <a:p>
              <a:pPr algn="l">
                <a:lnSpc>
                  <a:spcPts val="7419"/>
                </a:lnSpc>
              </a:pPr>
              <a:r>
                <a:rPr lang="en-US" sz="5299" spc="-180" b="true">
                  <a:solidFill>
                    <a:srgbClr val="FF751F"/>
                  </a:solidFill>
                  <a:latin typeface="DM Sans Bold"/>
                  <a:ea typeface="DM Sans Bold"/>
                  <a:cs typeface="DM Sans Bold"/>
                  <a:sym typeface="DM Sans Bold"/>
                </a:rPr>
                <a:t>2.7  :  Basic Structure of C Programs</a:t>
              </a:r>
            </a:p>
          </p:txBody>
        </p:sp>
      </p:grpSp>
      <p:sp>
        <p:nvSpPr>
          <p:cNvPr name="Freeform 16" id="16"/>
          <p:cNvSpPr/>
          <p:nvPr/>
        </p:nvSpPr>
        <p:spPr>
          <a:xfrm flipH="false" flipV="false" rot="0">
            <a:off x="5877129" y="2731537"/>
            <a:ext cx="6533741" cy="6315950"/>
          </a:xfrm>
          <a:custGeom>
            <a:avLst/>
            <a:gdLst/>
            <a:ahLst/>
            <a:cxnLst/>
            <a:rect r="r" b="b" t="t" l="l"/>
            <a:pathLst>
              <a:path h="6315950" w="6533741">
                <a:moveTo>
                  <a:pt x="0" y="0"/>
                </a:moveTo>
                <a:lnTo>
                  <a:pt x="6533742" y="0"/>
                </a:lnTo>
                <a:lnTo>
                  <a:pt x="6533742" y="6315950"/>
                </a:lnTo>
                <a:lnTo>
                  <a:pt x="0" y="6315950"/>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3023268" y="488672"/>
            <a:ext cx="12241463" cy="1486508"/>
            <a:chOff x="0" y="0"/>
            <a:chExt cx="3224089" cy="391508"/>
          </a:xfrm>
        </p:grpSpPr>
        <p:sp>
          <p:nvSpPr>
            <p:cNvPr name="Freeform 14" id="14"/>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5" id="15"/>
            <p:cNvSpPr txBox="true"/>
            <p:nvPr/>
          </p:nvSpPr>
          <p:spPr>
            <a:xfrm>
              <a:off x="0" y="-104775"/>
              <a:ext cx="3224089" cy="496283"/>
            </a:xfrm>
            <a:prstGeom prst="rect">
              <a:avLst/>
            </a:prstGeom>
          </p:spPr>
          <p:txBody>
            <a:bodyPr anchor="ctr" rtlCol="false" tIns="50800" lIns="50800" bIns="50800" rIns="50800"/>
            <a:lstStyle/>
            <a:p>
              <a:pPr algn="l">
                <a:lnSpc>
                  <a:spcPts val="7419"/>
                </a:lnSpc>
              </a:pPr>
              <a:r>
                <a:rPr lang="en-US" sz="5299" spc="-180" b="true">
                  <a:solidFill>
                    <a:srgbClr val="FF751F"/>
                  </a:solidFill>
                  <a:latin typeface="DM Sans Bold"/>
                  <a:ea typeface="DM Sans Bold"/>
                  <a:cs typeface="DM Sans Bold"/>
                  <a:sym typeface="DM Sans Bold"/>
                </a:rPr>
                <a:t>2.8  :  Executing a ‘C’ Program </a:t>
              </a:r>
            </a:p>
          </p:txBody>
        </p:sp>
      </p:grpSp>
      <p:grpSp>
        <p:nvGrpSpPr>
          <p:cNvPr name="Group 16" id="16"/>
          <p:cNvGrpSpPr/>
          <p:nvPr/>
        </p:nvGrpSpPr>
        <p:grpSpPr>
          <a:xfrm rot="0">
            <a:off x="1832716" y="3085173"/>
            <a:ext cx="7311284" cy="4161870"/>
            <a:chOff x="0" y="0"/>
            <a:chExt cx="1925606" cy="1096130"/>
          </a:xfrm>
        </p:grpSpPr>
        <p:sp>
          <p:nvSpPr>
            <p:cNvPr name="Freeform 17" id="17"/>
            <p:cNvSpPr/>
            <p:nvPr/>
          </p:nvSpPr>
          <p:spPr>
            <a:xfrm flipH="false" flipV="false" rot="0">
              <a:off x="0" y="0"/>
              <a:ext cx="1925606" cy="1096130"/>
            </a:xfrm>
            <a:custGeom>
              <a:avLst/>
              <a:gdLst/>
              <a:ahLst/>
              <a:cxnLst/>
              <a:rect r="r" b="b" t="t" l="l"/>
              <a:pathLst>
                <a:path h="1096130" w="1925606">
                  <a:moveTo>
                    <a:pt x="0" y="0"/>
                  </a:moveTo>
                  <a:lnTo>
                    <a:pt x="1925606" y="0"/>
                  </a:lnTo>
                  <a:lnTo>
                    <a:pt x="1925606" y="1096130"/>
                  </a:lnTo>
                  <a:lnTo>
                    <a:pt x="0" y="1096130"/>
                  </a:lnTo>
                  <a:close/>
                </a:path>
              </a:pathLst>
            </a:custGeom>
            <a:solidFill>
              <a:srgbClr val="FFFFFF"/>
            </a:solidFill>
          </p:spPr>
        </p:sp>
        <p:sp>
          <p:nvSpPr>
            <p:cNvPr name="TextBox 18" id="18"/>
            <p:cNvSpPr txBox="true"/>
            <p:nvPr/>
          </p:nvSpPr>
          <p:spPr>
            <a:xfrm>
              <a:off x="0" y="-47625"/>
              <a:ext cx="1925606" cy="1143755"/>
            </a:xfrm>
            <a:prstGeom prst="rect">
              <a:avLst/>
            </a:prstGeom>
          </p:spPr>
          <p:txBody>
            <a:bodyPr anchor="ctr" rtlCol="false" tIns="50800" lIns="50800" bIns="50800" rIns="50800"/>
            <a:lstStyle/>
            <a:p>
              <a:pPr algn="just">
                <a:lnSpc>
                  <a:spcPts val="3359"/>
                </a:lnSpc>
              </a:pPr>
              <a:r>
                <a:rPr lang="en-US" sz="2399" spc="-81">
                  <a:solidFill>
                    <a:srgbClr val="000000"/>
                  </a:solidFill>
                  <a:latin typeface="DM Sans"/>
                  <a:ea typeface="DM Sans"/>
                  <a:cs typeface="DM Sans"/>
                  <a:sym typeface="DM Sans"/>
                </a:rPr>
                <a:t>Executing a program written in C involves a series of steps. These are : </a:t>
              </a:r>
            </a:p>
            <a:p>
              <a:pPr algn="just" marL="518157" indent="-259078" lvl="1">
                <a:lnSpc>
                  <a:spcPts val="3359"/>
                </a:lnSpc>
                <a:buAutoNum type="arabicPeriod" startAt="1"/>
              </a:pPr>
              <a:r>
                <a:rPr lang="en-US" sz="2399" spc="-81">
                  <a:solidFill>
                    <a:srgbClr val="000000"/>
                  </a:solidFill>
                  <a:latin typeface="DM Sans"/>
                  <a:ea typeface="DM Sans"/>
                  <a:cs typeface="DM Sans"/>
                  <a:sym typeface="DM Sans"/>
                </a:rPr>
                <a:t>Creating a program.</a:t>
              </a:r>
            </a:p>
            <a:p>
              <a:pPr algn="just" marL="518157" indent="-259078" lvl="1">
                <a:lnSpc>
                  <a:spcPts val="3359"/>
                </a:lnSpc>
                <a:buAutoNum type="arabicPeriod" startAt="1"/>
              </a:pPr>
              <a:r>
                <a:rPr lang="en-US" sz="2399" spc="-81">
                  <a:solidFill>
                    <a:srgbClr val="000000"/>
                  </a:solidFill>
                  <a:latin typeface="DM Sans"/>
                  <a:ea typeface="DM Sans"/>
                  <a:cs typeface="DM Sans"/>
                  <a:sym typeface="DM Sans"/>
                </a:rPr>
                <a:t>Compiling the program.</a:t>
              </a:r>
            </a:p>
            <a:p>
              <a:pPr algn="just" marL="518157" indent="-259078" lvl="1">
                <a:lnSpc>
                  <a:spcPts val="3359"/>
                </a:lnSpc>
                <a:buAutoNum type="arabicPeriod" startAt="1"/>
              </a:pPr>
              <a:r>
                <a:rPr lang="en-US" sz="2399" spc="-81">
                  <a:solidFill>
                    <a:srgbClr val="000000"/>
                  </a:solidFill>
                  <a:latin typeface="DM Sans"/>
                  <a:ea typeface="DM Sans"/>
                  <a:cs typeface="DM Sans"/>
                  <a:sym typeface="DM Sans"/>
                </a:rPr>
                <a:t>Linking the program with functions that are needed from the C library.</a:t>
              </a:r>
            </a:p>
            <a:p>
              <a:pPr algn="just" marL="518157" indent="-259078" lvl="1">
                <a:lnSpc>
                  <a:spcPts val="3359"/>
                </a:lnSpc>
                <a:buAutoNum type="arabicPeriod" startAt="1"/>
              </a:pPr>
              <a:r>
                <a:rPr lang="en-US" sz="2399" spc="-81">
                  <a:solidFill>
                    <a:srgbClr val="000000"/>
                  </a:solidFill>
                  <a:latin typeface="DM Sans"/>
                  <a:ea typeface="DM Sans"/>
                  <a:cs typeface="DM Sans"/>
                  <a:sym typeface="DM Sans"/>
                </a:rPr>
                <a:t>Executing the program.</a:t>
              </a:r>
            </a:p>
            <a:p>
              <a:pPr algn="just">
                <a:lnSpc>
                  <a:spcPts val="3359"/>
                </a:lnSpc>
              </a:pPr>
            </a:p>
          </p:txBody>
        </p:sp>
      </p:grpSp>
      <p:sp>
        <p:nvSpPr>
          <p:cNvPr name="Freeform 19" id="19"/>
          <p:cNvSpPr/>
          <p:nvPr/>
        </p:nvSpPr>
        <p:spPr>
          <a:xfrm flipH="false" flipV="false" rot="-61075">
            <a:off x="11436748" y="2351669"/>
            <a:ext cx="4814516" cy="6809101"/>
          </a:xfrm>
          <a:custGeom>
            <a:avLst/>
            <a:gdLst/>
            <a:ahLst/>
            <a:cxnLst/>
            <a:rect r="r" b="b" t="t" l="l"/>
            <a:pathLst>
              <a:path h="6809101" w="4814516">
                <a:moveTo>
                  <a:pt x="0" y="0"/>
                </a:moveTo>
                <a:lnTo>
                  <a:pt x="4814516" y="0"/>
                </a:lnTo>
                <a:lnTo>
                  <a:pt x="4814516" y="6809101"/>
                </a:lnTo>
                <a:lnTo>
                  <a:pt x="0" y="6809101"/>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3153759" y="1028700"/>
            <a:ext cx="11980481" cy="3879189"/>
            <a:chOff x="0" y="0"/>
            <a:chExt cx="3155353" cy="1021680"/>
          </a:xfrm>
        </p:grpSpPr>
        <p:sp>
          <p:nvSpPr>
            <p:cNvPr name="Freeform 14" id="14"/>
            <p:cNvSpPr/>
            <p:nvPr/>
          </p:nvSpPr>
          <p:spPr>
            <a:xfrm flipH="false" flipV="false" rot="0">
              <a:off x="0" y="0"/>
              <a:ext cx="3155353" cy="1021679"/>
            </a:xfrm>
            <a:custGeom>
              <a:avLst/>
              <a:gdLst/>
              <a:ahLst/>
              <a:cxnLst/>
              <a:rect r="r" b="b" t="t" l="l"/>
              <a:pathLst>
                <a:path h="1021679" w="3155353">
                  <a:moveTo>
                    <a:pt x="0" y="0"/>
                  </a:moveTo>
                  <a:lnTo>
                    <a:pt x="3155353" y="0"/>
                  </a:lnTo>
                  <a:lnTo>
                    <a:pt x="3155353" y="1021679"/>
                  </a:lnTo>
                  <a:lnTo>
                    <a:pt x="0" y="1021679"/>
                  </a:lnTo>
                  <a:close/>
                </a:path>
              </a:pathLst>
            </a:custGeom>
            <a:solidFill>
              <a:srgbClr val="FFFFFF"/>
            </a:solidFill>
          </p:spPr>
        </p:sp>
        <p:sp>
          <p:nvSpPr>
            <p:cNvPr name="TextBox 15" id="15"/>
            <p:cNvSpPr txBox="true"/>
            <p:nvPr/>
          </p:nvSpPr>
          <p:spPr>
            <a:xfrm>
              <a:off x="0" y="-47625"/>
              <a:ext cx="3155353" cy="1069305"/>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Source code is the file containing the C source program. This program is input to a compiler.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The compiler is a system software that translates the source program to object code.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The object code contains an equivalent set of machine instructions corresponding to the source program which is understood by the computer.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A given C program may make use of several library functions. Thus, the object code of the program would have to be linked to the object codes of the library functions.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The linker is a system software that links together all the object codes to generate the final executable code.</a:t>
              </a:r>
            </a:p>
          </p:txBody>
        </p:sp>
      </p:grpSp>
      <p:sp>
        <p:nvSpPr>
          <p:cNvPr name="Freeform 16" id="16"/>
          <p:cNvSpPr/>
          <p:nvPr/>
        </p:nvSpPr>
        <p:spPr>
          <a:xfrm flipH="false" flipV="false" rot="0">
            <a:off x="3153759" y="5824587"/>
            <a:ext cx="11980481" cy="2713700"/>
          </a:xfrm>
          <a:custGeom>
            <a:avLst/>
            <a:gdLst/>
            <a:ahLst/>
            <a:cxnLst/>
            <a:rect r="r" b="b" t="t" l="l"/>
            <a:pathLst>
              <a:path h="2713700" w="11980481">
                <a:moveTo>
                  <a:pt x="0" y="0"/>
                </a:moveTo>
                <a:lnTo>
                  <a:pt x="11980482" y="0"/>
                </a:lnTo>
                <a:lnTo>
                  <a:pt x="11980482" y="2713699"/>
                </a:lnTo>
                <a:lnTo>
                  <a:pt x="0" y="2713699"/>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4995148" y="1679316"/>
            <a:ext cx="8297704" cy="1358951"/>
          </a:xfrm>
          <a:prstGeom prst="rect">
            <a:avLst/>
          </a:prstGeom>
        </p:spPr>
        <p:txBody>
          <a:bodyPr anchor="t" rtlCol="false" tIns="0" lIns="0" bIns="0" rIns="0">
            <a:spAutoFit/>
          </a:bodyPr>
          <a:lstStyle/>
          <a:p>
            <a:pPr algn="ctr">
              <a:lnSpc>
                <a:spcPts val="7600"/>
              </a:lnSpc>
            </a:pPr>
            <a:r>
              <a:rPr lang="en-US" b="true" sz="9501" spc="-418">
                <a:solidFill>
                  <a:srgbClr val="000000"/>
                </a:solidFill>
                <a:latin typeface="Agrandir Bold"/>
                <a:ea typeface="Agrandir Bold"/>
                <a:cs typeface="Agrandir Bold"/>
                <a:sym typeface="Agrandir Bold"/>
              </a:rPr>
              <a:t>Reference</a:t>
            </a:r>
          </a:p>
        </p:txBody>
      </p:sp>
      <p:grpSp>
        <p:nvGrpSpPr>
          <p:cNvPr name="Group 14" id="14"/>
          <p:cNvGrpSpPr/>
          <p:nvPr/>
        </p:nvGrpSpPr>
        <p:grpSpPr>
          <a:xfrm rot="0">
            <a:off x="2350658" y="3833809"/>
            <a:ext cx="13586683" cy="1631767"/>
            <a:chOff x="0" y="0"/>
            <a:chExt cx="3578386" cy="429766"/>
          </a:xfrm>
        </p:grpSpPr>
        <p:sp>
          <p:nvSpPr>
            <p:cNvPr name="Freeform 15" id="15"/>
            <p:cNvSpPr/>
            <p:nvPr/>
          </p:nvSpPr>
          <p:spPr>
            <a:xfrm flipH="false" flipV="false" rot="0">
              <a:off x="0" y="0"/>
              <a:ext cx="3578386" cy="429766"/>
            </a:xfrm>
            <a:custGeom>
              <a:avLst/>
              <a:gdLst/>
              <a:ahLst/>
              <a:cxnLst/>
              <a:rect r="r" b="b" t="t" l="l"/>
              <a:pathLst>
                <a:path h="429766" w="3578386">
                  <a:moveTo>
                    <a:pt x="21083" y="0"/>
                  </a:moveTo>
                  <a:lnTo>
                    <a:pt x="3557303" y="0"/>
                  </a:lnTo>
                  <a:cubicBezTo>
                    <a:pt x="3568946" y="0"/>
                    <a:pt x="3578386" y="9439"/>
                    <a:pt x="3578386" y="21083"/>
                  </a:cubicBezTo>
                  <a:lnTo>
                    <a:pt x="3578386" y="408683"/>
                  </a:lnTo>
                  <a:cubicBezTo>
                    <a:pt x="3578386" y="420326"/>
                    <a:pt x="3568946" y="429766"/>
                    <a:pt x="3557303" y="429766"/>
                  </a:cubicBezTo>
                  <a:lnTo>
                    <a:pt x="21083" y="429766"/>
                  </a:lnTo>
                  <a:cubicBezTo>
                    <a:pt x="9439" y="429766"/>
                    <a:pt x="0" y="420326"/>
                    <a:pt x="0" y="408683"/>
                  </a:cubicBezTo>
                  <a:lnTo>
                    <a:pt x="0" y="21083"/>
                  </a:lnTo>
                  <a:cubicBezTo>
                    <a:pt x="0" y="9439"/>
                    <a:pt x="9439" y="0"/>
                    <a:pt x="21083" y="0"/>
                  </a:cubicBezTo>
                  <a:close/>
                </a:path>
              </a:pathLst>
            </a:custGeom>
            <a:solidFill>
              <a:srgbClr val="393939"/>
            </a:solidFill>
            <a:ln w="47625" cap="rnd">
              <a:solidFill>
                <a:srgbClr val="FDD56F"/>
              </a:solidFill>
              <a:prstDash val="solid"/>
              <a:round/>
            </a:ln>
          </p:spPr>
        </p:sp>
        <p:sp>
          <p:nvSpPr>
            <p:cNvPr name="TextBox 16" id="16"/>
            <p:cNvSpPr txBox="true"/>
            <p:nvPr/>
          </p:nvSpPr>
          <p:spPr>
            <a:xfrm>
              <a:off x="0" y="-38100"/>
              <a:ext cx="3578386" cy="467866"/>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3428987" y="4086225"/>
            <a:ext cx="8691937" cy="1057275"/>
          </a:xfrm>
          <a:prstGeom prst="rect">
            <a:avLst/>
          </a:prstGeom>
        </p:spPr>
        <p:txBody>
          <a:bodyPr anchor="t" rtlCol="false" tIns="0" lIns="0" bIns="0" rIns="0">
            <a:spAutoFit/>
          </a:bodyPr>
          <a:lstStyle/>
          <a:p>
            <a:pPr algn="just">
              <a:lnSpc>
                <a:spcPts val="4200"/>
              </a:lnSpc>
            </a:pPr>
            <a:r>
              <a:rPr lang="en-US" sz="3000" spc="-102">
                <a:solidFill>
                  <a:srgbClr val="FFFFFF"/>
                </a:solidFill>
                <a:latin typeface="DM Sans"/>
                <a:ea typeface="DM Sans"/>
                <a:cs typeface="DM Sans"/>
                <a:sym typeface="DM Sans"/>
              </a:rPr>
              <a:t>Link Name: </a:t>
            </a:r>
            <a:r>
              <a:rPr lang="en-US" sz="3000" spc="-102">
                <a:solidFill>
                  <a:srgbClr val="FDD56F"/>
                </a:solidFill>
                <a:latin typeface="DM Sans"/>
                <a:ea typeface="DM Sans"/>
                <a:cs typeface="DM Sans"/>
                <a:sym typeface="DM Sans"/>
              </a:rPr>
              <a:t>Microsoft Power Point</a:t>
            </a:r>
          </a:p>
          <a:p>
            <a:pPr algn="just">
              <a:lnSpc>
                <a:spcPts val="4200"/>
              </a:lnSpc>
            </a:pPr>
            <a:r>
              <a:rPr lang="en-US" sz="3000" spc="-102">
                <a:solidFill>
                  <a:srgbClr val="FFFFFF"/>
                </a:solidFill>
                <a:latin typeface="DM Sans"/>
                <a:ea typeface="DM Sans"/>
                <a:cs typeface="DM Sans"/>
                <a:sym typeface="DM Sans"/>
              </a:rPr>
              <a:t>﻿Brief Description: </a:t>
            </a:r>
            <a:r>
              <a:rPr lang="en-US" sz="3000" spc="-102">
                <a:solidFill>
                  <a:srgbClr val="FDD56F"/>
                </a:solidFill>
                <a:latin typeface="DM Sans"/>
                <a:ea typeface="DM Sans"/>
                <a:cs typeface="DM Sans"/>
                <a:sym typeface="DM Sans"/>
              </a:rPr>
              <a:t>Used for making PPT</a:t>
            </a:r>
          </a:p>
        </p:txBody>
      </p:sp>
      <p:grpSp>
        <p:nvGrpSpPr>
          <p:cNvPr name="Group 18" id="18"/>
          <p:cNvGrpSpPr/>
          <p:nvPr/>
        </p:nvGrpSpPr>
        <p:grpSpPr>
          <a:xfrm rot="0">
            <a:off x="2350658" y="6682005"/>
            <a:ext cx="13586683" cy="1631767"/>
            <a:chOff x="0" y="0"/>
            <a:chExt cx="3578386" cy="429766"/>
          </a:xfrm>
        </p:grpSpPr>
        <p:sp>
          <p:nvSpPr>
            <p:cNvPr name="Freeform 19" id="19"/>
            <p:cNvSpPr/>
            <p:nvPr/>
          </p:nvSpPr>
          <p:spPr>
            <a:xfrm flipH="false" flipV="false" rot="0">
              <a:off x="0" y="0"/>
              <a:ext cx="3578386" cy="429766"/>
            </a:xfrm>
            <a:custGeom>
              <a:avLst/>
              <a:gdLst/>
              <a:ahLst/>
              <a:cxnLst/>
              <a:rect r="r" b="b" t="t" l="l"/>
              <a:pathLst>
                <a:path h="429766" w="3578386">
                  <a:moveTo>
                    <a:pt x="21083" y="0"/>
                  </a:moveTo>
                  <a:lnTo>
                    <a:pt x="3557303" y="0"/>
                  </a:lnTo>
                  <a:cubicBezTo>
                    <a:pt x="3568946" y="0"/>
                    <a:pt x="3578386" y="9439"/>
                    <a:pt x="3578386" y="21083"/>
                  </a:cubicBezTo>
                  <a:lnTo>
                    <a:pt x="3578386" y="408683"/>
                  </a:lnTo>
                  <a:cubicBezTo>
                    <a:pt x="3578386" y="420326"/>
                    <a:pt x="3568946" y="429766"/>
                    <a:pt x="3557303" y="429766"/>
                  </a:cubicBezTo>
                  <a:lnTo>
                    <a:pt x="21083" y="429766"/>
                  </a:lnTo>
                  <a:cubicBezTo>
                    <a:pt x="9439" y="429766"/>
                    <a:pt x="0" y="420326"/>
                    <a:pt x="0" y="408683"/>
                  </a:cubicBezTo>
                  <a:lnTo>
                    <a:pt x="0" y="21083"/>
                  </a:lnTo>
                  <a:cubicBezTo>
                    <a:pt x="0" y="9439"/>
                    <a:pt x="9439" y="0"/>
                    <a:pt x="21083" y="0"/>
                  </a:cubicBezTo>
                  <a:close/>
                </a:path>
              </a:pathLst>
            </a:custGeom>
            <a:solidFill>
              <a:srgbClr val="393939"/>
            </a:solidFill>
            <a:ln w="47625" cap="rnd">
              <a:solidFill>
                <a:srgbClr val="FDD56F"/>
              </a:solidFill>
              <a:prstDash val="solid"/>
              <a:round/>
            </a:ln>
          </p:spPr>
        </p:sp>
        <p:sp>
          <p:nvSpPr>
            <p:cNvPr name="TextBox 20" id="20"/>
            <p:cNvSpPr txBox="true"/>
            <p:nvPr/>
          </p:nvSpPr>
          <p:spPr>
            <a:xfrm>
              <a:off x="0" y="-38100"/>
              <a:ext cx="3578386" cy="467866"/>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2982530" y="6935913"/>
            <a:ext cx="8691937" cy="1057275"/>
          </a:xfrm>
          <a:prstGeom prst="rect">
            <a:avLst/>
          </a:prstGeom>
        </p:spPr>
        <p:txBody>
          <a:bodyPr anchor="t" rtlCol="false" tIns="0" lIns="0" bIns="0" rIns="0">
            <a:spAutoFit/>
          </a:bodyPr>
          <a:lstStyle/>
          <a:p>
            <a:pPr algn="just">
              <a:lnSpc>
                <a:spcPts val="4200"/>
              </a:lnSpc>
            </a:pPr>
            <a:r>
              <a:rPr lang="en-US" sz="3000" spc="-102">
                <a:solidFill>
                  <a:srgbClr val="FFFFFF"/>
                </a:solidFill>
                <a:latin typeface="DM Sans"/>
                <a:ea typeface="DM Sans"/>
                <a:cs typeface="DM Sans"/>
                <a:sym typeface="DM Sans"/>
              </a:rPr>
              <a:t>Link Name: </a:t>
            </a:r>
            <a:r>
              <a:rPr lang="en-US" sz="3000" spc="-102">
                <a:solidFill>
                  <a:srgbClr val="FF0000"/>
                </a:solidFill>
                <a:latin typeface="DM Sans"/>
                <a:ea typeface="DM Sans"/>
                <a:cs typeface="DM Sans"/>
                <a:sym typeface="DM Sans"/>
              </a:rPr>
              <a:t>E Balagurusamy</a:t>
            </a:r>
          </a:p>
          <a:p>
            <a:pPr algn="just">
              <a:lnSpc>
                <a:spcPts val="4200"/>
              </a:lnSpc>
            </a:pPr>
            <a:r>
              <a:rPr lang="en-US" sz="3000" spc="-102">
                <a:solidFill>
                  <a:srgbClr val="FFFFFF"/>
                </a:solidFill>
                <a:latin typeface="DM Sans"/>
                <a:ea typeface="DM Sans"/>
                <a:cs typeface="DM Sans"/>
                <a:sym typeface="DM Sans"/>
              </a:rPr>
              <a:t>﻿Brief Description: </a:t>
            </a:r>
            <a:r>
              <a:rPr lang="en-US" sz="3000" spc="-102">
                <a:solidFill>
                  <a:srgbClr val="FF0000"/>
                </a:solidFill>
                <a:latin typeface="DM Sans"/>
                <a:ea typeface="DM Sans"/>
                <a:cs typeface="DM Sans"/>
                <a:sym typeface="DM Sans"/>
              </a:rPr>
              <a:t>Content of the PPT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950481" y="4013348"/>
            <a:ext cx="12387037" cy="2031703"/>
          </a:xfrm>
          <a:prstGeom prst="rect">
            <a:avLst/>
          </a:prstGeom>
        </p:spPr>
        <p:txBody>
          <a:bodyPr anchor="t" rtlCol="false" tIns="0" lIns="0" bIns="0" rIns="0">
            <a:spAutoFit/>
          </a:bodyPr>
          <a:lstStyle/>
          <a:p>
            <a:pPr algn="ctr">
              <a:lnSpc>
                <a:spcPts val="16641"/>
              </a:lnSpc>
            </a:pPr>
            <a:r>
              <a:rPr lang="en-US" b="true" sz="11886">
                <a:solidFill>
                  <a:srgbClr val="000000"/>
                </a:solidFill>
                <a:latin typeface="Century Gothic Paneuropean Bold"/>
                <a:ea typeface="Century Gothic Paneuropean Bold"/>
                <a:cs typeface="Century Gothic Paneuropean Bold"/>
                <a:sym typeface="Century Gothic Paneuropean Bold"/>
              </a:rPr>
              <a:t>THANK YOU</a:t>
            </a:r>
          </a:p>
        </p:txBody>
      </p:sp>
      <p:grpSp>
        <p:nvGrpSpPr>
          <p:cNvPr name="Group 3" id="3"/>
          <p:cNvGrpSpPr/>
          <p:nvPr/>
        </p:nvGrpSpPr>
        <p:grpSpPr>
          <a:xfrm rot="0">
            <a:off x="16718943" y="-989670"/>
            <a:ext cx="1080715" cy="2956684"/>
            <a:chOff x="0" y="0"/>
            <a:chExt cx="284633" cy="778715"/>
          </a:xfrm>
        </p:grpSpPr>
        <p:sp>
          <p:nvSpPr>
            <p:cNvPr name="Freeform 4" id="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5" id="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29352" y="9803843"/>
            <a:ext cx="19346704" cy="821917"/>
            <a:chOff x="0" y="0"/>
            <a:chExt cx="5095428" cy="216472"/>
          </a:xfrm>
        </p:grpSpPr>
        <p:sp>
          <p:nvSpPr>
            <p:cNvPr name="Freeform 7" id="7"/>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8" id="8"/>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488343" y="-989670"/>
            <a:ext cx="1080715" cy="2956684"/>
            <a:chOff x="0" y="0"/>
            <a:chExt cx="284633" cy="778715"/>
          </a:xfrm>
        </p:grpSpPr>
        <p:sp>
          <p:nvSpPr>
            <p:cNvPr name="Freeform 12" id="12"/>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3" id="13"/>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DAG2NIeNva4</dc:identifier>
  <dcterms:modified xsi:type="dcterms:W3CDTF">2011-08-01T06:04:30Z</dcterms:modified>
  <cp:revision>1</cp:revision>
  <dc:title>Chapter - 2</dc:title>
</cp:coreProperties>
</file>